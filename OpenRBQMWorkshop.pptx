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ppt/notesSlides/notesSlide5.xml" ContentType="application/vnd.openxmlformats-officedocument.presentationml.notesSlide+xml"/>
  <Override PartName="/ppt/tags/tag2.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omments/modernComment_7AE61214_1989EB16.xml" ContentType="application/vnd.ms-powerpoint.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 id="2147483652" r:id="rId5"/>
  </p:sldMasterIdLst>
  <p:notesMasterIdLst>
    <p:notesMasterId r:id="rId49"/>
  </p:notesMasterIdLst>
  <p:sldIdLst>
    <p:sldId id="256" r:id="rId6"/>
    <p:sldId id="2147474595" r:id="rId7"/>
    <p:sldId id="2147474596" r:id="rId8"/>
    <p:sldId id="260" r:id="rId9"/>
    <p:sldId id="776" r:id="rId10"/>
    <p:sldId id="261" r:id="rId11"/>
    <p:sldId id="270" r:id="rId12"/>
    <p:sldId id="2061898255" r:id="rId13"/>
    <p:sldId id="2061898256" r:id="rId14"/>
    <p:sldId id="2147474613" r:id="rId15"/>
    <p:sldId id="271" r:id="rId16"/>
    <p:sldId id="2061898267" r:id="rId17"/>
    <p:sldId id="262" r:id="rId18"/>
    <p:sldId id="2147474573" r:id="rId19"/>
    <p:sldId id="2147474597" r:id="rId20"/>
    <p:sldId id="2147474598" r:id="rId21"/>
    <p:sldId id="2147474594" r:id="rId22"/>
    <p:sldId id="2147474585" r:id="rId23"/>
    <p:sldId id="2147474601" r:id="rId24"/>
    <p:sldId id="2147474600" r:id="rId25"/>
    <p:sldId id="2147474604" r:id="rId26"/>
    <p:sldId id="267" r:id="rId27"/>
    <p:sldId id="2061898266" r:id="rId28"/>
    <p:sldId id="2147474599" r:id="rId29"/>
    <p:sldId id="2147474602" r:id="rId30"/>
    <p:sldId id="264" r:id="rId31"/>
    <p:sldId id="2147474588" r:id="rId32"/>
    <p:sldId id="2147474589" r:id="rId33"/>
    <p:sldId id="2147474590" r:id="rId34"/>
    <p:sldId id="2147474591" r:id="rId35"/>
    <p:sldId id="2061898260" r:id="rId36"/>
    <p:sldId id="2061898259" r:id="rId37"/>
    <p:sldId id="2061898268" r:id="rId38"/>
    <p:sldId id="2147474606" r:id="rId39"/>
    <p:sldId id="2147474605" r:id="rId40"/>
    <p:sldId id="2147474607" r:id="rId41"/>
    <p:sldId id="2147474608" r:id="rId42"/>
    <p:sldId id="2147474609" r:id="rId43"/>
    <p:sldId id="2147474614" r:id="rId44"/>
    <p:sldId id="2147474610" r:id="rId45"/>
    <p:sldId id="2147474611" r:id="rId46"/>
    <p:sldId id="2147474612" r:id="rId47"/>
    <p:sldId id="2147474603" r:id="rId48"/>
  </p:sldIdLst>
  <p:sldSz cx="12192000" cy="6858000"/>
  <p:notesSz cx="6858000" cy="9144000"/>
  <p:embeddedFontLst>
    <p:embeddedFont>
      <p:font typeface="Trebuchet MS" panose="020B0603020202020204" pitchFamily="34" charset="0"/>
      <p:regular r:id="rId50"/>
      <p:bold r:id="rId51"/>
      <p:italic r:id="rId52"/>
      <p:boldItalic r:id="rId5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64">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71" roundtripDataSignature="AMtx7mjbaaaXL7nLLG5hbItzBlnZX5RYGA=="/>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634FD70-8C45-96FF-0956-C650F47D6CCD}" name="Jon Harmon (Contractor)" initials="J(" userId="S::jon.harmon1@gilead.com::bbcc7928-8ab8-4357-9c14-762ed980ad20" providerId="AD"/>
  <p188:author id="{A2BCD6F2-E1CF-7CED-1DDE-72108D4946FF}" name="Spencer Childress" initials="SC" userId="S::Spencer.Childress@gilead.com::d17b286d-e97f-4ae4-b6ee-aa1dc2de365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C6C9C9"/>
    <a:srgbClr val="27C4D6"/>
    <a:srgbClr val="7F7F7F"/>
    <a:srgbClr val="0033A0"/>
    <a:srgbClr val="B9CE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237"/>
    <p:restoredTop sz="82400"/>
  </p:normalViewPr>
  <p:slideViewPr>
    <p:cSldViewPr snapToGrid="0">
      <p:cViewPr varScale="1">
        <p:scale>
          <a:sx n="83" d="100"/>
          <a:sy n="83" d="100"/>
        </p:scale>
        <p:origin x="972" y="300"/>
      </p:cViewPr>
      <p:guideLst>
        <p:guide orient="horz" pos="2160"/>
        <p:guide pos="3864"/>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font" Target="fonts/font1.fntdata"/><Relationship Id="rId76" Type="http://schemas.microsoft.com/office/2018/10/relationships/authors" Target="authors.xml"/><Relationship Id="rId7" Type="http://schemas.openxmlformats.org/officeDocument/2006/relationships/slide" Target="slides/slide2.xml"/><Relationship Id="rId71" Type="http://customschemas.google.com/relationships/presentationmetadata" Target="metadata"/><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font" Target="fonts/font4.fntdata"/><Relationship Id="rId74" Type="http://schemas.openxmlformats.org/officeDocument/2006/relationships/theme" Target="theme/theme1.xml"/><Relationship Id="rId5" Type="http://schemas.openxmlformats.org/officeDocument/2006/relationships/slideMaster" Target="slideMasters/slideMaster2.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8" Type="http://schemas.openxmlformats.org/officeDocument/2006/relationships/slide" Target="slides/slide3.xml"/><Relationship Id="rId51" Type="http://schemas.openxmlformats.org/officeDocument/2006/relationships/font" Target="fonts/font2.fntdata"/><Relationship Id="rId72"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0" Type="http://schemas.openxmlformats.org/officeDocument/2006/relationships/slide" Target="slides/slide15.xml"/><Relationship Id="rId41" Type="http://schemas.openxmlformats.org/officeDocument/2006/relationships/slide" Target="slides/slide36.xml"/><Relationship Id="rId75"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notesMaster" Target="notesMasters/notesMaster1.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font" Target="fonts/font3.fntdata"/><Relationship Id="rId73" Type="http://schemas.openxmlformats.org/officeDocument/2006/relationships/viewProps" Target="viewProps.xml"/></Relationships>
</file>

<file path=ppt/comments/modernComment_7AE61214_1989EB16.xml><?xml version="1.0" encoding="utf-8"?>
<p188:cmLst xmlns:a="http://schemas.openxmlformats.org/drawingml/2006/main" xmlns:r="http://schemas.openxmlformats.org/officeDocument/2006/relationships" xmlns:p188="http://schemas.microsoft.com/office/powerpoint/2018/8/main">
  <p188:cm id="{78043DA8-B11F-4265-A1E0-EFC98E6B6A95}" authorId="{A2BCD6F2-E1CF-7CED-1DDE-72108D4946FF}" created="2025-03-06T18:38:11.694">
    <ac:txMkLst xmlns:ac="http://schemas.microsoft.com/office/drawing/2013/main/command">
      <pc:docMk xmlns:pc="http://schemas.microsoft.com/office/powerpoint/2013/main/command"/>
      <pc:sldMk xmlns:pc="http://schemas.microsoft.com/office/powerpoint/2013/main/command" cId="428469014" sldId="2061898260"/>
      <ac:spMk id="2" creationId="{FA59826F-0C98-255F-D6BF-00EEB12CD9ED}"/>
      <ac:txMk cp="5" len="15">
        <ac:context len="113" hash="572099984"/>
      </ac:txMk>
    </ac:txMkLst>
    <p188:pos x="4387570" y="201505"/>
    <p188:txBody>
      <a:bodyPr/>
      <a:lstStyle/>
      <a:p>
        <a:r>
          <a:rPr lang="en-US"/>
          <a:t>Need to set up environment with all packages installed on a Posit Workbench deployment</a:t>
        </a:r>
      </a:p>
    </p188:txBody>
  </p188:cm>
</p188: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037145B-B1E2-4C84-8947-15C37B1C6FD7}" type="doc">
      <dgm:prSet loTypeId="urn:microsoft.com/office/officeart/2005/8/layout/hProcess11" loCatId="process" qsTypeId="urn:microsoft.com/office/officeart/2005/8/quickstyle/simple1" qsCatId="simple" csTypeId="urn:microsoft.com/office/officeart/2005/8/colors/accent1_2" csCatId="accent1" phldr="1"/>
      <dgm:spPr/>
    </dgm:pt>
    <dgm:pt modelId="{EF4FBDC3-6F0C-48DC-A10E-B8419238380D}">
      <dgm:prSet phldrT="[Text]"/>
      <dgm:spPr/>
      <dgm:t>
        <a:bodyPr/>
        <a:lstStyle/>
        <a:p>
          <a:r>
            <a:rPr lang="en-GB" b="1" dirty="0"/>
            <a:t>May 2022</a:t>
          </a:r>
          <a:br>
            <a:rPr lang="en-GB" dirty="0"/>
          </a:br>
          <a:r>
            <a:rPr lang="en-GB" dirty="0"/>
            <a:t>In production at Bayer</a:t>
          </a:r>
        </a:p>
      </dgm:t>
    </dgm:pt>
    <dgm:pt modelId="{49087B5C-7D51-42AA-BD39-989AC2F5BC05}" type="parTrans" cxnId="{40A5CC53-5601-47A1-9418-F3BE2D1DBB10}">
      <dgm:prSet/>
      <dgm:spPr/>
      <dgm:t>
        <a:bodyPr/>
        <a:lstStyle/>
        <a:p>
          <a:endParaRPr lang="en-GB"/>
        </a:p>
      </dgm:t>
    </dgm:pt>
    <dgm:pt modelId="{5528D4D0-0229-445F-B4C9-D55B9CAD7630}" type="sibTrans" cxnId="{40A5CC53-5601-47A1-9418-F3BE2D1DBB10}">
      <dgm:prSet/>
      <dgm:spPr/>
      <dgm:t>
        <a:bodyPr/>
        <a:lstStyle/>
        <a:p>
          <a:endParaRPr lang="en-GB"/>
        </a:p>
      </dgm:t>
    </dgm:pt>
    <dgm:pt modelId="{FED634B9-ECEB-48E2-AF5E-8960A26F6413}">
      <dgm:prSet phldrT="[Text]"/>
      <dgm:spPr/>
      <dgm:t>
        <a:bodyPr/>
        <a:lstStyle/>
        <a:p>
          <a:r>
            <a:rPr lang="en-GB" b="1" dirty="0"/>
            <a:t>Nov 2022</a:t>
          </a:r>
          <a:br>
            <a:rPr lang="en-GB" dirty="0"/>
          </a:br>
          <a:r>
            <a:rPr lang="en-GB" dirty="0"/>
            <a:t>Presented at PHUSE EU Connect 22 [1], [2]</a:t>
          </a:r>
        </a:p>
      </dgm:t>
    </dgm:pt>
    <dgm:pt modelId="{8726EED7-B7AD-4B57-B7CB-E1BCCAAB5389}" type="parTrans" cxnId="{CB51D05C-84B9-41D2-837B-2B06A8FE6514}">
      <dgm:prSet/>
      <dgm:spPr/>
      <dgm:t>
        <a:bodyPr/>
        <a:lstStyle/>
        <a:p>
          <a:endParaRPr lang="en-GB"/>
        </a:p>
      </dgm:t>
    </dgm:pt>
    <dgm:pt modelId="{2724E76D-C34D-4273-90B8-B6DA6B14CF9F}" type="sibTrans" cxnId="{CB51D05C-84B9-41D2-837B-2B06A8FE6514}">
      <dgm:prSet/>
      <dgm:spPr/>
      <dgm:t>
        <a:bodyPr/>
        <a:lstStyle/>
        <a:p>
          <a:endParaRPr lang="en-GB"/>
        </a:p>
      </dgm:t>
    </dgm:pt>
    <dgm:pt modelId="{BFCFB9DC-50F6-44AA-B265-EE241DA7DE16}">
      <dgm:prSet phldrT="[Text]"/>
      <dgm:spPr/>
      <dgm:t>
        <a:bodyPr/>
        <a:lstStyle/>
        <a:p>
          <a:r>
            <a:rPr lang="en-GB" b="1" dirty="0"/>
            <a:t>Jul 2023</a:t>
          </a:r>
          <a:br>
            <a:rPr lang="en-GB" dirty="0"/>
          </a:br>
          <a:r>
            <a:rPr lang="en-GB" dirty="0"/>
            <a:t>Shared for co-development with IMPALA partners</a:t>
          </a:r>
        </a:p>
      </dgm:t>
    </dgm:pt>
    <dgm:pt modelId="{A46CDDB7-52F1-4B7A-B5F3-9153B1981008}" type="parTrans" cxnId="{6A01D52C-63BC-4FC0-87C6-A5D449D39F8B}">
      <dgm:prSet/>
      <dgm:spPr/>
      <dgm:t>
        <a:bodyPr/>
        <a:lstStyle/>
        <a:p>
          <a:endParaRPr lang="en-GB"/>
        </a:p>
      </dgm:t>
    </dgm:pt>
    <dgm:pt modelId="{74703409-6827-450B-8425-A9A971DB9322}" type="sibTrans" cxnId="{6A01D52C-63BC-4FC0-87C6-A5D449D39F8B}">
      <dgm:prSet/>
      <dgm:spPr/>
      <dgm:t>
        <a:bodyPr/>
        <a:lstStyle/>
        <a:p>
          <a:endParaRPr lang="en-GB"/>
        </a:p>
      </dgm:t>
    </dgm:pt>
    <dgm:pt modelId="{8D4104D9-8721-4995-9183-9FA57B598275}">
      <dgm:prSet phldrT="[Text]"/>
      <dgm:spPr/>
      <dgm:t>
        <a:bodyPr/>
        <a:lstStyle/>
        <a:p>
          <a:r>
            <a:rPr lang="en-GB" b="1" dirty="0"/>
            <a:t>Dec 2023</a:t>
          </a:r>
          <a:br>
            <a:rPr lang="en-GB" dirty="0"/>
          </a:br>
          <a:r>
            <a:rPr lang="en-GB" dirty="0"/>
            <a:t>R package published [3]</a:t>
          </a:r>
        </a:p>
      </dgm:t>
    </dgm:pt>
    <dgm:pt modelId="{5B9B4E84-9579-46BF-BCE6-4983B98A5635}" type="parTrans" cxnId="{6DB8A33A-54F2-42AB-B6A0-82DA371F098D}">
      <dgm:prSet/>
      <dgm:spPr/>
      <dgm:t>
        <a:bodyPr/>
        <a:lstStyle/>
        <a:p>
          <a:endParaRPr lang="en-GB"/>
        </a:p>
      </dgm:t>
    </dgm:pt>
    <dgm:pt modelId="{6DB1359C-7199-46D9-9641-6CE9702181AF}" type="sibTrans" cxnId="{6DB8A33A-54F2-42AB-B6A0-82DA371F098D}">
      <dgm:prSet/>
      <dgm:spPr/>
      <dgm:t>
        <a:bodyPr/>
        <a:lstStyle/>
        <a:p>
          <a:endParaRPr lang="en-GB"/>
        </a:p>
      </dgm:t>
    </dgm:pt>
    <dgm:pt modelId="{F46AF8B7-3571-4E67-8026-AE73027F126D}" type="pres">
      <dgm:prSet presAssocID="{F037145B-B1E2-4C84-8947-15C37B1C6FD7}" presName="Name0" presStyleCnt="0">
        <dgm:presLayoutVars>
          <dgm:dir/>
          <dgm:resizeHandles val="exact"/>
        </dgm:presLayoutVars>
      </dgm:prSet>
      <dgm:spPr/>
    </dgm:pt>
    <dgm:pt modelId="{8A9529A0-5328-4344-A794-A8C7A744F45B}" type="pres">
      <dgm:prSet presAssocID="{F037145B-B1E2-4C84-8947-15C37B1C6FD7}" presName="arrow" presStyleLbl="bgShp" presStyleIdx="0" presStyleCnt="1"/>
      <dgm:spPr/>
    </dgm:pt>
    <dgm:pt modelId="{DDF3EF4B-6301-4A47-88FF-5FD5DA6CB8AB}" type="pres">
      <dgm:prSet presAssocID="{F037145B-B1E2-4C84-8947-15C37B1C6FD7}" presName="points" presStyleCnt="0"/>
      <dgm:spPr/>
    </dgm:pt>
    <dgm:pt modelId="{EBB98821-844C-4724-998F-170D00420E22}" type="pres">
      <dgm:prSet presAssocID="{EF4FBDC3-6F0C-48DC-A10E-B8419238380D}" presName="compositeA" presStyleCnt="0"/>
      <dgm:spPr/>
    </dgm:pt>
    <dgm:pt modelId="{04D1B3E9-64EA-4D04-9671-9DA93720F716}" type="pres">
      <dgm:prSet presAssocID="{EF4FBDC3-6F0C-48DC-A10E-B8419238380D}" presName="textA" presStyleLbl="revTx" presStyleIdx="0" presStyleCnt="4">
        <dgm:presLayoutVars>
          <dgm:bulletEnabled val="1"/>
        </dgm:presLayoutVars>
      </dgm:prSet>
      <dgm:spPr/>
    </dgm:pt>
    <dgm:pt modelId="{4D46FDEE-CECD-4404-91DB-130E7DB236FD}" type="pres">
      <dgm:prSet presAssocID="{EF4FBDC3-6F0C-48DC-A10E-B8419238380D}" presName="circleA" presStyleLbl="node1" presStyleIdx="0" presStyleCnt="4"/>
      <dgm:spPr/>
    </dgm:pt>
    <dgm:pt modelId="{48EFD661-7EFC-4D9D-8639-DF863CE43980}" type="pres">
      <dgm:prSet presAssocID="{EF4FBDC3-6F0C-48DC-A10E-B8419238380D}" presName="spaceA" presStyleCnt="0"/>
      <dgm:spPr/>
    </dgm:pt>
    <dgm:pt modelId="{B52879B2-F1F2-45F9-97F1-FEB8D233439B}" type="pres">
      <dgm:prSet presAssocID="{5528D4D0-0229-445F-B4C9-D55B9CAD7630}" presName="space" presStyleCnt="0"/>
      <dgm:spPr/>
    </dgm:pt>
    <dgm:pt modelId="{5EB39C25-FF20-4862-AAC0-528BBD84DB0A}" type="pres">
      <dgm:prSet presAssocID="{FED634B9-ECEB-48E2-AF5E-8960A26F6413}" presName="compositeB" presStyleCnt="0"/>
      <dgm:spPr/>
    </dgm:pt>
    <dgm:pt modelId="{8109B7AD-DA0E-4E66-B760-9106160F8D79}" type="pres">
      <dgm:prSet presAssocID="{FED634B9-ECEB-48E2-AF5E-8960A26F6413}" presName="textB" presStyleLbl="revTx" presStyleIdx="1" presStyleCnt="4">
        <dgm:presLayoutVars>
          <dgm:bulletEnabled val="1"/>
        </dgm:presLayoutVars>
      </dgm:prSet>
      <dgm:spPr/>
    </dgm:pt>
    <dgm:pt modelId="{54B21999-4CBA-4C70-BC37-55810FA79D5E}" type="pres">
      <dgm:prSet presAssocID="{FED634B9-ECEB-48E2-AF5E-8960A26F6413}" presName="circleB" presStyleLbl="node1" presStyleIdx="1" presStyleCnt="4"/>
      <dgm:spPr/>
    </dgm:pt>
    <dgm:pt modelId="{640D5679-FB57-4A68-A4B7-DF5D846D6CC7}" type="pres">
      <dgm:prSet presAssocID="{FED634B9-ECEB-48E2-AF5E-8960A26F6413}" presName="spaceB" presStyleCnt="0"/>
      <dgm:spPr/>
    </dgm:pt>
    <dgm:pt modelId="{5BABFCEA-05B7-492F-B1D5-92F11804E113}" type="pres">
      <dgm:prSet presAssocID="{2724E76D-C34D-4273-90B8-B6DA6B14CF9F}" presName="space" presStyleCnt="0"/>
      <dgm:spPr/>
    </dgm:pt>
    <dgm:pt modelId="{F3EE58C5-2770-4E9C-979E-D615678FF64D}" type="pres">
      <dgm:prSet presAssocID="{BFCFB9DC-50F6-44AA-B265-EE241DA7DE16}" presName="compositeA" presStyleCnt="0"/>
      <dgm:spPr/>
    </dgm:pt>
    <dgm:pt modelId="{F3F1F70D-E227-456C-B881-BCAFEDDF19E5}" type="pres">
      <dgm:prSet presAssocID="{BFCFB9DC-50F6-44AA-B265-EE241DA7DE16}" presName="textA" presStyleLbl="revTx" presStyleIdx="2" presStyleCnt="4">
        <dgm:presLayoutVars>
          <dgm:bulletEnabled val="1"/>
        </dgm:presLayoutVars>
      </dgm:prSet>
      <dgm:spPr/>
    </dgm:pt>
    <dgm:pt modelId="{3B73D03F-956A-4B33-AC1D-087E74648812}" type="pres">
      <dgm:prSet presAssocID="{BFCFB9DC-50F6-44AA-B265-EE241DA7DE16}" presName="circleA" presStyleLbl="node1" presStyleIdx="2" presStyleCnt="4"/>
      <dgm:spPr/>
    </dgm:pt>
    <dgm:pt modelId="{D2D6C2B6-A89D-48C0-BBEE-59093D6C17C8}" type="pres">
      <dgm:prSet presAssocID="{BFCFB9DC-50F6-44AA-B265-EE241DA7DE16}" presName="spaceA" presStyleCnt="0"/>
      <dgm:spPr/>
    </dgm:pt>
    <dgm:pt modelId="{E2BD683B-3BF3-4957-8883-DA00B9293C79}" type="pres">
      <dgm:prSet presAssocID="{74703409-6827-450B-8425-A9A971DB9322}" presName="space" presStyleCnt="0"/>
      <dgm:spPr/>
    </dgm:pt>
    <dgm:pt modelId="{DCA0925B-8679-4423-835F-A0E5EABFFD95}" type="pres">
      <dgm:prSet presAssocID="{8D4104D9-8721-4995-9183-9FA57B598275}" presName="compositeB" presStyleCnt="0"/>
      <dgm:spPr/>
    </dgm:pt>
    <dgm:pt modelId="{5DC30CAA-6DCF-4FD5-8147-C9F288A88AEB}" type="pres">
      <dgm:prSet presAssocID="{8D4104D9-8721-4995-9183-9FA57B598275}" presName="textB" presStyleLbl="revTx" presStyleIdx="3" presStyleCnt="4">
        <dgm:presLayoutVars>
          <dgm:bulletEnabled val="1"/>
        </dgm:presLayoutVars>
      </dgm:prSet>
      <dgm:spPr/>
    </dgm:pt>
    <dgm:pt modelId="{332C72D2-113E-4B1A-8908-9E066A2D1BF4}" type="pres">
      <dgm:prSet presAssocID="{8D4104D9-8721-4995-9183-9FA57B598275}" presName="circleB" presStyleLbl="node1" presStyleIdx="3" presStyleCnt="4"/>
      <dgm:spPr/>
    </dgm:pt>
    <dgm:pt modelId="{D6FB16D3-BD1E-474B-B4A1-4D8A425EAE29}" type="pres">
      <dgm:prSet presAssocID="{8D4104D9-8721-4995-9183-9FA57B598275}" presName="spaceB" presStyleCnt="0"/>
      <dgm:spPr/>
    </dgm:pt>
  </dgm:ptLst>
  <dgm:cxnLst>
    <dgm:cxn modelId="{3C93151C-EBD3-4644-BE52-1AD31B82B981}" type="presOf" srcId="{EF4FBDC3-6F0C-48DC-A10E-B8419238380D}" destId="{04D1B3E9-64EA-4D04-9671-9DA93720F716}" srcOrd="0" destOrd="0" presId="urn:microsoft.com/office/officeart/2005/8/layout/hProcess11"/>
    <dgm:cxn modelId="{6A01D52C-63BC-4FC0-87C6-A5D449D39F8B}" srcId="{F037145B-B1E2-4C84-8947-15C37B1C6FD7}" destId="{BFCFB9DC-50F6-44AA-B265-EE241DA7DE16}" srcOrd="2" destOrd="0" parTransId="{A46CDDB7-52F1-4B7A-B5F3-9153B1981008}" sibTransId="{74703409-6827-450B-8425-A9A971DB9322}"/>
    <dgm:cxn modelId="{6DB8A33A-54F2-42AB-B6A0-82DA371F098D}" srcId="{F037145B-B1E2-4C84-8947-15C37B1C6FD7}" destId="{8D4104D9-8721-4995-9183-9FA57B598275}" srcOrd="3" destOrd="0" parTransId="{5B9B4E84-9579-46BF-BCE6-4983B98A5635}" sibTransId="{6DB1359C-7199-46D9-9641-6CE9702181AF}"/>
    <dgm:cxn modelId="{CB51D05C-84B9-41D2-837B-2B06A8FE6514}" srcId="{F037145B-B1E2-4C84-8947-15C37B1C6FD7}" destId="{FED634B9-ECEB-48E2-AF5E-8960A26F6413}" srcOrd="1" destOrd="0" parTransId="{8726EED7-B7AD-4B57-B7CB-E1BCCAAB5389}" sibTransId="{2724E76D-C34D-4273-90B8-B6DA6B14CF9F}"/>
    <dgm:cxn modelId="{0B508F4D-DEA2-47FC-90B5-9DF1C5597C8A}" type="presOf" srcId="{8D4104D9-8721-4995-9183-9FA57B598275}" destId="{5DC30CAA-6DCF-4FD5-8147-C9F288A88AEB}" srcOrd="0" destOrd="0" presId="urn:microsoft.com/office/officeart/2005/8/layout/hProcess11"/>
    <dgm:cxn modelId="{40A5CC53-5601-47A1-9418-F3BE2D1DBB10}" srcId="{F037145B-B1E2-4C84-8947-15C37B1C6FD7}" destId="{EF4FBDC3-6F0C-48DC-A10E-B8419238380D}" srcOrd="0" destOrd="0" parTransId="{49087B5C-7D51-42AA-BD39-989AC2F5BC05}" sibTransId="{5528D4D0-0229-445F-B4C9-D55B9CAD7630}"/>
    <dgm:cxn modelId="{09F85E80-3F7D-490A-AE7C-6622D3434ECC}" type="presOf" srcId="{F037145B-B1E2-4C84-8947-15C37B1C6FD7}" destId="{F46AF8B7-3571-4E67-8026-AE73027F126D}" srcOrd="0" destOrd="0" presId="urn:microsoft.com/office/officeart/2005/8/layout/hProcess11"/>
    <dgm:cxn modelId="{D46DB684-B013-46DA-914A-1D6432A5E56B}" type="presOf" srcId="{BFCFB9DC-50F6-44AA-B265-EE241DA7DE16}" destId="{F3F1F70D-E227-456C-B881-BCAFEDDF19E5}" srcOrd="0" destOrd="0" presId="urn:microsoft.com/office/officeart/2005/8/layout/hProcess11"/>
    <dgm:cxn modelId="{CA8969B0-9518-47F3-AE64-BC2BD70D4BA3}" type="presOf" srcId="{FED634B9-ECEB-48E2-AF5E-8960A26F6413}" destId="{8109B7AD-DA0E-4E66-B760-9106160F8D79}" srcOrd="0" destOrd="0" presId="urn:microsoft.com/office/officeart/2005/8/layout/hProcess11"/>
    <dgm:cxn modelId="{CE35FB42-193D-4A59-AB8E-65B3AAFA5D9A}" type="presParOf" srcId="{F46AF8B7-3571-4E67-8026-AE73027F126D}" destId="{8A9529A0-5328-4344-A794-A8C7A744F45B}" srcOrd="0" destOrd="0" presId="urn:microsoft.com/office/officeart/2005/8/layout/hProcess11"/>
    <dgm:cxn modelId="{35BDAF1F-E83A-4F48-9EAF-034AF496DA4B}" type="presParOf" srcId="{F46AF8B7-3571-4E67-8026-AE73027F126D}" destId="{DDF3EF4B-6301-4A47-88FF-5FD5DA6CB8AB}" srcOrd="1" destOrd="0" presId="urn:microsoft.com/office/officeart/2005/8/layout/hProcess11"/>
    <dgm:cxn modelId="{0C0E7E1F-FD72-42FD-ADB0-38510EAD4A96}" type="presParOf" srcId="{DDF3EF4B-6301-4A47-88FF-5FD5DA6CB8AB}" destId="{EBB98821-844C-4724-998F-170D00420E22}" srcOrd="0" destOrd="0" presId="urn:microsoft.com/office/officeart/2005/8/layout/hProcess11"/>
    <dgm:cxn modelId="{ACB5CA30-1DAA-4A69-968C-F3C11614D3AD}" type="presParOf" srcId="{EBB98821-844C-4724-998F-170D00420E22}" destId="{04D1B3E9-64EA-4D04-9671-9DA93720F716}" srcOrd="0" destOrd="0" presId="urn:microsoft.com/office/officeart/2005/8/layout/hProcess11"/>
    <dgm:cxn modelId="{D40BF818-810E-424B-90BD-AE09590C2205}" type="presParOf" srcId="{EBB98821-844C-4724-998F-170D00420E22}" destId="{4D46FDEE-CECD-4404-91DB-130E7DB236FD}" srcOrd="1" destOrd="0" presId="urn:microsoft.com/office/officeart/2005/8/layout/hProcess11"/>
    <dgm:cxn modelId="{0EF7A65D-7C38-4AE1-8FF5-A21A7F6BB473}" type="presParOf" srcId="{EBB98821-844C-4724-998F-170D00420E22}" destId="{48EFD661-7EFC-4D9D-8639-DF863CE43980}" srcOrd="2" destOrd="0" presId="urn:microsoft.com/office/officeart/2005/8/layout/hProcess11"/>
    <dgm:cxn modelId="{2D2D1D80-0C04-40B4-95A4-1D616F6050A5}" type="presParOf" srcId="{DDF3EF4B-6301-4A47-88FF-5FD5DA6CB8AB}" destId="{B52879B2-F1F2-45F9-97F1-FEB8D233439B}" srcOrd="1" destOrd="0" presId="urn:microsoft.com/office/officeart/2005/8/layout/hProcess11"/>
    <dgm:cxn modelId="{6D958925-5704-448A-9C0B-910CABC56491}" type="presParOf" srcId="{DDF3EF4B-6301-4A47-88FF-5FD5DA6CB8AB}" destId="{5EB39C25-FF20-4862-AAC0-528BBD84DB0A}" srcOrd="2" destOrd="0" presId="urn:microsoft.com/office/officeart/2005/8/layout/hProcess11"/>
    <dgm:cxn modelId="{39101B3A-6203-42D4-BD42-3319E4F0568D}" type="presParOf" srcId="{5EB39C25-FF20-4862-AAC0-528BBD84DB0A}" destId="{8109B7AD-DA0E-4E66-B760-9106160F8D79}" srcOrd="0" destOrd="0" presId="urn:microsoft.com/office/officeart/2005/8/layout/hProcess11"/>
    <dgm:cxn modelId="{0B8A6F89-26DB-4D52-A318-D2CDF1FE28B2}" type="presParOf" srcId="{5EB39C25-FF20-4862-AAC0-528BBD84DB0A}" destId="{54B21999-4CBA-4C70-BC37-55810FA79D5E}" srcOrd="1" destOrd="0" presId="urn:microsoft.com/office/officeart/2005/8/layout/hProcess11"/>
    <dgm:cxn modelId="{A0A3A3CE-F3BD-429C-88A1-C3ACF6B49DD3}" type="presParOf" srcId="{5EB39C25-FF20-4862-AAC0-528BBD84DB0A}" destId="{640D5679-FB57-4A68-A4B7-DF5D846D6CC7}" srcOrd="2" destOrd="0" presId="urn:microsoft.com/office/officeart/2005/8/layout/hProcess11"/>
    <dgm:cxn modelId="{AABB848D-EF05-414E-87ED-E86CFB9A2FB7}" type="presParOf" srcId="{DDF3EF4B-6301-4A47-88FF-5FD5DA6CB8AB}" destId="{5BABFCEA-05B7-492F-B1D5-92F11804E113}" srcOrd="3" destOrd="0" presId="urn:microsoft.com/office/officeart/2005/8/layout/hProcess11"/>
    <dgm:cxn modelId="{92CDEBBD-6C6F-4F9C-8ADD-32EF1138C70D}" type="presParOf" srcId="{DDF3EF4B-6301-4A47-88FF-5FD5DA6CB8AB}" destId="{F3EE58C5-2770-4E9C-979E-D615678FF64D}" srcOrd="4" destOrd="0" presId="urn:microsoft.com/office/officeart/2005/8/layout/hProcess11"/>
    <dgm:cxn modelId="{C8844F00-8423-4724-A15C-A38E9DA29B9E}" type="presParOf" srcId="{F3EE58C5-2770-4E9C-979E-D615678FF64D}" destId="{F3F1F70D-E227-456C-B881-BCAFEDDF19E5}" srcOrd="0" destOrd="0" presId="urn:microsoft.com/office/officeart/2005/8/layout/hProcess11"/>
    <dgm:cxn modelId="{40C26123-5860-4C25-A7B8-2816D16C3EF0}" type="presParOf" srcId="{F3EE58C5-2770-4E9C-979E-D615678FF64D}" destId="{3B73D03F-956A-4B33-AC1D-087E74648812}" srcOrd="1" destOrd="0" presId="urn:microsoft.com/office/officeart/2005/8/layout/hProcess11"/>
    <dgm:cxn modelId="{BFD92C71-9460-43EA-ADC9-BC0FAC9CB6D7}" type="presParOf" srcId="{F3EE58C5-2770-4E9C-979E-D615678FF64D}" destId="{D2D6C2B6-A89D-48C0-BBEE-59093D6C17C8}" srcOrd="2" destOrd="0" presId="urn:microsoft.com/office/officeart/2005/8/layout/hProcess11"/>
    <dgm:cxn modelId="{A81CECC0-51D1-4BB9-A747-45A77EF900F2}" type="presParOf" srcId="{DDF3EF4B-6301-4A47-88FF-5FD5DA6CB8AB}" destId="{E2BD683B-3BF3-4957-8883-DA00B9293C79}" srcOrd="5" destOrd="0" presId="urn:microsoft.com/office/officeart/2005/8/layout/hProcess11"/>
    <dgm:cxn modelId="{39E53EE4-6CF5-4147-AB9B-4FAC70A2E490}" type="presParOf" srcId="{DDF3EF4B-6301-4A47-88FF-5FD5DA6CB8AB}" destId="{DCA0925B-8679-4423-835F-A0E5EABFFD95}" srcOrd="6" destOrd="0" presId="urn:microsoft.com/office/officeart/2005/8/layout/hProcess11"/>
    <dgm:cxn modelId="{28182E08-08A0-4AF0-A91F-2AFAB8F2B796}" type="presParOf" srcId="{DCA0925B-8679-4423-835F-A0E5EABFFD95}" destId="{5DC30CAA-6DCF-4FD5-8147-C9F288A88AEB}" srcOrd="0" destOrd="0" presId="urn:microsoft.com/office/officeart/2005/8/layout/hProcess11"/>
    <dgm:cxn modelId="{F97B8703-F5C8-4AB5-A6A4-80B6B8C600DE}" type="presParOf" srcId="{DCA0925B-8679-4423-835F-A0E5EABFFD95}" destId="{332C72D2-113E-4B1A-8908-9E066A2D1BF4}" srcOrd="1" destOrd="0" presId="urn:microsoft.com/office/officeart/2005/8/layout/hProcess11"/>
    <dgm:cxn modelId="{B260947F-70FC-49D9-9FED-DBAFB50B65E3}" type="presParOf" srcId="{DCA0925B-8679-4423-835F-A0E5EABFFD95}" destId="{D6FB16D3-BD1E-474B-B4A1-4D8A425EAE29}" srcOrd="2" destOrd="0" presId="urn:microsoft.com/office/officeart/2005/8/layout/hProcess1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470241F-919C-4F0B-B25B-C4623B4B4FA4}" type="doc">
      <dgm:prSet loTypeId="urn:microsoft.com/office/officeart/2005/8/layout/hList1" loCatId="list" qsTypeId="urn:microsoft.com/office/officeart/2005/8/quickstyle/simple1" qsCatId="simple" csTypeId="urn:microsoft.com/office/officeart/2005/8/colors/colorful4" csCatId="colorful" phldr="1"/>
      <dgm:spPr/>
      <dgm:t>
        <a:bodyPr/>
        <a:lstStyle/>
        <a:p>
          <a:endParaRPr lang="en-GB"/>
        </a:p>
      </dgm:t>
    </dgm:pt>
    <dgm:pt modelId="{A283DD0B-2BDD-4DE0-944C-4366CBA030AA}">
      <dgm:prSet phldrT="[Text]"/>
      <dgm:spPr/>
      <dgm:t>
        <a:bodyPr/>
        <a:lstStyle/>
        <a:p>
          <a:r>
            <a:rPr lang="en-GB" dirty="0"/>
            <a:t>Quality Assurance</a:t>
          </a:r>
        </a:p>
      </dgm:t>
    </dgm:pt>
    <dgm:pt modelId="{5317CA5D-8740-4FAD-9B81-5B81925D966D}" type="parTrans" cxnId="{08A7F8C7-3826-4D4A-8A3F-ED00A43C7A1A}">
      <dgm:prSet/>
      <dgm:spPr/>
      <dgm:t>
        <a:bodyPr/>
        <a:lstStyle/>
        <a:p>
          <a:endParaRPr lang="en-GB"/>
        </a:p>
      </dgm:t>
    </dgm:pt>
    <dgm:pt modelId="{0AD582DC-3254-4B45-ADC4-CC51DACA1671}" type="sibTrans" cxnId="{08A7F8C7-3826-4D4A-8A3F-ED00A43C7A1A}">
      <dgm:prSet/>
      <dgm:spPr/>
      <dgm:t>
        <a:bodyPr/>
        <a:lstStyle/>
        <a:p>
          <a:endParaRPr lang="en-GB"/>
        </a:p>
      </dgm:t>
    </dgm:pt>
    <dgm:pt modelId="{DA054816-302E-462F-B8D2-0778C8A0B928}">
      <dgm:prSet phldrT="[Text]" custT="1"/>
      <dgm:spPr/>
      <dgm:t>
        <a:bodyPr/>
        <a:lstStyle/>
        <a:p>
          <a:r>
            <a:rPr lang="en-GB" sz="1400" dirty="0"/>
            <a:t>Choose sites for inspections </a:t>
          </a:r>
          <a:br>
            <a:rPr lang="en-GB" sz="1400" dirty="0"/>
          </a:br>
          <a:r>
            <a:rPr lang="en-GB" sz="1400" dirty="0"/>
            <a:t>and audits.</a:t>
          </a:r>
        </a:p>
      </dgm:t>
    </dgm:pt>
    <dgm:pt modelId="{422A47A4-26E9-4A22-90C6-7B7147C7CB77}" type="parTrans" cxnId="{1ED4177A-46D1-495B-9755-880F7400B314}">
      <dgm:prSet/>
      <dgm:spPr/>
      <dgm:t>
        <a:bodyPr/>
        <a:lstStyle/>
        <a:p>
          <a:endParaRPr lang="en-GB"/>
        </a:p>
      </dgm:t>
    </dgm:pt>
    <dgm:pt modelId="{A5E1A357-A761-4C8B-AB95-C196F0110C74}" type="sibTrans" cxnId="{1ED4177A-46D1-495B-9755-880F7400B314}">
      <dgm:prSet/>
      <dgm:spPr/>
      <dgm:t>
        <a:bodyPr/>
        <a:lstStyle/>
        <a:p>
          <a:endParaRPr lang="en-GB"/>
        </a:p>
      </dgm:t>
    </dgm:pt>
    <dgm:pt modelId="{81D79FEF-AA92-470C-9024-EBE613007F63}">
      <dgm:prSet phldrT="[Text]" custT="1"/>
      <dgm:spPr/>
      <dgm:t>
        <a:bodyPr/>
        <a:lstStyle/>
        <a:p>
          <a:r>
            <a:rPr lang="en-GB" sz="1400" dirty="0"/>
            <a:t>Guide audits and inspections to focus on parameters with most anomalies.</a:t>
          </a:r>
        </a:p>
      </dgm:t>
    </dgm:pt>
    <dgm:pt modelId="{F2A85001-8EEC-4943-BEB1-8A2F80B5B878}" type="parTrans" cxnId="{C32D6914-8E9C-4BCB-9B73-CCDA5B9C05A3}">
      <dgm:prSet/>
      <dgm:spPr/>
      <dgm:t>
        <a:bodyPr/>
        <a:lstStyle/>
        <a:p>
          <a:endParaRPr lang="en-GB"/>
        </a:p>
      </dgm:t>
    </dgm:pt>
    <dgm:pt modelId="{1FE1724E-612B-45D2-85D0-F5E051C9AC9E}" type="sibTrans" cxnId="{C32D6914-8E9C-4BCB-9B73-CCDA5B9C05A3}">
      <dgm:prSet/>
      <dgm:spPr/>
      <dgm:t>
        <a:bodyPr/>
        <a:lstStyle/>
        <a:p>
          <a:endParaRPr lang="en-GB"/>
        </a:p>
      </dgm:t>
    </dgm:pt>
    <dgm:pt modelId="{B70C365E-D00D-489E-BA96-E70B64E4A456}">
      <dgm:prSet phldrT="[Text]"/>
      <dgm:spPr/>
      <dgm:t>
        <a:bodyPr/>
        <a:lstStyle/>
        <a:p>
          <a:r>
            <a:rPr lang="en-GB" dirty="0"/>
            <a:t>Clinical Operations</a:t>
          </a:r>
        </a:p>
      </dgm:t>
    </dgm:pt>
    <dgm:pt modelId="{005EB33E-57C3-4AE6-95D6-A49849DF4634}" type="parTrans" cxnId="{92D355F8-9037-43BD-9F9D-60CA0F3198A2}">
      <dgm:prSet/>
      <dgm:spPr/>
      <dgm:t>
        <a:bodyPr/>
        <a:lstStyle/>
        <a:p>
          <a:endParaRPr lang="en-GB"/>
        </a:p>
      </dgm:t>
    </dgm:pt>
    <dgm:pt modelId="{A14FFFA3-9322-4897-B927-9762E6C28C2F}" type="sibTrans" cxnId="{92D355F8-9037-43BD-9F9D-60CA0F3198A2}">
      <dgm:prSet/>
      <dgm:spPr/>
      <dgm:t>
        <a:bodyPr/>
        <a:lstStyle/>
        <a:p>
          <a:endParaRPr lang="en-GB"/>
        </a:p>
      </dgm:t>
    </dgm:pt>
    <dgm:pt modelId="{9E9AE203-0B2C-4E65-BD9A-92BAE88A5477}">
      <dgm:prSet phldrT="[Text]" custT="1"/>
      <dgm:spPr/>
      <dgm:t>
        <a:bodyPr/>
        <a:lstStyle/>
        <a:p>
          <a:r>
            <a:rPr lang="en-GB" sz="1400" dirty="0"/>
            <a:t>Monitor study data of on-going trials for signs of issues. Act early on to minimize impact to project.</a:t>
          </a:r>
        </a:p>
      </dgm:t>
    </dgm:pt>
    <dgm:pt modelId="{D63808F5-57FC-480E-A5F0-F21B4F8C6656}" type="parTrans" cxnId="{D7E87E02-5373-4C68-84CF-24074AFF38C7}">
      <dgm:prSet/>
      <dgm:spPr/>
      <dgm:t>
        <a:bodyPr/>
        <a:lstStyle/>
        <a:p>
          <a:endParaRPr lang="en-GB"/>
        </a:p>
      </dgm:t>
    </dgm:pt>
    <dgm:pt modelId="{F7696DCF-5CCA-4759-AF2F-04A39812DCE0}" type="sibTrans" cxnId="{D7E87E02-5373-4C68-84CF-24074AFF38C7}">
      <dgm:prSet/>
      <dgm:spPr/>
      <dgm:t>
        <a:bodyPr/>
        <a:lstStyle/>
        <a:p>
          <a:endParaRPr lang="en-GB"/>
        </a:p>
      </dgm:t>
    </dgm:pt>
    <dgm:pt modelId="{61F9F39A-BB80-4B53-8E90-04AA0FE2BFCF}">
      <dgm:prSet phldrT="[Text]" custT="1"/>
      <dgm:spPr/>
      <dgm:t>
        <a:bodyPr/>
        <a:lstStyle/>
        <a:p>
          <a:r>
            <a:rPr lang="en-GB" sz="1400" dirty="0"/>
            <a:t>Identify anomalies that would potentially go undetected with more traditional methods.</a:t>
          </a:r>
        </a:p>
      </dgm:t>
    </dgm:pt>
    <dgm:pt modelId="{46BD9E42-106C-4B0C-907F-6B32879C7FC0}" type="parTrans" cxnId="{81857E2D-AFA3-4ECF-8564-F1E7FCAC31CF}">
      <dgm:prSet/>
      <dgm:spPr/>
      <dgm:t>
        <a:bodyPr/>
        <a:lstStyle/>
        <a:p>
          <a:endParaRPr lang="en-GB"/>
        </a:p>
      </dgm:t>
    </dgm:pt>
    <dgm:pt modelId="{2AEFBF75-BC37-4356-A7F2-F22D6338CA64}" type="sibTrans" cxnId="{81857E2D-AFA3-4ECF-8564-F1E7FCAC31CF}">
      <dgm:prSet/>
      <dgm:spPr/>
      <dgm:t>
        <a:bodyPr/>
        <a:lstStyle/>
        <a:p>
          <a:endParaRPr lang="en-GB"/>
        </a:p>
      </dgm:t>
    </dgm:pt>
    <dgm:pt modelId="{783D8C3D-2E42-4A3E-BB02-496F400CB33C}">
      <dgm:prSet phldrT="[Text]"/>
      <dgm:spPr/>
      <dgm:t>
        <a:bodyPr/>
        <a:lstStyle/>
        <a:p>
          <a:r>
            <a:rPr lang="en-GB" dirty="0"/>
            <a:t>Regulators</a:t>
          </a:r>
        </a:p>
      </dgm:t>
    </dgm:pt>
    <dgm:pt modelId="{A1BD1A41-0527-47DD-93CD-1C4AFC87EA73}" type="parTrans" cxnId="{1F567599-3DC3-4E40-B285-E28367CD4C3C}">
      <dgm:prSet/>
      <dgm:spPr/>
      <dgm:t>
        <a:bodyPr/>
        <a:lstStyle/>
        <a:p>
          <a:endParaRPr lang="en-GB"/>
        </a:p>
      </dgm:t>
    </dgm:pt>
    <dgm:pt modelId="{00489612-9A50-4CD7-9997-F140DF0B572A}" type="sibTrans" cxnId="{1F567599-3DC3-4E40-B285-E28367CD4C3C}">
      <dgm:prSet/>
      <dgm:spPr/>
      <dgm:t>
        <a:bodyPr/>
        <a:lstStyle/>
        <a:p>
          <a:endParaRPr lang="en-GB"/>
        </a:p>
      </dgm:t>
    </dgm:pt>
    <dgm:pt modelId="{70349061-F158-47A5-AF49-F5A953A9D908}">
      <dgm:prSet phldrT="[Text]" custT="1"/>
      <dgm:spPr/>
      <dgm:t>
        <a:bodyPr/>
        <a:lstStyle/>
        <a:p>
          <a:r>
            <a:rPr lang="en-GB" sz="1400" dirty="0"/>
            <a:t>Screen submissions for anomalies</a:t>
          </a:r>
          <a:br>
            <a:rPr lang="en-GB" sz="1400" dirty="0"/>
          </a:br>
          <a:r>
            <a:rPr lang="en-GB" sz="1400" dirty="0"/>
            <a:t>in (critical) parameters.</a:t>
          </a:r>
        </a:p>
      </dgm:t>
    </dgm:pt>
    <dgm:pt modelId="{F3778B76-B9D3-4D1C-9ACD-5EC3E2348AA2}" type="parTrans" cxnId="{8ADE8552-E69F-4A8C-9AAF-14D24765E865}">
      <dgm:prSet/>
      <dgm:spPr/>
      <dgm:t>
        <a:bodyPr/>
        <a:lstStyle/>
        <a:p>
          <a:endParaRPr lang="en-GB"/>
        </a:p>
      </dgm:t>
    </dgm:pt>
    <dgm:pt modelId="{348CD74B-CF53-4668-9022-372C50E0F090}" type="sibTrans" cxnId="{8ADE8552-E69F-4A8C-9AAF-14D24765E865}">
      <dgm:prSet/>
      <dgm:spPr/>
      <dgm:t>
        <a:bodyPr/>
        <a:lstStyle/>
        <a:p>
          <a:endParaRPr lang="en-GB"/>
        </a:p>
      </dgm:t>
    </dgm:pt>
    <dgm:pt modelId="{DD5FC094-AD0A-4C5D-B4E2-44FBE0455BAC}">
      <dgm:prSet phldrT="[Text]" custT="1"/>
      <dgm:spPr/>
      <dgm:t>
        <a:bodyPr/>
        <a:lstStyle/>
        <a:p>
          <a:r>
            <a:rPr lang="en-GB" sz="1400" dirty="0"/>
            <a:t>Motivate sponsors to use advanced tools like CTAS to pre-emptily avoid data findings during submission.</a:t>
          </a:r>
        </a:p>
      </dgm:t>
    </dgm:pt>
    <dgm:pt modelId="{29613848-BFE0-45DB-9484-469F0C1A45E4}" type="parTrans" cxnId="{3C382DDE-2821-43D7-BC10-A8775F833922}">
      <dgm:prSet/>
      <dgm:spPr/>
      <dgm:t>
        <a:bodyPr/>
        <a:lstStyle/>
        <a:p>
          <a:endParaRPr lang="en-GB"/>
        </a:p>
      </dgm:t>
    </dgm:pt>
    <dgm:pt modelId="{4B844BC4-60D0-48EE-9667-2C095214510A}" type="sibTrans" cxnId="{3C382DDE-2821-43D7-BC10-A8775F833922}">
      <dgm:prSet/>
      <dgm:spPr/>
      <dgm:t>
        <a:bodyPr/>
        <a:lstStyle/>
        <a:p>
          <a:endParaRPr lang="en-GB"/>
        </a:p>
      </dgm:t>
    </dgm:pt>
    <dgm:pt modelId="{C5AB9A5C-32DD-4DDA-AA45-D5D203A517A5}">
      <dgm:prSet phldrT="[Text]" custT="1"/>
      <dgm:spPr/>
      <dgm:t>
        <a:bodyPr/>
        <a:lstStyle/>
        <a:p>
          <a:r>
            <a:rPr lang="en-GB" sz="1400" dirty="0"/>
            <a:t>Reduce manual data review.</a:t>
          </a:r>
        </a:p>
      </dgm:t>
    </dgm:pt>
    <dgm:pt modelId="{C032FE25-359A-43F9-ADE3-D63508E3A055}" type="parTrans" cxnId="{40A37250-F7CF-40F7-B439-CA45913ADA9F}">
      <dgm:prSet/>
      <dgm:spPr/>
      <dgm:t>
        <a:bodyPr/>
        <a:lstStyle/>
        <a:p>
          <a:endParaRPr lang="en-GB"/>
        </a:p>
      </dgm:t>
    </dgm:pt>
    <dgm:pt modelId="{C9A83D3F-BF03-4DC5-86AD-FC02BE819B81}" type="sibTrans" cxnId="{40A37250-F7CF-40F7-B439-CA45913ADA9F}">
      <dgm:prSet/>
      <dgm:spPr/>
      <dgm:t>
        <a:bodyPr/>
        <a:lstStyle/>
        <a:p>
          <a:endParaRPr lang="en-GB"/>
        </a:p>
      </dgm:t>
    </dgm:pt>
    <dgm:pt modelId="{49068DC8-35C4-45BB-8694-E7E71409F9F3}" type="pres">
      <dgm:prSet presAssocID="{0470241F-919C-4F0B-B25B-C4623B4B4FA4}" presName="Name0" presStyleCnt="0">
        <dgm:presLayoutVars>
          <dgm:dir/>
          <dgm:animLvl val="lvl"/>
          <dgm:resizeHandles val="exact"/>
        </dgm:presLayoutVars>
      </dgm:prSet>
      <dgm:spPr/>
    </dgm:pt>
    <dgm:pt modelId="{22241B6E-7E8C-4CE8-874A-E6C254C37F52}" type="pres">
      <dgm:prSet presAssocID="{A283DD0B-2BDD-4DE0-944C-4366CBA030AA}" presName="composite" presStyleCnt="0"/>
      <dgm:spPr/>
    </dgm:pt>
    <dgm:pt modelId="{A519ED72-805F-4B19-A495-05C6AB1FB820}" type="pres">
      <dgm:prSet presAssocID="{A283DD0B-2BDD-4DE0-944C-4366CBA030AA}" presName="parTx" presStyleLbl="alignNode1" presStyleIdx="0" presStyleCnt="3">
        <dgm:presLayoutVars>
          <dgm:chMax val="0"/>
          <dgm:chPref val="0"/>
          <dgm:bulletEnabled val="1"/>
        </dgm:presLayoutVars>
      </dgm:prSet>
      <dgm:spPr/>
    </dgm:pt>
    <dgm:pt modelId="{344C7F7B-E1C8-484E-A195-489736E09111}" type="pres">
      <dgm:prSet presAssocID="{A283DD0B-2BDD-4DE0-944C-4366CBA030AA}" presName="desTx" presStyleLbl="alignAccFollowNode1" presStyleIdx="0" presStyleCnt="3">
        <dgm:presLayoutVars>
          <dgm:bulletEnabled val="1"/>
        </dgm:presLayoutVars>
      </dgm:prSet>
      <dgm:spPr/>
    </dgm:pt>
    <dgm:pt modelId="{FA28C431-8B84-4BB0-A4B9-CB26A1975268}" type="pres">
      <dgm:prSet presAssocID="{0AD582DC-3254-4B45-ADC4-CC51DACA1671}" presName="space" presStyleCnt="0"/>
      <dgm:spPr/>
    </dgm:pt>
    <dgm:pt modelId="{75353B48-7CB0-467C-8937-BBC472B0D831}" type="pres">
      <dgm:prSet presAssocID="{B70C365E-D00D-489E-BA96-E70B64E4A456}" presName="composite" presStyleCnt="0"/>
      <dgm:spPr/>
    </dgm:pt>
    <dgm:pt modelId="{B0343528-60AC-4109-99DE-73E5D2DE3AF2}" type="pres">
      <dgm:prSet presAssocID="{B70C365E-D00D-489E-BA96-E70B64E4A456}" presName="parTx" presStyleLbl="alignNode1" presStyleIdx="1" presStyleCnt="3">
        <dgm:presLayoutVars>
          <dgm:chMax val="0"/>
          <dgm:chPref val="0"/>
          <dgm:bulletEnabled val="1"/>
        </dgm:presLayoutVars>
      </dgm:prSet>
      <dgm:spPr/>
    </dgm:pt>
    <dgm:pt modelId="{446456DB-CF09-452F-9F96-31F4DC8A24F8}" type="pres">
      <dgm:prSet presAssocID="{B70C365E-D00D-489E-BA96-E70B64E4A456}" presName="desTx" presStyleLbl="alignAccFollowNode1" presStyleIdx="1" presStyleCnt="3">
        <dgm:presLayoutVars>
          <dgm:bulletEnabled val="1"/>
        </dgm:presLayoutVars>
      </dgm:prSet>
      <dgm:spPr/>
    </dgm:pt>
    <dgm:pt modelId="{B1689444-5B29-4E25-9B72-266F86CA07F2}" type="pres">
      <dgm:prSet presAssocID="{A14FFFA3-9322-4897-B927-9762E6C28C2F}" presName="space" presStyleCnt="0"/>
      <dgm:spPr/>
    </dgm:pt>
    <dgm:pt modelId="{A3250D18-F069-41BB-9425-260977424998}" type="pres">
      <dgm:prSet presAssocID="{783D8C3D-2E42-4A3E-BB02-496F400CB33C}" presName="composite" presStyleCnt="0"/>
      <dgm:spPr/>
    </dgm:pt>
    <dgm:pt modelId="{11B0927C-3CDF-439C-A315-1736DFBFA618}" type="pres">
      <dgm:prSet presAssocID="{783D8C3D-2E42-4A3E-BB02-496F400CB33C}" presName="parTx" presStyleLbl="alignNode1" presStyleIdx="2" presStyleCnt="3">
        <dgm:presLayoutVars>
          <dgm:chMax val="0"/>
          <dgm:chPref val="0"/>
          <dgm:bulletEnabled val="1"/>
        </dgm:presLayoutVars>
      </dgm:prSet>
      <dgm:spPr/>
    </dgm:pt>
    <dgm:pt modelId="{8AB2569D-DDD6-449E-AD3D-9FAEE24FD848}" type="pres">
      <dgm:prSet presAssocID="{783D8C3D-2E42-4A3E-BB02-496F400CB33C}" presName="desTx" presStyleLbl="alignAccFollowNode1" presStyleIdx="2" presStyleCnt="3">
        <dgm:presLayoutVars>
          <dgm:bulletEnabled val="1"/>
        </dgm:presLayoutVars>
      </dgm:prSet>
      <dgm:spPr/>
    </dgm:pt>
  </dgm:ptLst>
  <dgm:cxnLst>
    <dgm:cxn modelId="{D7E87E02-5373-4C68-84CF-24074AFF38C7}" srcId="{B70C365E-D00D-489E-BA96-E70B64E4A456}" destId="{9E9AE203-0B2C-4E65-BD9A-92BAE88A5477}" srcOrd="0" destOrd="0" parTransId="{D63808F5-57FC-480E-A5F0-F21B4F8C6656}" sibTransId="{F7696DCF-5CCA-4759-AF2F-04A39812DCE0}"/>
    <dgm:cxn modelId="{C32D6914-8E9C-4BCB-9B73-CCDA5B9C05A3}" srcId="{A283DD0B-2BDD-4DE0-944C-4366CBA030AA}" destId="{81D79FEF-AA92-470C-9024-EBE613007F63}" srcOrd="1" destOrd="0" parTransId="{F2A85001-8EEC-4943-BEB1-8A2F80B5B878}" sibTransId="{1FE1724E-612B-45D2-85D0-F5E051C9AC9E}"/>
    <dgm:cxn modelId="{F3F08E1D-A01C-42A2-8E3E-4E189BB1D61F}" type="presOf" srcId="{DA054816-302E-462F-B8D2-0778C8A0B928}" destId="{344C7F7B-E1C8-484E-A195-489736E09111}" srcOrd="0" destOrd="0" presId="urn:microsoft.com/office/officeart/2005/8/layout/hList1"/>
    <dgm:cxn modelId="{6F97DA23-1153-4EAB-8FD2-BA1490DB6A3C}" type="presOf" srcId="{B70C365E-D00D-489E-BA96-E70B64E4A456}" destId="{B0343528-60AC-4109-99DE-73E5D2DE3AF2}" srcOrd="0" destOrd="0" presId="urn:microsoft.com/office/officeart/2005/8/layout/hList1"/>
    <dgm:cxn modelId="{81857E2D-AFA3-4ECF-8564-F1E7FCAC31CF}" srcId="{B70C365E-D00D-489E-BA96-E70B64E4A456}" destId="{61F9F39A-BB80-4B53-8E90-04AA0FE2BFCF}" srcOrd="2" destOrd="0" parTransId="{46BD9E42-106C-4B0C-907F-6B32879C7FC0}" sibTransId="{2AEFBF75-BC37-4356-A7F2-F22D6338CA64}"/>
    <dgm:cxn modelId="{4B488433-B275-42AB-83AB-1BDB11CC9CDB}" type="presOf" srcId="{DD5FC094-AD0A-4C5D-B4E2-44FBE0455BAC}" destId="{8AB2569D-DDD6-449E-AD3D-9FAEE24FD848}" srcOrd="0" destOrd="1" presId="urn:microsoft.com/office/officeart/2005/8/layout/hList1"/>
    <dgm:cxn modelId="{D540D23D-B41E-4A02-A868-417D7B46B996}" type="presOf" srcId="{61F9F39A-BB80-4B53-8E90-04AA0FE2BFCF}" destId="{446456DB-CF09-452F-9F96-31F4DC8A24F8}" srcOrd="0" destOrd="2" presId="urn:microsoft.com/office/officeart/2005/8/layout/hList1"/>
    <dgm:cxn modelId="{C58FEC3D-9BDB-42F7-840C-846955886780}" type="presOf" srcId="{C5AB9A5C-32DD-4DDA-AA45-D5D203A517A5}" destId="{446456DB-CF09-452F-9F96-31F4DC8A24F8}" srcOrd="0" destOrd="1" presId="urn:microsoft.com/office/officeart/2005/8/layout/hList1"/>
    <dgm:cxn modelId="{8165106B-DFB7-4D55-B611-705BBFF6F329}" type="presOf" srcId="{9E9AE203-0B2C-4E65-BD9A-92BAE88A5477}" destId="{446456DB-CF09-452F-9F96-31F4DC8A24F8}" srcOrd="0" destOrd="0" presId="urn:microsoft.com/office/officeart/2005/8/layout/hList1"/>
    <dgm:cxn modelId="{C06EC36C-5035-49B4-87DA-C741DD9D8D98}" type="presOf" srcId="{A283DD0B-2BDD-4DE0-944C-4366CBA030AA}" destId="{A519ED72-805F-4B19-A495-05C6AB1FB820}" srcOrd="0" destOrd="0" presId="urn:microsoft.com/office/officeart/2005/8/layout/hList1"/>
    <dgm:cxn modelId="{DE19CA4D-C115-49FE-9671-04CB0E0FC292}" type="presOf" srcId="{783D8C3D-2E42-4A3E-BB02-496F400CB33C}" destId="{11B0927C-3CDF-439C-A315-1736DFBFA618}" srcOrd="0" destOrd="0" presId="urn:microsoft.com/office/officeart/2005/8/layout/hList1"/>
    <dgm:cxn modelId="{40A37250-F7CF-40F7-B439-CA45913ADA9F}" srcId="{B70C365E-D00D-489E-BA96-E70B64E4A456}" destId="{C5AB9A5C-32DD-4DDA-AA45-D5D203A517A5}" srcOrd="1" destOrd="0" parTransId="{C032FE25-359A-43F9-ADE3-D63508E3A055}" sibTransId="{C9A83D3F-BF03-4DC5-86AD-FC02BE819B81}"/>
    <dgm:cxn modelId="{8ADE8552-E69F-4A8C-9AAF-14D24765E865}" srcId="{783D8C3D-2E42-4A3E-BB02-496F400CB33C}" destId="{70349061-F158-47A5-AF49-F5A953A9D908}" srcOrd="0" destOrd="0" parTransId="{F3778B76-B9D3-4D1C-9ACD-5EC3E2348AA2}" sibTransId="{348CD74B-CF53-4668-9022-372C50E0F090}"/>
    <dgm:cxn modelId="{C4697676-41DB-481E-A361-3567B93BF735}" type="presOf" srcId="{70349061-F158-47A5-AF49-F5A953A9D908}" destId="{8AB2569D-DDD6-449E-AD3D-9FAEE24FD848}" srcOrd="0" destOrd="0" presId="urn:microsoft.com/office/officeart/2005/8/layout/hList1"/>
    <dgm:cxn modelId="{F63F9B57-BD2B-48C0-9675-9CB209FED5F8}" type="presOf" srcId="{0470241F-919C-4F0B-B25B-C4623B4B4FA4}" destId="{49068DC8-35C4-45BB-8694-E7E71409F9F3}" srcOrd="0" destOrd="0" presId="urn:microsoft.com/office/officeart/2005/8/layout/hList1"/>
    <dgm:cxn modelId="{1ED4177A-46D1-495B-9755-880F7400B314}" srcId="{A283DD0B-2BDD-4DE0-944C-4366CBA030AA}" destId="{DA054816-302E-462F-B8D2-0778C8A0B928}" srcOrd="0" destOrd="0" parTransId="{422A47A4-26E9-4A22-90C6-7B7147C7CB77}" sibTransId="{A5E1A357-A761-4C8B-AB95-C196F0110C74}"/>
    <dgm:cxn modelId="{3BDF538B-5678-47A5-9E1E-8AB2927DE172}" type="presOf" srcId="{81D79FEF-AA92-470C-9024-EBE613007F63}" destId="{344C7F7B-E1C8-484E-A195-489736E09111}" srcOrd="0" destOrd="1" presId="urn:microsoft.com/office/officeart/2005/8/layout/hList1"/>
    <dgm:cxn modelId="{1F567599-3DC3-4E40-B285-E28367CD4C3C}" srcId="{0470241F-919C-4F0B-B25B-C4623B4B4FA4}" destId="{783D8C3D-2E42-4A3E-BB02-496F400CB33C}" srcOrd="2" destOrd="0" parTransId="{A1BD1A41-0527-47DD-93CD-1C4AFC87EA73}" sibTransId="{00489612-9A50-4CD7-9997-F140DF0B572A}"/>
    <dgm:cxn modelId="{08A7F8C7-3826-4D4A-8A3F-ED00A43C7A1A}" srcId="{0470241F-919C-4F0B-B25B-C4623B4B4FA4}" destId="{A283DD0B-2BDD-4DE0-944C-4366CBA030AA}" srcOrd="0" destOrd="0" parTransId="{5317CA5D-8740-4FAD-9B81-5B81925D966D}" sibTransId="{0AD582DC-3254-4B45-ADC4-CC51DACA1671}"/>
    <dgm:cxn modelId="{3C382DDE-2821-43D7-BC10-A8775F833922}" srcId="{783D8C3D-2E42-4A3E-BB02-496F400CB33C}" destId="{DD5FC094-AD0A-4C5D-B4E2-44FBE0455BAC}" srcOrd="1" destOrd="0" parTransId="{29613848-BFE0-45DB-9484-469F0C1A45E4}" sibTransId="{4B844BC4-60D0-48EE-9667-2C095214510A}"/>
    <dgm:cxn modelId="{92D355F8-9037-43BD-9F9D-60CA0F3198A2}" srcId="{0470241F-919C-4F0B-B25B-C4623B4B4FA4}" destId="{B70C365E-D00D-489E-BA96-E70B64E4A456}" srcOrd="1" destOrd="0" parTransId="{005EB33E-57C3-4AE6-95D6-A49849DF4634}" sibTransId="{A14FFFA3-9322-4897-B927-9762E6C28C2F}"/>
    <dgm:cxn modelId="{9A69C5AF-8549-4F15-AC67-E14940E9286F}" type="presParOf" srcId="{49068DC8-35C4-45BB-8694-E7E71409F9F3}" destId="{22241B6E-7E8C-4CE8-874A-E6C254C37F52}" srcOrd="0" destOrd="0" presId="urn:microsoft.com/office/officeart/2005/8/layout/hList1"/>
    <dgm:cxn modelId="{7A8F16DC-5D3B-4EE5-8653-79A6AD4F3106}" type="presParOf" srcId="{22241B6E-7E8C-4CE8-874A-E6C254C37F52}" destId="{A519ED72-805F-4B19-A495-05C6AB1FB820}" srcOrd="0" destOrd="0" presId="urn:microsoft.com/office/officeart/2005/8/layout/hList1"/>
    <dgm:cxn modelId="{FBE7DB30-2F04-40C8-96C2-938FB94BE783}" type="presParOf" srcId="{22241B6E-7E8C-4CE8-874A-E6C254C37F52}" destId="{344C7F7B-E1C8-484E-A195-489736E09111}" srcOrd="1" destOrd="0" presId="urn:microsoft.com/office/officeart/2005/8/layout/hList1"/>
    <dgm:cxn modelId="{DAA42FE8-9572-4CD4-AE46-C593B521F9E9}" type="presParOf" srcId="{49068DC8-35C4-45BB-8694-E7E71409F9F3}" destId="{FA28C431-8B84-4BB0-A4B9-CB26A1975268}" srcOrd="1" destOrd="0" presId="urn:microsoft.com/office/officeart/2005/8/layout/hList1"/>
    <dgm:cxn modelId="{0506FFFE-F18E-4FA4-AE05-C7F5C0B88C47}" type="presParOf" srcId="{49068DC8-35C4-45BB-8694-E7E71409F9F3}" destId="{75353B48-7CB0-467C-8937-BBC472B0D831}" srcOrd="2" destOrd="0" presId="urn:microsoft.com/office/officeart/2005/8/layout/hList1"/>
    <dgm:cxn modelId="{699BD6E2-2A2F-47AB-8D40-E24F915DF69E}" type="presParOf" srcId="{75353B48-7CB0-467C-8937-BBC472B0D831}" destId="{B0343528-60AC-4109-99DE-73E5D2DE3AF2}" srcOrd="0" destOrd="0" presId="urn:microsoft.com/office/officeart/2005/8/layout/hList1"/>
    <dgm:cxn modelId="{BB62D7EF-5AD1-420D-81F2-CC443D8BB52F}" type="presParOf" srcId="{75353B48-7CB0-467C-8937-BBC472B0D831}" destId="{446456DB-CF09-452F-9F96-31F4DC8A24F8}" srcOrd="1" destOrd="0" presId="urn:microsoft.com/office/officeart/2005/8/layout/hList1"/>
    <dgm:cxn modelId="{2B5C7B9E-3727-4CDF-9203-C78FFFB58601}" type="presParOf" srcId="{49068DC8-35C4-45BB-8694-E7E71409F9F3}" destId="{B1689444-5B29-4E25-9B72-266F86CA07F2}" srcOrd="3" destOrd="0" presId="urn:microsoft.com/office/officeart/2005/8/layout/hList1"/>
    <dgm:cxn modelId="{8FCB20F6-A793-49FD-BE5C-AAB9CDDF6458}" type="presParOf" srcId="{49068DC8-35C4-45BB-8694-E7E71409F9F3}" destId="{A3250D18-F069-41BB-9425-260977424998}" srcOrd="4" destOrd="0" presId="urn:microsoft.com/office/officeart/2005/8/layout/hList1"/>
    <dgm:cxn modelId="{73F1C632-53C0-4808-815B-8CE283293EC9}" type="presParOf" srcId="{A3250D18-F069-41BB-9425-260977424998}" destId="{11B0927C-3CDF-439C-A315-1736DFBFA618}" srcOrd="0" destOrd="0" presId="urn:microsoft.com/office/officeart/2005/8/layout/hList1"/>
    <dgm:cxn modelId="{6F25767E-D2F8-4CE1-9B46-92ABDD161D46}" type="presParOf" srcId="{A3250D18-F069-41BB-9425-260977424998}" destId="{8AB2569D-DDD6-449E-AD3D-9FAEE24FD848}"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9529A0-5328-4344-A794-A8C7A744F45B}">
      <dsp:nvSpPr>
        <dsp:cNvPr id="0" name=""/>
        <dsp:cNvSpPr/>
      </dsp:nvSpPr>
      <dsp:spPr>
        <a:xfrm>
          <a:off x="0" y="629005"/>
          <a:ext cx="9181522" cy="838674"/>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4D1B3E9-64EA-4D04-9671-9DA93720F716}">
      <dsp:nvSpPr>
        <dsp:cNvPr id="0" name=""/>
        <dsp:cNvSpPr/>
      </dsp:nvSpPr>
      <dsp:spPr>
        <a:xfrm>
          <a:off x="4135" y="0"/>
          <a:ext cx="1989180" cy="838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b" anchorCtr="0">
          <a:noAutofit/>
        </a:bodyPr>
        <a:lstStyle/>
        <a:p>
          <a:pPr marL="0" lvl="0" indent="0" algn="ctr" defTabSz="533400">
            <a:lnSpc>
              <a:spcPct val="90000"/>
            </a:lnSpc>
            <a:spcBef>
              <a:spcPct val="0"/>
            </a:spcBef>
            <a:spcAft>
              <a:spcPct val="35000"/>
            </a:spcAft>
            <a:buNone/>
          </a:pPr>
          <a:r>
            <a:rPr lang="en-GB" sz="1200" b="1" kern="1200" dirty="0"/>
            <a:t>May 2022</a:t>
          </a:r>
          <a:br>
            <a:rPr lang="en-GB" sz="1200" kern="1200" dirty="0"/>
          </a:br>
          <a:r>
            <a:rPr lang="en-GB" sz="1200" kern="1200" dirty="0"/>
            <a:t>In production at Bayer</a:t>
          </a:r>
        </a:p>
      </dsp:txBody>
      <dsp:txXfrm>
        <a:off x="4135" y="0"/>
        <a:ext cx="1989180" cy="838674"/>
      </dsp:txXfrm>
    </dsp:sp>
    <dsp:sp modelId="{4D46FDEE-CECD-4404-91DB-130E7DB236FD}">
      <dsp:nvSpPr>
        <dsp:cNvPr id="0" name=""/>
        <dsp:cNvSpPr/>
      </dsp:nvSpPr>
      <dsp:spPr>
        <a:xfrm>
          <a:off x="893891" y="943508"/>
          <a:ext cx="209668" cy="209668"/>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109B7AD-DA0E-4E66-B760-9106160F8D79}">
      <dsp:nvSpPr>
        <dsp:cNvPr id="0" name=""/>
        <dsp:cNvSpPr/>
      </dsp:nvSpPr>
      <dsp:spPr>
        <a:xfrm>
          <a:off x="2092775" y="1258011"/>
          <a:ext cx="1989180" cy="838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t" anchorCtr="0">
          <a:noAutofit/>
        </a:bodyPr>
        <a:lstStyle/>
        <a:p>
          <a:pPr marL="0" lvl="0" indent="0" algn="ctr" defTabSz="533400">
            <a:lnSpc>
              <a:spcPct val="90000"/>
            </a:lnSpc>
            <a:spcBef>
              <a:spcPct val="0"/>
            </a:spcBef>
            <a:spcAft>
              <a:spcPct val="35000"/>
            </a:spcAft>
            <a:buNone/>
          </a:pPr>
          <a:r>
            <a:rPr lang="en-GB" sz="1200" b="1" kern="1200" dirty="0"/>
            <a:t>Nov 2022</a:t>
          </a:r>
          <a:br>
            <a:rPr lang="en-GB" sz="1200" kern="1200" dirty="0"/>
          </a:br>
          <a:r>
            <a:rPr lang="en-GB" sz="1200" kern="1200" dirty="0"/>
            <a:t>Presented at PHUSE EU Connect 22 [1], [2]</a:t>
          </a:r>
        </a:p>
      </dsp:txBody>
      <dsp:txXfrm>
        <a:off x="2092775" y="1258011"/>
        <a:ext cx="1989180" cy="838674"/>
      </dsp:txXfrm>
    </dsp:sp>
    <dsp:sp modelId="{54B21999-4CBA-4C70-BC37-55810FA79D5E}">
      <dsp:nvSpPr>
        <dsp:cNvPr id="0" name=""/>
        <dsp:cNvSpPr/>
      </dsp:nvSpPr>
      <dsp:spPr>
        <a:xfrm>
          <a:off x="2982530" y="943508"/>
          <a:ext cx="209668" cy="209668"/>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3F1F70D-E227-456C-B881-BCAFEDDF19E5}">
      <dsp:nvSpPr>
        <dsp:cNvPr id="0" name=""/>
        <dsp:cNvSpPr/>
      </dsp:nvSpPr>
      <dsp:spPr>
        <a:xfrm>
          <a:off x="4181414" y="0"/>
          <a:ext cx="1989180" cy="838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b" anchorCtr="0">
          <a:noAutofit/>
        </a:bodyPr>
        <a:lstStyle/>
        <a:p>
          <a:pPr marL="0" lvl="0" indent="0" algn="ctr" defTabSz="533400">
            <a:lnSpc>
              <a:spcPct val="90000"/>
            </a:lnSpc>
            <a:spcBef>
              <a:spcPct val="0"/>
            </a:spcBef>
            <a:spcAft>
              <a:spcPct val="35000"/>
            </a:spcAft>
            <a:buNone/>
          </a:pPr>
          <a:r>
            <a:rPr lang="en-GB" sz="1200" b="1" kern="1200" dirty="0"/>
            <a:t>Jul 2023</a:t>
          </a:r>
          <a:br>
            <a:rPr lang="en-GB" sz="1200" kern="1200" dirty="0"/>
          </a:br>
          <a:r>
            <a:rPr lang="en-GB" sz="1200" kern="1200" dirty="0"/>
            <a:t>Shared for co-development with IMPALA partners</a:t>
          </a:r>
        </a:p>
      </dsp:txBody>
      <dsp:txXfrm>
        <a:off x="4181414" y="0"/>
        <a:ext cx="1989180" cy="838674"/>
      </dsp:txXfrm>
    </dsp:sp>
    <dsp:sp modelId="{3B73D03F-956A-4B33-AC1D-087E74648812}">
      <dsp:nvSpPr>
        <dsp:cNvPr id="0" name=""/>
        <dsp:cNvSpPr/>
      </dsp:nvSpPr>
      <dsp:spPr>
        <a:xfrm>
          <a:off x="5071170" y="943508"/>
          <a:ext cx="209668" cy="209668"/>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DC30CAA-6DCF-4FD5-8147-C9F288A88AEB}">
      <dsp:nvSpPr>
        <dsp:cNvPr id="0" name=""/>
        <dsp:cNvSpPr/>
      </dsp:nvSpPr>
      <dsp:spPr>
        <a:xfrm>
          <a:off x="6270053" y="1258011"/>
          <a:ext cx="1989180" cy="838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t" anchorCtr="0">
          <a:noAutofit/>
        </a:bodyPr>
        <a:lstStyle/>
        <a:p>
          <a:pPr marL="0" lvl="0" indent="0" algn="ctr" defTabSz="533400">
            <a:lnSpc>
              <a:spcPct val="90000"/>
            </a:lnSpc>
            <a:spcBef>
              <a:spcPct val="0"/>
            </a:spcBef>
            <a:spcAft>
              <a:spcPct val="35000"/>
            </a:spcAft>
            <a:buNone/>
          </a:pPr>
          <a:r>
            <a:rPr lang="en-GB" sz="1200" b="1" kern="1200" dirty="0"/>
            <a:t>Dec 2023</a:t>
          </a:r>
          <a:br>
            <a:rPr lang="en-GB" sz="1200" kern="1200" dirty="0"/>
          </a:br>
          <a:r>
            <a:rPr lang="en-GB" sz="1200" kern="1200" dirty="0"/>
            <a:t>R package published [3]</a:t>
          </a:r>
        </a:p>
      </dsp:txBody>
      <dsp:txXfrm>
        <a:off x="6270053" y="1258011"/>
        <a:ext cx="1989180" cy="838674"/>
      </dsp:txXfrm>
    </dsp:sp>
    <dsp:sp modelId="{332C72D2-113E-4B1A-8908-9E066A2D1BF4}">
      <dsp:nvSpPr>
        <dsp:cNvPr id="0" name=""/>
        <dsp:cNvSpPr/>
      </dsp:nvSpPr>
      <dsp:spPr>
        <a:xfrm>
          <a:off x="7159809" y="943508"/>
          <a:ext cx="209668" cy="209668"/>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19ED72-805F-4B19-A495-05C6AB1FB820}">
      <dsp:nvSpPr>
        <dsp:cNvPr id="0" name=""/>
        <dsp:cNvSpPr/>
      </dsp:nvSpPr>
      <dsp:spPr>
        <a:xfrm>
          <a:off x="3130" y="989726"/>
          <a:ext cx="3052660" cy="1207747"/>
        </a:xfrm>
        <a:prstGeom prst="rect">
          <a:avLst/>
        </a:prstGeom>
        <a:solidFill>
          <a:schemeClr val="accent4">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8920" tIns="142240" rIns="248920" bIns="142240" numCol="1" spcCol="1270" anchor="ctr" anchorCtr="0">
          <a:noAutofit/>
        </a:bodyPr>
        <a:lstStyle/>
        <a:p>
          <a:pPr marL="0" lvl="0" indent="0" algn="ctr" defTabSz="1555750">
            <a:lnSpc>
              <a:spcPct val="90000"/>
            </a:lnSpc>
            <a:spcBef>
              <a:spcPct val="0"/>
            </a:spcBef>
            <a:spcAft>
              <a:spcPct val="35000"/>
            </a:spcAft>
            <a:buNone/>
          </a:pPr>
          <a:r>
            <a:rPr lang="en-GB" sz="3500" kern="1200" dirty="0"/>
            <a:t>Quality Assurance</a:t>
          </a:r>
        </a:p>
      </dsp:txBody>
      <dsp:txXfrm>
        <a:off x="3130" y="989726"/>
        <a:ext cx="3052660" cy="1207747"/>
      </dsp:txXfrm>
    </dsp:sp>
    <dsp:sp modelId="{344C7F7B-E1C8-484E-A195-489736E09111}">
      <dsp:nvSpPr>
        <dsp:cNvPr id="0" name=""/>
        <dsp:cNvSpPr/>
      </dsp:nvSpPr>
      <dsp:spPr>
        <a:xfrm>
          <a:off x="3130" y="2197474"/>
          <a:ext cx="3052660" cy="1537199"/>
        </a:xfrm>
        <a:prstGeom prst="rect">
          <a:avLst/>
        </a:prstGeom>
        <a:solidFill>
          <a:schemeClr val="accent4">
            <a:tint val="40000"/>
            <a:alpha val="90000"/>
            <a:hueOff val="0"/>
            <a:satOff val="0"/>
            <a:lumOff val="0"/>
            <a:alphaOff val="0"/>
          </a:schemeClr>
        </a:solidFill>
        <a:ln w="2540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en-GB" sz="1400" kern="1200" dirty="0"/>
            <a:t>Choose sites for inspections </a:t>
          </a:r>
          <a:br>
            <a:rPr lang="en-GB" sz="1400" kern="1200" dirty="0"/>
          </a:br>
          <a:r>
            <a:rPr lang="en-GB" sz="1400" kern="1200" dirty="0"/>
            <a:t>and audits.</a:t>
          </a:r>
        </a:p>
        <a:p>
          <a:pPr marL="114300" lvl="1" indent="-114300" algn="l" defTabSz="622300">
            <a:lnSpc>
              <a:spcPct val="90000"/>
            </a:lnSpc>
            <a:spcBef>
              <a:spcPct val="0"/>
            </a:spcBef>
            <a:spcAft>
              <a:spcPct val="15000"/>
            </a:spcAft>
            <a:buChar char="•"/>
          </a:pPr>
          <a:r>
            <a:rPr lang="en-GB" sz="1400" kern="1200" dirty="0"/>
            <a:t>Guide audits and inspections to focus on parameters with most anomalies.</a:t>
          </a:r>
        </a:p>
      </dsp:txBody>
      <dsp:txXfrm>
        <a:off x="3130" y="2197474"/>
        <a:ext cx="3052660" cy="1537199"/>
      </dsp:txXfrm>
    </dsp:sp>
    <dsp:sp modelId="{B0343528-60AC-4109-99DE-73E5D2DE3AF2}">
      <dsp:nvSpPr>
        <dsp:cNvPr id="0" name=""/>
        <dsp:cNvSpPr/>
      </dsp:nvSpPr>
      <dsp:spPr>
        <a:xfrm>
          <a:off x="3483163" y="989726"/>
          <a:ext cx="3052660" cy="1207747"/>
        </a:xfrm>
        <a:prstGeom prst="rect">
          <a:avLst/>
        </a:prstGeom>
        <a:solidFill>
          <a:schemeClr val="accent4">
            <a:hueOff val="-2232385"/>
            <a:satOff val="13449"/>
            <a:lumOff val="1078"/>
            <a:alphaOff val="0"/>
          </a:schemeClr>
        </a:solidFill>
        <a:ln w="25400" cap="flat" cmpd="sng" algn="ctr">
          <a:solidFill>
            <a:schemeClr val="accent4">
              <a:hueOff val="-2232385"/>
              <a:satOff val="13449"/>
              <a:lumOff val="1078"/>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8920" tIns="142240" rIns="248920" bIns="142240" numCol="1" spcCol="1270" anchor="ctr" anchorCtr="0">
          <a:noAutofit/>
        </a:bodyPr>
        <a:lstStyle/>
        <a:p>
          <a:pPr marL="0" lvl="0" indent="0" algn="ctr" defTabSz="1555750">
            <a:lnSpc>
              <a:spcPct val="90000"/>
            </a:lnSpc>
            <a:spcBef>
              <a:spcPct val="0"/>
            </a:spcBef>
            <a:spcAft>
              <a:spcPct val="35000"/>
            </a:spcAft>
            <a:buNone/>
          </a:pPr>
          <a:r>
            <a:rPr lang="en-GB" sz="3500" kern="1200" dirty="0"/>
            <a:t>Clinical Operations</a:t>
          </a:r>
        </a:p>
      </dsp:txBody>
      <dsp:txXfrm>
        <a:off x="3483163" y="989726"/>
        <a:ext cx="3052660" cy="1207747"/>
      </dsp:txXfrm>
    </dsp:sp>
    <dsp:sp modelId="{446456DB-CF09-452F-9F96-31F4DC8A24F8}">
      <dsp:nvSpPr>
        <dsp:cNvPr id="0" name=""/>
        <dsp:cNvSpPr/>
      </dsp:nvSpPr>
      <dsp:spPr>
        <a:xfrm>
          <a:off x="3483163" y="2197474"/>
          <a:ext cx="3052660" cy="1537199"/>
        </a:xfrm>
        <a:prstGeom prst="rect">
          <a:avLst/>
        </a:prstGeom>
        <a:solidFill>
          <a:schemeClr val="accent4">
            <a:tint val="40000"/>
            <a:alpha val="90000"/>
            <a:hueOff val="-1972855"/>
            <a:satOff val="11079"/>
            <a:lumOff val="704"/>
            <a:alphaOff val="0"/>
          </a:schemeClr>
        </a:solidFill>
        <a:ln w="25400" cap="flat" cmpd="sng" algn="ctr">
          <a:solidFill>
            <a:schemeClr val="accent4">
              <a:tint val="40000"/>
              <a:alpha val="90000"/>
              <a:hueOff val="-1972855"/>
              <a:satOff val="11079"/>
              <a:lumOff val="70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en-GB" sz="1400" kern="1200" dirty="0"/>
            <a:t>Monitor study data of on-going trials for signs of issues. Act early on to minimize impact to project.</a:t>
          </a:r>
        </a:p>
        <a:p>
          <a:pPr marL="114300" lvl="1" indent="-114300" algn="l" defTabSz="622300">
            <a:lnSpc>
              <a:spcPct val="90000"/>
            </a:lnSpc>
            <a:spcBef>
              <a:spcPct val="0"/>
            </a:spcBef>
            <a:spcAft>
              <a:spcPct val="15000"/>
            </a:spcAft>
            <a:buChar char="•"/>
          </a:pPr>
          <a:r>
            <a:rPr lang="en-GB" sz="1400" kern="1200" dirty="0"/>
            <a:t>Reduce manual data review.</a:t>
          </a:r>
        </a:p>
        <a:p>
          <a:pPr marL="114300" lvl="1" indent="-114300" algn="l" defTabSz="622300">
            <a:lnSpc>
              <a:spcPct val="90000"/>
            </a:lnSpc>
            <a:spcBef>
              <a:spcPct val="0"/>
            </a:spcBef>
            <a:spcAft>
              <a:spcPct val="15000"/>
            </a:spcAft>
            <a:buChar char="•"/>
          </a:pPr>
          <a:r>
            <a:rPr lang="en-GB" sz="1400" kern="1200" dirty="0"/>
            <a:t>Identify anomalies that would potentially go undetected with more traditional methods.</a:t>
          </a:r>
        </a:p>
      </dsp:txBody>
      <dsp:txXfrm>
        <a:off x="3483163" y="2197474"/>
        <a:ext cx="3052660" cy="1537199"/>
      </dsp:txXfrm>
    </dsp:sp>
    <dsp:sp modelId="{11B0927C-3CDF-439C-A315-1736DFBFA618}">
      <dsp:nvSpPr>
        <dsp:cNvPr id="0" name=""/>
        <dsp:cNvSpPr/>
      </dsp:nvSpPr>
      <dsp:spPr>
        <a:xfrm>
          <a:off x="6963195" y="989726"/>
          <a:ext cx="3052660" cy="1207747"/>
        </a:xfrm>
        <a:prstGeom prst="rect">
          <a:avLst/>
        </a:prstGeom>
        <a:solidFill>
          <a:schemeClr val="accent4">
            <a:hueOff val="-4464770"/>
            <a:satOff val="26899"/>
            <a:lumOff val="2156"/>
            <a:alphaOff val="0"/>
          </a:schemeClr>
        </a:solidFill>
        <a:ln w="25400" cap="flat" cmpd="sng" algn="ctr">
          <a:solidFill>
            <a:schemeClr val="accent4">
              <a:hueOff val="-4464770"/>
              <a:satOff val="26899"/>
              <a:lumOff val="2156"/>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8920" tIns="142240" rIns="248920" bIns="142240" numCol="1" spcCol="1270" anchor="ctr" anchorCtr="0">
          <a:noAutofit/>
        </a:bodyPr>
        <a:lstStyle/>
        <a:p>
          <a:pPr marL="0" lvl="0" indent="0" algn="ctr" defTabSz="1555750">
            <a:lnSpc>
              <a:spcPct val="90000"/>
            </a:lnSpc>
            <a:spcBef>
              <a:spcPct val="0"/>
            </a:spcBef>
            <a:spcAft>
              <a:spcPct val="35000"/>
            </a:spcAft>
            <a:buNone/>
          </a:pPr>
          <a:r>
            <a:rPr lang="en-GB" sz="3500" kern="1200" dirty="0"/>
            <a:t>Regulators</a:t>
          </a:r>
        </a:p>
      </dsp:txBody>
      <dsp:txXfrm>
        <a:off x="6963195" y="989726"/>
        <a:ext cx="3052660" cy="1207747"/>
      </dsp:txXfrm>
    </dsp:sp>
    <dsp:sp modelId="{8AB2569D-DDD6-449E-AD3D-9FAEE24FD848}">
      <dsp:nvSpPr>
        <dsp:cNvPr id="0" name=""/>
        <dsp:cNvSpPr/>
      </dsp:nvSpPr>
      <dsp:spPr>
        <a:xfrm>
          <a:off x="6963195" y="2197474"/>
          <a:ext cx="3052660" cy="1537199"/>
        </a:xfrm>
        <a:prstGeom prst="rect">
          <a:avLst/>
        </a:prstGeom>
        <a:solidFill>
          <a:schemeClr val="accent4">
            <a:tint val="40000"/>
            <a:alpha val="90000"/>
            <a:hueOff val="-3945710"/>
            <a:satOff val="22157"/>
            <a:lumOff val="1408"/>
            <a:alphaOff val="0"/>
          </a:schemeClr>
        </a:solidFill>
        <a:ln w="25400" cap="flat" cmpd="sng" algn="ctr">
          <a:solidFill>
            <a:schemeClr val="accent4">
              <a:tint val="40000"/>
              <a:alpha val="90000"/>
              <a:hueOff val="-3945710"/>
              <a:satOff val="22157"/>
              <a:lumOff val="140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en-GB" sz="1400" kern="1200" dirty="0"/>
            <a:t>Screen submissions for anomalies</a:t>
          </a:r>
          <a:br>
            <a:rPr lang="en-GB" sz="1400" kern="1200" dirty="0"/>
          </a:br>
          <a:r>
            <a:rPr lang="en-GB" sz="1400" kern="1200" dirty="0"/>
            <a:t>in (critical) parameters.</a:t>
          </a:r>
        </a:p>
        <a:p>
          <a:pPr marL="114300" lvl="1" indent="-114300" algn="l" defTabSz="622300">
            <a:lnSpc>
              <a:spcPct val="90000"/>
            </a:lnSpc>
            <a:spcBef>
              <a:spcPct val="0"/>
            </a:spcBef>
            <a:spcAft>
              <a:spcPct val="15000"/>
            </a:spcAft>
            <a:buChar char="•"/>
          </a:pPr>
          <a:r>
            <a:rPr lang="en-GB" sz="1400" kern="1200" dirty="0"/>
            <a:t>Motivate sponsors to use advanced tools like CTAS to pre-emptily avoid data findings during submission.</a:t>
          </a:r>
        </a:p>
      </dsp:txBody>
      <dsp:txXfrm>
        <a:off x="6963195" y="2197474"/>
        <a:ext cx="3052660" cy="1537199"/>
      </dsp:txXfrm>
    </dsp:sp>
  </dsp:spTree>
</dsp:drawing>
</file>

<file path=ppt/diagrams/layout1.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4" name="Google Shape;5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CH" dirty="0"/>
          </a:p>
        </p:txBody>
      </p:sp>
    </p:spTree>
    <p:extLst>
      <p:ext uri="{BB962C8B-B14F-4D97-AF65-F5344CB8AC3E}">
        <p14:creationId xmlns:p14="http://schemas.microsoft.com/office/powerpoint/2010/main" val="7894476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77239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8678039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PH_Notes"/>
          <p:cNvSpPr>
            <a:spLocks noGrp="1"/>
          </p:cNvSpPr>
          <p:nvPr>
            <p:ph type="body" idx="1"/>
          </p:nvPr>
        </p:nvSpPr>
        <p:spPr/>
        <p:txBody>
          <a:bodyPr/>
          <a:lstStyle/>
          <a:p>
            <a:endParaRPr/>
          </a:p>
        </p:txBody>
      </p:sp>
      <p:sp>
        <p:nvSpPr>
          <p:cNvPr id="4" name="Slide Number Placeholder 3"/>
          <p:cNvSpPr>
            <a:spLocks noGrp="1"/>
          </p:cNvSpPr>
          <p:nvPr>
            <p:ph type="sldNum" sz="quarter" idx="5"/>
          </p:nvPr>
        </p:nvSpPr>
        <p:spPr/>
        <p:txBody>
          <a:bodyPr/>
          <a:lstStyle/>
          <a:p>
            <a:fld id="{7929F333-FACE-DF47-A5BE-6161F3AB7EC8}" type="slidenum">
              <a:rPr lang="en-US" smtClean="0"/>
              <a:t>8</a:t>
            </a:fld>
            <a:endParaRPr lang="en-US"/>
          </a:p>
        </p:txBody>
      </p:sp>
    </p:spTree>
    <p:extLst>
      <p:ext uri="{BB962C8B-B14F-4D97-AF65-F5344CB8AC3E}">
        <p14:creationId xmlns:p14="http://schemas.microsoft.com/office/powerpoint/2010/main" val="32227954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EC215-F75A-CE5B-DCEF-D603AD24AB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90D7F4-0333-49E7-F64D-E36510A4EB75}"/>
              </a:ext>
            </a:extLst>
          </p:cNvPr>
          <p:cNvSpPr>
            <a:spLocks noGrp="1" noRot="1" noChangeAspect="1"/>
          </p:cNvSpPr>
          <p:nvPr>
            <p:ph type="sldImg"/>
          </p:nvPr>
        </p:nvSpPr>
        <p:spPr>
          <a:xfrm>
            <a:off x="381000" y="685800"/>
            <a:ext cx="6096000" cy="3429000"/>
          </a:xfrm>
        </p:spPr>
      </p:sp>
      <p:sp>
        <p:nvSpPr>
          <p:cNvPr id="3" name="PH_Notes">
            <a:extLst>
              <a:ext uri="{FF2B5EF4-FFF2-40B4-BE49-F238E27FC236}">
                <a16:creationId xmlns:a16="http://schemas.microsoft.com/office/drawing/2014/main" id="{86C933B0-4373-FEA9-3D1B-B0448BC63AF3}"/>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E0C64EB3-2FFD-8BA2-61ED-6371CFDCAAC7}"/>
              </a:ext>
            </a:extLst>
          </p:cNvPr>
          <p:cNvSpPr>
            <a:spLocks noGrp="1"/>
          </p:cNvSpPr>
          <p:nvPr>
            <p:ph type="sldNum" sz="quarter" idx="5"/>
          </p:nvPr>
        </p:nvSpPr>
        <p:spPr/>
        <p:txBody>
          <a:bodyPr/>
          <a:lstStyle/>
          <a:p>
            <a:fld id="{7929F333-FACE-DF47-A5BE-6161F3AB7EC8}" type="slidenum">
              <a:rPr lang="en-US" smtClean="0"/>
              <a:t>10</a:t>
            </a:fld>
            <a:endParaRPr lang="en-US"/>
          </a:p>
        </p:txBody>
      </p:sp>
    </p:spTree>
    <p:extLst>
      <p:ext uri="{BB962C8B-B14F-4D97-AF65-F5344CB8AC3E}">
        <p14:creationId xmlns:p14="http://schemas.microsoft.com/office/powerpoint/2010/main" val="762557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1999293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800"/>
          </a:p>
        </p:txBody>
      </p:sp>
      <p:sp>
        <p:nvSpPr>
          <p:cNvPr id="4" name="Slide Number Placeholder 3"/>
          <p:cNvSpPr>
            <a:spLocks noGrp="1"/>
          </p:cNvSpPr>
          <p:nvPr>
            <p:ph type="sldNum" sz="quarter" idx="5"/>
          </p:nvPr>
        </p:nvSpPr>
        <p:spPr/>
        <p:txBody>
          <a:bodyPr/>
          <a:lstStyle/>
          <a:p>
            <a:fld id="{07BF232A-D0AC-9B4F-A822-05618EDB3A67}" type="slidenum">
              <a:rPr lang="en-US" smtClean="0"/>
              <a:t>14</a:t>
            </a:fld>
            <a:endParaRPr lang="en-US"/>
          </a:p>
        </p:txBody>
      </p:sp>
    </p:spTree>
    <p:extLst>
      <p:ext uri="{BB962C8B-B14F-4D97-AF65-F5344CB8AC3E}">
        <p14:creationId xmlns:p14="http://schemas.microsoft.com/office/powerpoint/2010/main" val="27120149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CH" dirty="0"/>
          </a:p>
        </p:txBody>
      </p:sp>
    </p:spTree>
    <p:extLst>
      <p:ext uri="{BB962C8B-B14F-4D97-AF65-F5344CB8AC3E}">
        <p14:creationId xmlns:p14="http://schemas.microsoft.com/office/powerpoint/2010/main" val="27126626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CH" dirty="0"/>
          </a:p>
        </p:txBody>
      </p:sp>
    </p:spTree>
    <p:extLst>
      <p:ext uri="{BB962C8B-B14F-4D97-AF65-F5344CB8AC3E}">
        <p14:creationId xmlns:p14="http://schemas.microsoft.com/office/powerpoint/2010/main" val="16127882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CH" dirty="0"/>
          </a:p>
        </p:txBody>
      </p:sp>
    </p:spTree>
    <p:extLst>
      <p:ext uri="{BB962C8B-B14F-4D97-AF65-F5344CB8AC3E}">
        <p14:creationId xmlns:p14="http://schemas.microsoft.com/office/powerpoint/2010/main" val="11445040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CH" dirty="0"/>
          </a:p>
        </p:txBody>
      </p:sp>
    </p:spTree>
    <p:extLst>
      <p:ext uri="{BB962C8B-B14F-4D97-AF65-F5344CB8AC3E}">
        <p14:creationId xmlns:p14="http://schemas.microsoft.com/office/powerpoint/2010/main" val="19547593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107243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CH" dirty="0"/>
          </a:p>
        </p:txBody>
      </p:sp>
    </p:spTree>
    <p:extLst>
      <p:ext uri="{BB962C8B-B14F-4D97-AF65-F5344CB8AC3E}">
        <p14:creationId xmlns:p14="http://schemas.microsoft.com/office/powerpoint/2010/main" val="25055479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p:cSld name="Title Slide">
    <p:bg>
      <p:bgPr>
        <a:blipFill>
          <a:blip r:embed="rId2">
            <a:alphaModFix/>
          </a:blip>
          <a:stretch>
            <a:fillRect/>
          </a:stretch>
        </a:blipFill>
        <a:effectLst/>
      </p:bgPr>
    </p:bg>
    <p:spTree>
      <p:nvGrpSpPr>
        <p:cNvPr id="1" name="Shape 6"/>
        <p:cNvGrpSpPr/>
        <p:nvPr/>
      </p:nvGrpSpPr>
      <p:grpSpPr>
        <a:xfrm>
          <a:off x="0" y="0"/>
          <a:ext cx="0" cy="0"/>
          <a:chOff x="0" y="0"/>
          <a:chExt cx="0" cy="0"/>
        </a:xfrm>
      </p:grpSpPr>
      <p:sp>
        <p:nvSpPr>
          <p:cNvPr id="7" name="Google Shape;7;p5"/>
          <p:cNvSpPr txBox="1">
            <a:spLocks noGrp="1"/>
          </p:cNvSpPr>
          <p:nvPr>
            <p:ph type="body" idx="1"/>
          </p:nvPr>
        </p:nvSpPr>
        <p:spPr>
          <a:xfrm>
            <a:off x="353763" y="1600202"/>
            <a:ext cx="11159045" cy="3834837"/>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5"/>
          <p:cNvSpPr txBox="1">
            <a:spLocks noGrp="1"/>
          </p:cNvSpPr>
          <p:nvPr>
            <p:ph type="title"/>
          </p:nvPr>
        </p:nvSpPr>
        <p:spPr>
          <a:xfrm>
            <a:off x="353763" y="417838"/>
            <a:ext cx="11159045" cy="104762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rgbClr val="BBBCBC"/>
              </a:buClr>
              <a:buSzPts val="3600"/>
              <a:buFont typeface="Helvetica Neue"/>
              <a:buNone/>
              <a:defRPr sz="3600" b="1" i="0" u="none" strike="noStrike" cap="none">
                <a:solidFill>
                  <a:srgbClr val="BBBCBC"/>
                </a:solidFill>
                <a:latin typeface="Helvetica Neue"/>
                <a:ea typeface="Helvetica Neue"/>
                <a:cs typeface="Helvetica Neue"/>
                <a:sym typeface="Helvetica Neu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2" name="Picture 1" descr="A close-up of a logo&#10;&#10;Description automatically generated">
            <a:extLst>
              <a:ext uri="{FF2B5EF4-FFF2-40B4-BE49-F238E27FC236}">
                <a16:creationId xmlns:a16="http://schemas.microsoft.com/office/drawing/2014/main" id="{7A4CE9BE-A4BF-F90F-1428-017CC2B6FB4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108099" y="0"/>
            <a:ext cx="2083901" cy="689763"/>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and Content">
  <p:cSld name="Title and Content">
    <p:bg>
      <p:bgPr>
        <a:blipFill>
          <a:blip r:embed="rId2">
            <a:alphaModFix/>
          </a:blip>
          <a:stretch>
            <a:fillRect/>
          </a:stretch>
        </a:blipFill>
        <a:effectLst/>
      </p:bgPr>
    </p:bg>
    <p:spTree>
      <p:nvGrpSpPr>
        <p:cNvPr id="1" name="Shape 9"/>
        <p:cNvGrpSpPr/>
        <p:nvPr/>
      </p:nvGrpSpPr>
      <p:grpSpPr>
        <a:xfrm>
          <a:off x="0" y="0"/>
          <a:ext cx="0" cy="0"/>
          <a:chOff x="0" y="0"/>
          <a:chExt cx="0" cy="0"/>
        </a:xfrm>
      </p:grpSpPr>
      <p:sp>
        <p:nvSpPr>
          <p:cNvPr id="10" name="Google Shape;10;p6"/>
          <p:cNvSpPr txBox="1">
            <a:spLocks noGrp="1"/>
          </p:cNvSpPr>
          <p:nvPr>
            <p:ph type="body" idx="1"/>
          </p:nvPr>
        </p:nvSpPr>
        <p:spPr>
          <a:xfrm>
            <a:off x="353763" y="1600202"/>
            <a:ext cx="11159045" cy="3834837"/>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1" name="Google Shape;11;p6"/>
          <p:cNvSpPr txBox="1">
            <a:spLocks noGrp="1"/>
          </p:cNvSpPr>
          <p:nvPr>
            <p:ph type="title"/>
          </p:nvPr>
        </p:nvSpPr>
        <p:spPr>
          <a:xfrm>
            <a:off x="353763" y="417838"/>
            <a:ext cx="11159045" cy="104762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rgbClr val="BBBCBC"/>
              </a:buClr>
              <a:buSzPts val="3600"/>
              <a:buFont typeface="Helvetica Neue"/>
              <a:buNone/>
              <a:defRPr sz="3600" b="1" i="0" u="none" strike="noStrike" cap="none">
                <a:solidFill>
                  <a:srgbClr val="BBBCBC"/>
                </a:solidFill>
                <a:latin typeface="Helvetica Neue"/>
                <a:ea typeface="Helvetica Neue"/>
                <a:cs typeface="Helvetica Neue"/>
                <a:sym typeface="Helvetica Neu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3" name="Picture 2" descr="A close-up of a logo&#10;&#10;Description automatically generated">
            <a:extLst>
              <a:ext uri="{FF2B5EF4-FFF2-40B4-BE49-F238E27FC236}">
                <a16:creationId xmlns:a16="http://schemas.microsoft.com/office/drawing/2014/main" id="{C2EFC723-3994-EE95-5454-5887BF51B01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108099" y="0"/>
            <a:ext cx="2083901" cy="689763"/>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Custom Layout">
  <p:cSld name="Custom Layout">
    <p:bg>
      <p:bgPr>
        <a:blipFill>
          <a:blip r:embed="rId2">
            <a:alphaModFix/>
          </a:blip>
          <a:stretch>
            <a:fillRect/>
          </a:stretch>
        </a:blipFill>
        <a:effectLst/>
      </p:bgPr>
    </p:bg>
    <p:spTree>
      <p:nvGrpSpPr>
        <p:cNvPr id="1" name="Shape 12"/>
        <p:cNvGrpSpPr/>
        <p:nvPr/>
      </p:nvGrpSpPr>
      <p:grpSpPr>
        <a:xfrm>
          <a:off x="0" y="0"/>
          <a:ext cx="0" cy="0"/>
          <a:chOff x="0" y="0"/>
          <a:chExt cx="0" cy="0"/>
        </a:xfrm>
      </p:grpSpPr>
      <p:sp>
        <p:nvSpPr>
          <p:cNvPr id="13" name="Google Shape;13;p7"/>
          <p:cNvSpPr txBox="1">
            <a:spLocks noGrp="1"/>
          </p:cNvSpPr>
          <p:nvPr>
            <p:ph type="body" idx="1"/>
          </p:nvPr>
        </p:nvSpPr>
        <p:spPr>
          <a:xfrm>
            <a:off x="353763" y="1600202"/>
            <a:ext cx="11159045" cy="3834837"/>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4" name="Google Shape;14;p7"/>
          <p:cNvSpPr txBox="1">
            <a:spLocks noGrp="1"/>
          </p:cNvSpPr>
          <p:nvPr>
            <p:ph type="title"/>
          </p:nvPr>
        </p:nvSpPr>
        <p:spPr>
          <a:xfrm>
            <a:off x="353763" y="417838"/>
            <a:ext cx="11159045" cy="104762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rgbClr val="BBBCBC"/>
              </a:buClr>
              <a:buSzPts val="3600"/>
              <a:buFont typeface="Helvetica Neue"/>
              <a:buNone/>
              <a:defRPr sz="3600" b="1" i="0" u="none" strike="noStrike" cap="none">
                <a:solidFill>
                  <a:srgbClr val="BBBCBC"/>
                </a:solidFill>
                <a:latin typeface="Helvetica Neue"/>
                <a:ea typeface="Helvetica Neue"/>
                <a:cs typeface="Helvetica Neue"/>
                <a:sym typeface="Helvetica Neu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2" name="Picture 1" descr="A close-up of a logo&#10;&#10;Description automatically generated">
            <a:extLst>
              <a:ext uri="{FF2B5EF4-FFF2-40B4-BE49-F238E27FC236}">
                <a16:creationId xmlns:a16="http://schemas.microsoft.com/office/drawing/2014/main" id="{DDBDB691-396E-A29D-A142-8A25FDC7381B}"/>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108099" y="0"/>
            <a:ext cx="2083901" cy="689763"/>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11/14/2025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9885977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Title Only -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460B3-6ACD-194D-9D44-C086FB470179}"/>
              </a:ext>
            </a:extLst>
          </p:cNvPr>
          <p:cNvSpPr>
            <a:spLocks noGrp="1"/>
          </p:cNvSpPr>
          <p:nvPr>
            <p:ph type="title" hasCustomPrompt="1"/>
          </p:nvPr>
        </p:nvSpPr>
        <p:spPr>
          <a:xfrm>
            <a:off x="577516" y="365125"/>
            <a:ext cx="10972800" cy="987019"/>
          </a:xfrm>
        </p:spPr>
        <p:txBody>
          <a:bodyPr/>
          <a:lstStyle>
            <a:lvl1pPr algn="l">
              <a:lnSpc>
                <a:spcPct val="80000"/>
              </a:lnSpc>
              <a:defRPr b="1" i="0">
                <a:solidFill>
                  <a:schemeClr val="accent1"/>
                </a:solidFill>
                <a:latin typeface="Trebuchet MS" panose="020B0703020202090204" pitchFamily="34" charset="0"/>
              </a:defRPr>
            </a:lvl1pPr>
          </a:lstStyle>
          <a:p>
            <a:r>
              <a:rPr lang="en-US"/>
              <a:t>Click to edit master title style</a:t>
            </a:r>
          </a:p>
        </p:txBody>
      </p:sp>
      <p:pic>
        <p:nvPicPr>
          <p:cNvPr id="7" name="Picture 6">
            <a:extLst>
              <a:ext uri="{FF2B5EF4-FFF2-40B4-BE49-F238E27FC236}">
                <a16:creationId xmlns:a16="http://schemas.microsoft.com/office/drawing/2014/main" id="{D6BAE6AD-B7D4-B04A-86FE-7779FC9A234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765651" y="6408817"/>
            <a:ext cx="206592" cy="275456"/>
          </a:xfrm>
          <a:prstGeom prst="rect">
            <a:avLst/>
          </a:prstGeom>
        </p:spPr>
      </p:pic>
      <p:sp>
        <p:nvSpPr>
          <p:cNvPr id="9" name="Slide Number Placeholder 5">
            <a:extLst>
              <a:ext uri="{FF2B5EF4-FFF2-40B4-BE49-F238E27FC236}">
                <a16:creationId xmlns:a16="http://schemas.microsoft.com/office/drawing/2014/main" id="{F817CF6A-808E-8C4F-9BE1-507266848035}"/>
              </a:ext>
            </a:extLst>
          </p:cNvPr>
          <p:cNvSpPr>
            <a:spLocks noGrp="1"/>
          </p:cNvSpPr>
          <p:nvPr>
            <p:ph type="sldNum" sz="quarter" idx="4"/>
          </p:nvPr>
        </p:nvSpPr>
        <p:spPr>
          <a:xfrm>
            <a:off x="211015" y="6400799"/>
            <a:ext cx="2743200" cy="291492"/>
          </a:xfrm>
          <a:prstGeom prst="rect">
            <a:avLst/>
          </a:prstGeom>
        </p:spPr>
        <p:txBody>
          <a:bodyPr vert="horz" lIns="91440" tIns="45720" rIns="91440" bIns="45720" rtlCol="0" anchor="ctr"/>
          <a:lstStyle>
            <a:lvl1pPr algn="l">
              <a:defRPr sz="800">
                <a:solidFill>
                  <a:schemeClr val="bg2"/>
                </a:solidFill>
              </a:defRPr>
            </a:lvl1pPr>
          </a:lstStyle>
          <a:p>
            <a:fld id="{4BEAA09E-D67E-864E-8466-C38E88600C4F}" type="slidenum">
              <a:rPr lang="en-US" smtClean="0"/>
              <a:pPr/>
              <a:t>‹#›</a:t>
            </a:fld>
            <a:endParaRPr lang="en-US"/>
          </a:p>
        </p:txBody>
      </p:sp>
      <p:sp>
        <p:nvSpPr>
          <p:cNvPr id="10" name="Slide Number Placeholder 5">
            <a:extLst>
              <a:ext uri="{FF2B5EF4-FFF2-40B4-BE49-F238E27FC236}">
                <a16:creationId xmlns:a16="http://schemas.microsoft.com/office/drawing/2014/main" id="{6CCA6249-8962-9949-96AE-7C11B8F0135F}"/>
              </a:ext>
            </a:extLst>
          </p:cNvPr>
          <p:cNvSpPr txBox="1">
            <a:spLocks/>
          </p:cNvSpPr>
          <p:nvPr userDrawn="1"/>
        </p:nvSpPr>
        <p:spPr>
          <a:xfrm>
            <a:off x="4700337" y="6400799"/>
            <a:ext cx="2743200" cy="291492"/>
          </a:xfrm>
          <a:prstGeom prst="rect">
            <a:avLst/>
          </a:prstGeom>
        </p:spPr>
        <p:txBody>
          <a:bodyPr vert="horz" lIns="91440" tIns="45720" rIns="91440" bIns="45720" rtlCol="0" anchor="ctr"/>
          <a:lstStyle>
            <a:defPPr>
              <a:defRPr lang="en-US"/>
            </a:defPPr>
            <a:lvl1pPr marL="0" algn="l" defTabSz="914400" rtl="0" eaLnBrk="1" latinLnBrk="0" hangingPunct="1">
              <a:defRPr sz="8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b="0" i="0">
                <a:latin typeface="Trebuchet MS" panose="020B0703020202090204" pitchFamily="34" charset="0"/>
              </a:rPr>
              <a:t>Confidential – Internal Use Only</a:t>
            </a:r>
          </a:p>
        </p:txBody>
      </p:sp>
    </p:spTree>
    <p:extLst>
      <p:ext uri="{BB962C8B-B14F-4D97-AF65-F5344CB8AC3E}">
        <p14:creationId xmlns:p14="http://schemas.microsoft.com/office/powerpoint/2010/main" val="36033011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7_Presentation Title Slide Opt 1 - Editabl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E596CBB-8D38-7551-BE24-7D701336DE0C}"/>
              </a:ext>
            </a:extLst>
          </p:cNvPr>
          <p:cNvSpPr>
            <a:spLocks noGrp="1"/>
          </p:cNvSpPr>
          <p:nvPr>
            <p:ph type="body" sz="quarter" idx="10" hasCustomPrompt="1"/>
          </p:nvPr>
        </p:nvSpPr>
        <p:spPr>
          <a:xfrm>
            <a:off x="297110" y="404113"/>
            <a:ext cx="9297987" cy="581025"/>
          </a:xfrm>
          <a:prstGeom prst="rect">
            <a:avLst/>
          </a:prstGeom>
        </p:spPr>
        <p:txBody>
          <a:bodyPr/>
          <a:lstStyle>
            <a:lvl1pPr marL="0" indent="0">
              <a:buFontTx/>
              <a:buNone/>
              <a:defRPr sz="3400" b="1">
                <a:solidFill>
                  <a:srgbClr val="686375"/>
                </a:solidFill>
              </a:defRPr>
            </a:lvl1pPr>
          </a:lstStyle>
          <a:p>
            <a:pPr lvl="0"/>
            <a:r>
              <a:rPr lang="en-US" dirty="0"/>
              <a:t>Insert slide title here</a:t>
            </a:r>
          </a:p>
        </p:txBody>
      </p:sp>
      <p:sp>
        <p:nvSpPr>
          <p:cNvPr id="5" name="Google Shape;62;gcce1e39801_0_115">
            <a:extLst>
              <a:ext uri="{FF2B5EF4-FFF2-40B4-BE49-F238E27FC236}">
                <a16:creationId xmlns:a16="http://schemas.microsoft.com/office/drawing/2014/main" id="{F96D669A-7D5C-B585-F077-1D7D390E6F02}"/>
              </a:ext>
            </a:extLst>
          </p:cNvPr>
          <p:cNvSpPr txBox="1"/>
          <p:nvPr userDrawn="1"/>
        </p:nvSpPr>
        <p:spPr>
          <a:xfrm>
            <a:off x="11376928" y="6450910"/>
            <a:ext cx="815072" cy="349769"/>
          </a:xfrm>
          <a:prstGeom prst="rect">
            <a:avLst/>
          </a:prstGeom>
          <a:noFill/>
          <a:ln>
            <a:noFill/>
          </a:ln>
        </p:spPr>
        <p:txBody>
          <a:bodyPr spcFirstLastPara="1" wrap="square" lIns="91433" tIns="45700" rIns="91433" bIns="45700" anchor="ctr" anchorCtr="0">
            <a:noAutofit/>
          </a:bodyPr>
          <a:lstStyle/>
          <a:p>
            <a:pPr>
              <a:buClr>
                <a:schemeClr val="lt1"/>
              </a:buClr>
              <a:buSzPts val="225"/>
            </a:pPr>
            <a:fld id="{00000000-1234-1234-1234-123412341234}" type="slidenum">
              <a:rPr lang="en-US" sz="1200">
                <a:solidFill>
                  <a:schemeClr val="bg1"/>
                </a:solidFill>
                <a:latin typeface="Calibri"/>
                <a:ea typeface="Calibri"/>
                <a:cs typeface="Calibri"/>
                <a:sym typeface="Calibri"/>
              </a:rPr>
              <a:pPr>
                <a:buClr>
                  <a:schemeClr val="lt1"/>
                </a:buClr>
                <a:buSzPts val="225"/>
              </a:pPr>
              <a:t>‹#›</a:t>
            </a:fld>
            <a:endParaRPr sz="1200" dirty="0">
              <a:solidFill>
                <a:schemeClr val="bg1"/>
              </a:solidFill>
              <a:latin typeface="Calibri"/>
              <a:ea typeface="Calibri"/>
              <a:cs typeface="Calibri"/>
              <a:sym typeface="Calibri"/>
            </a:endParaRPr>
          </a:p>
        </p:txBody>
      </p:sp>
    </p:spTree>
    <p:extLst>
      <p:ext uri="{BB962C8B-B14F-4D97-AF65-F5344CB8AC3E}">
        <p14:creationId xmlns:p14="http://schemas.microsoft.com/office/powerpoint/2010/main" val="36680161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ster">
  <p:cSld name="Master">
    <p:spTree>
      <p:nvGrpSpPr>
        <p:cNvPr id="1" name="Shape 20"/>
        <p:cNvGrpSpPr/>
        <p:nvPr/>
      </p:nvGrpSpPr>
      <p:grpSpPr>
        <a:xfrm>
          <a:off x="0" y="0"/>
          <a:ext cx="0" cy="0"/>
          <a:chOff x="0" y="0"/>
          <a:chExt cx="0" cy="0"/>
        </a:xfrm>
      </p:grpSpPr>
      <p:sp>
        <p:nvSpPr>
          <p:cNvPr id="21" name="Google Shape;21;g2573c09e3ea_0_93"/>
          <p:cNvSpPr txBox="1">
            <a:spLocks noGrp="1"/>
          </p:cNvSpPr>
          <p:nvPr>
            <p:ph type="title"/>
          </p:nvPr>
        </p:nvSpPr>
        <p:spPr>
          <a:xfrm>
            <a:off x="1393373" y="130408"/>
            <a:ext cx="10579500" cy="1143300"/>
          </a:xfrm>
          <a:prstGeom prst="rect">
            <a:avLst/>
          </a:prstGeom>
          <a:noFill/>
          <a:ln>
            <a:noFill/>
          </a:ln>
        </p:spPr>
        <p:txBody>
          <a:bodyPr spcFirstLastPara="1" wrap="square" lIns="121900" tIns="60925" rIns="121900" bIns="60925" anchor="ctr" anchorCtr="0">
            <a:noAutofit/>
          </a:bodyPr>
          <a:lstStyle>
            <a:lvl1pPr lvl="0" algn="l" rtl="0">
              <a:lnSpc>
                <a:spcPct val="100000"/>
              </a:lnSpc>
              <a:spcBef>
                <a:spcPts val="0"/>
              </a:spcBef>
              <a:spcAft>
                <a:spcPts val="0"/>
              </a:spcAft>
              <a:buSzPts val="5900"/>
              <a:buNone/>
              <a:defRPr sz="5300">
                <a:latin typeface="Helvetica Neue"/>
                <a:ea typeface="Helvetica Neue"/>
                <a:cs typeface="Helvetica Neue"/>
                <a:sym typeface="Helvetica Neue"/>
              </a:defRPr>
            </a:lvl1pPr>
            <a:lvl2pPr lvl="1" algn="l" rtl="0">
              <a:lnSpc>
                <a:spcPct val="100000"/>
              </a:lnSpc>
              <a:spcBef>
                <a:spcPts val="0"/>
              </a:spcBef>
              <a:spcAft>
                <a:spcPts val="0"/>
              </a:spcAft>
              <a:buSzPts val="1900"/>
              <a:buNone/>
              <a:defRPr/>
            </a:lvl2pPr>
            <a:lvl3pPr lvl="2" algn="l" rtl="0">
              <a:lnSpc>
                <a:spcPct val="100000"/>
              </a:lnSpc>
              <a:spcBef>
                <a:spcPts val="0"/>
              </a:spcBef>
              <a:spcAft>
                <a:spcPts val="0"/>
              </a:spcAft>
              <a:buSzPts val="1900"/>
              <a:buNone/>
              <a:defRPr/>
            </a:lvl3pPr>
            <a:lvl4pPr lvl="3" algn="l" rtl="0">
              <a:lnSpc>
                <a:spcPct val="100000"/>
              </a:lnSpc>
              <a:spcBef>
                <a:spcPts val="0"/>
              </a:spcBef>
              <a:spcAft>
                <a:spcPts val="0"/>
              </a:spcAft>
              <a:buSzPts val="1900"/>
              <a:buNone/>
              <a:defRPr/>
            </a:lvl4pPr>
            <a:lvl5pPr lvl="4" algn="l" rtl="0">
              <a:lnSpc>
                <a:spcPct val="100000"/>
              </a:lnSpc>
              <a:spcBef>
                <a:spcPts val="0"/>
              </a:spcBef>
              <a:spcAft>
                <a:spcPts val="0"/>
              </a:spcAft>
              <a:buSzPts val="1900"/>
              <a:buNone/>
              <a:defRPr/>
            </a:lvl5pPr>
            <a:lvl6pPr lvl="5" algn="l" rtl="0">
              <a:lnSpc>
                <a:spcPct val="100000"/>
              </a:lnSpc>
              <a:spcBef>
                <a:spcPts val="0"/>
              </a:spcBef>
              <a:spcAft>
                <a:spcPts val="0"/>
              </a:spcAft>
              <a:buSzPts val="1900"/>
              <a:buNone/>
              <a:defRPr/>
            </a:lvl6pPr>
            <a:lvl7pPr lvl="6" algn="l" rtl="0">
              <a:lnSpc>
                <a:spcPct val="100000"/>
              </a:lnSpc>
              <a:spcBef>
                <a:spcPts val="0"/>
              </a:spcBef>
              <a:spcAft>
                <a:spcPts val="0"/>
              </a:spcAft>
              <a:buSzPts val="1900"/>
              <a:buNone/>
              <a:defRPr/>
            </a:lvl7pPr>
            <a:lvl8pPr lvl="7" algn="l" rtl="0">
              <a:lnSpc>
                <a:spcPct val="100000"/>
              </a:lnSpc>
              <a:spcBef>
                <a:spcPts val="0"/>
              </a:spcBef>
              <a:spcAft>
                <a:spcPts val="0"/>
              </a:spcAft>
              <a:buSzPts val="1900"/>
              <a:buNone/>
              <a:defRPr/>
            </a:lvl8pPr>
            <a:lvl9pPr lvl="8" algn="l" rtl="0">
              <a:lnSpc>
                <a:spcPct val="100000"/>
              </a:lnSpc>
              <a:spcBef>
                <a:spcPts val="0"/>
              </a:spcBef>
              <a:spcAft>
                <a:spcPts val="0"/>
              </a:spcAft>
              <a:buSzPts val="1900"/>
              <a:buNone/>
              <a:defRPr/>
            </a:lvl9pPr>
          </a:lstStyle>
          <a:p>
            <a:endParaRPr/>
          </a:p>
        </p:txBody>
      </p:sp>
      <p:sp>
        <p:nvSpPr>
          <p:cNvPr id="22" name="Google Shape;22;g2573c09e3ea_0_93"/>
          <p:cNvSpPr txBox="1">
            <a:spLocks noGrp="1"/>
          </p:cNvSpPr>
          <p:nvPr>
            <p:ph type="body" idx="1"/>
          </p:nvPr>
        </p:nvSpPr>
        <p:spPr>
          <a:xfrm>
            <a:off x="594732" y="1665817"/>
            <a:ext cx="11379300" cy="4896000"/>
          </a:xfrm>
          <a:prstGeom prst="rect">
            <a:avLst/>
          </a:prstGeom>
          <a:noFill/>
          <a:ln>
            <a:noFill/>
          </a:ln>
        </p:spPr>
        <p:txBody>
          <a:bodyPr spcFirstLastPara="1" wrap="square" lIns="121900" tIns="60925" rIns="121900" bIns="60925" anchor="t" anchorCtr="0">
            <a:noAutofit/>
          </a:bodyPr>
          <a:lstStyle>
            <a:lvl1pPr marL="457200" lvl="0" indent="-501650" algn="l" rtl="0">
              <a:lnSpc>
                <a:spcPct val="100000"/>
              </a:lnSpc>
              <a:spcBef>
                <a:spcPts val="900"/>
              </a:spcBef>
              <a:spcAft>
                <a:spcPts val="0"/>
              </a:spcAft>
              <a:buSzPts val="4300"/>
              <a:buChar char="•"/>
              <a:defRPr sz="3700">
                <a:latin typeface="Helvetica Neue"/>
                <a:ea typeface="Helvetica Neue"/>
                <a:cs typeface="Helvetica Neue"/>
                <a:sym typeface="Helvetica Neue"/>
              </a:defRPr>
            </a:lvl1pPr>
            <a:lvl2pPr marL="914400" lvl="1" indent="-463550" algn="l" rtl="0">
              <a:lnSpc>
                <a:spcPct val="100000"/>
              </a:lnSpc>
              <a:spcBef>
                <a:spcPts val="700"/>
              </a:spcBef>
              <a:spcAft>
                <a:spcPts val="0"/>
              </a:spcAft>
              <a:buSzPts val="3700"/>
              <a:buChar char="–"/>
              <a:defRPr sz="3200">
                <a:latin typeface="Helvetica Neue"/>
                <a:ea typeface="Helvetica Neue"/>
                <a:cs typeface="Helvetica Neue"/>
                <a:sym typeface="Helvetica Neue"/>
              </a:defRPr>
            </a:lvl2pPr>
            <a:lvl3pPr marL="1371600" lvl="2" indent="-431800" algn="l" rtl="0">
              <a:lnSpc>
                <a:spcPct val="100000"/>
              </a:lnSpc>
              <a:spcBef>
                <a:spcPts val="600"/>
              </a:spcBef>
              <a:spcAft>
                <a:spcPts val="0"/>
              </a:spcAft>
              <a:buSzPts val="3200"/>
              <a:buChar char="•"/>
              <a:defRPr sz="2700">
                <a:latin typeface="Helvetica Neue"/>
                <a:ea typeface="Helvetica Neue"/>
                <a:cs typeface="Helvetica Neue"/>
                <a:sym typeface="Helvetica Neue"/>
              </a:defRPr>
            </a:lvl3pPr>
            <a:lvl4pPr marL="1828800" lvl="3" indent="-400050" algn="l" rtl="0">
              <a:lnSpc>
                <a:spcPct val="100000"/>
              </a:lnSpc>
              <a:spcBef>
                <a:spcPts val="500"/>
              </a:spcBef>
              <a:spcAft>
                <a:spcPts val="0"/>
              </a:spcAft>
              <a:buSzPts val="2700"/>
              <a:buChar char="–"/>
              <a:defRPr sz="2400">
                <a:latin typeface="Helvetica Neue"/>
                <a:ea typeface="Helvetica Neue"/>
                <a:cs typeface="Helvetica Neue"/>
                <a:sym typeface="Helvetica Neue"/>
              </a:defRPr>
            </a:lvl4pPr>
            <a:lvl5pPr marL="2286000" lvl="4" indent="-400050" algn="l" rtl="0">
              <a:lnSpc>
                <a:spcPct val="100000"/>
              </a:lnSpc>
              <a:spcBef>
                <a:spcPts val="500"/>
              </a:spcBef>
              <a:spcAft>
                <a:spcPts val="0"/>
              </a:spcAft>
              <a:buSzPts val="2700"/>
              <a:buChar char="»"/>
              <a:defRPr sz="2100">
                <a:latin typeface="Helvetica Neue"/>
                <a:ea typeface="Helvetica Neue"/>
                <a:cs typeface="Helvetica Neue"/>
                <a:sym typeface="Helvetica Neue"/>
              </a:defRPr>
            </a:lvl5pPr>
            <a:lvl6pPr marL="2743200" lvl="5" indent="-400050" algn="l" rtl="0">
              <a:lnSpc>
                <a:spcPct val="100000"/>
              </a:lnSpc>
              <a:spcBef>
                <a:spcPts val="500"/>
              </a:spcBef>
              <a:spcAft>
                <a:spcPts val="0"/>
              </a:spcAft>
              <a:buSzPts val="2700"/>
              <a:buChar char="•"/>
              <a:defRPr/>
            </a:lvl6pPr>
            <a:lvl7pPr marL="3200400" lvl="6" indent="-400050" algn="l" rtl="0">
              <a:lnSpc>
                <a:spcPct val="100000"/>
              </a:lnSpc>
              <a:spcBef>
                <a:spcPts val="500"/>
              </a:spcBef>
              <a:spcAft>
                <a:spcPts val="0"/>
              </a:spcAft>
              <a:buSzPts val="2700"/>
              <a:buChar char="•"/>
              <a:defRPr/>
            </a:lvl7pPr>
            <a:lvl8pPr marL="3657600" lvl="7" indent="-400050" algn="l" rtl="0">
              <a:lnSpc>
                <a:spcPct val="100000"/>
              </a:lnSpc>
              <a:spcBef>
                <a:spcPts val="500"/>
              </a:spcBef>
              <a:spcAft>
                <a:spcPts val="0"/>
              </a:spcAft>
              <a:buSzPts val="2700"/>
              <a:buChar char="•"/>
              <a:defRPr/>
            </a:lvl8pPr>
            <a:lvl9pPr marL="4114800" lvl="8" indent="-400050" algn="l" rtl="0">
              <a:lnSpc>
                <a:spcPct val="100000"/>
              </a:lnSpc>
              <a:spcBef>
                <a:spcPts val="500"/>
              </a:spcBef>
              <a:spcAft>
                <a:spcPts val="0"/>
              </a:spcAft>
              <a:buSzPts val="27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4"/>
        <p:cNvGrpSpPr/>
        <p:nvPr/>
      </p:nvGrpSpPr>
      <p:grpSpPr>
        <a:xfrm>
          <a:off x="0" y="0"/>
          <a:ext cx="0" cy="0"/>
          <a:chOff x="0" y="0"/>
          <a:chExt cx="0" cy="0"/>
        </a:xfrm>
      </p:grpSpPr>
      <p:pic>
        <p:nvPicPr>
          <p:cNvPr id="25" name="Google Shape;25;g2573c09e3ea_0_97" descr="A picture containing text, electronics&#10;&#10;Description automatically generated"/>
          <p:cNvPicPr preferRelativeResize="0"/>
          <p:nvPr/>
        </p:nvPicPr>
        <p:blipFill rotWithShape="1">
          <a:blip r:embed="rId2">
            <a:alphaModFix/>
          </a:blip>
          <a:srcRect/>
          <a:stretch/>
        </p:blipFill>
        <p:spPr>
          <a:xfrm>
            <a:off x="0" y="0"/>
            <a:ext cx="12192000" cy="6858001"/>
          </a:xfrm>
          <a:prstGeom prst="rect">
            <a:avLst/>
          </a:prstGeom>
          <a:noFill/>
          <a:ln>
            <a:noFill/>
          </a:ln>
        </p:spPr>
      </p:pic>
      <p:sp>
        <p:nvSpPr>
          <p:cNvPr id="26" name="Google Shape;26;g2573c09e3ea_0_97"/>
          <p:cNvSpPr txBox="1">
            <a:spLocks noGrp="1"/>
          </p:cNvSpPr>
          <p:nvPr>
            <p:ph type="ctrTitle"/>
          </p:nvPr>
        </p:nvSpPr>
        <p:spPr>
          <a:xfrm>
            <a:off x="6812535" y="349555"/>
            <a:ext cx="5301900" cy="2292300"/>
          </a:xfrm>
          <a:prstGeom prst="rect">
            <a:avLst/>
          </a:prstGeom>
          <a:noFill/>
          <a:ln>
            <a:noFill/>
          </a:ln>
        </p:spPr>
        <p:txBody>
          <a:bodyPr spcFirstLastPara="1" wrap="square" lIns="121900" tIns="60925" rIns="121900" bIns="60925" anchor="ctr" anchorCtr="0">
            <a:noAutofit/>
          </a:bodyPr>
          <a:lstStyle>
            <a:lvl1pPr lvl="0" algn="ctr" rtl="0">
              <a:lnSpc>
                <a:spcPct val="100000"/>
              </a:lnSpc>
              <a:spcBef>
                <a:spcPts val="0"/>
              </a:spcBef>
              <a:spcAft>
                <a:spcPts val="0"/>
              </a:spcAft>
              <a:buClr>
                <a:schemeClr val="dk1"/>
              </a:buClr>
              <a:buSzPts val="2400"/>
              <a:buNone/>
              <a:defRPr sz="5300">
                <a:solidFill>
                  <a:schemeClr val="lt1"/>
                </a:solidFill>
                <a:latin typeface="Helvetica Neue"/>
                <a:ea typeface="Helvetica Neue"/>
                <a:cs typeface="Helvetica Neue"/>
                <a:sym typeface="Helvetica Neue"/>
              </a:defRPr>
            </a:lvl1pPr>
            <a:lvl2pPr lvl="1" algn="l" rtl="0">
              <a:lnSpc>
                <a:spcPct val="100000"/>
              </a:lnSpc>
              <a:spcBef>
                <a:spcPts val="0"/>
              </a:spcBef>
              <a:spcAft>
                <a:spcPts val="0"/>
              </a:spcAft>
              <a:buSzPts val="1900"/>
              <a:buNone/>
              <a:defRPr/>
            </a:lvl2pPr>
            <a:lvl3pPr lvl="2" algn="l" rtl="0">
              <a:lnSpc>
                <a:spcPct val="100000"/>
              </a:lnSpc>
              <a:spcBef>
                <a:spcPts val="0"/>
              </a:spcBef>
              <a:spcAft>
                <a:spcPts val="0"/>
              </a:spcAft>
              <a:buSzPts val="1900"/>
              <a:buNone/>
              <a:defRPr/>
            </a:lvl3pPr>
            <a:lvl4pPr lvl="3" algn="l" rtl="0">
              <a:lnSpc>
                <a:spcPct val="100000"/>
              </a:lnSpc>
              <a:spcBef>
                <a:spcPts val="0"/>
              </a:spcBef>
              <a:spcAft>
                <a:spcPts val="0"/>
              </a:spcAft>
              <a:buSzPts val="1900"/>
              <a:buNone/>
              <a:defRPr/>
            </a:lvl4pPr>
            <a:lvl5pPr lvl="4" algn="l" rtl="0">
              <a:lnSpc>
                <a:spcPct val="100000"/>
              </a:lnSpc>
              <a:spcBef>
                <a:spcPts val="0"/>
              </a:spcBef>
              <a:spcAft>
                <a:spcPts val="0"/>
              </a:spcAft>
              <a:buSzPts val="1900"/>
              <a:buNone/>
              <a:defRPr/>
            </a:lvl5pPr>
            <a:lvl6pPr lvl="5" algn="l" rtl="0">
              <a:lnSpc>
                <a:spcPct val="100000"/>
              </a:lnSpc>
              <a:spcBef>
                <a:spcPts val="0"/>
              </a:spcBef>
              <a:spcAft>
                <a:spcPts val="0"/>
              </a:spcAft>
              <a:buSzPts val="1900"/>
              <a:buNone/>
              <a:defRPr/>
            </a:lvl6pPr>
            <a:lvl7pPr lvl="6" algn="l" rtl="0">
              <a:lnSpc>
                <a:spcPct val="100000"/>
              </a:lnSpc>
              <a:spcBef>
                <a:spcPts val="0"/>
              </a:spcBef>
              <a:spcAft>
                <a:spcPts val="0"/>
              </a:spcAft>
              <a:buSzPts val="1900"/>
              <a:buNone/>
              <a:defRPr/>
            </a:lvl7pPr>
            <a:lvl8pPr lvl="7" algn="l" rtl="0">
              <a:lnSpc>
                <a:spcPct val="100000"/>
              </a:lnSpc>
              <a:spcBef>
                <a:spcPts val="0"/>
              </a:spcBef>
              <a:spcAft>
                <a:spcPts val="0"/>
              </a:spcAft>
              <a:buSzPts val="1900"/>
              <a:buNone/>
              <a:defRPr/>
            </a:lvl8pPr>
            <a:lvl9pPr lvl="8" algn="l" rtl="0">
              <a:lnSpc>
                <a:spcPct val="100000"/>
              </a:lnSpc>
              <a:spcBef>
                <a:spcPts val="0"/>
              </a:spcBef>
              <a:spcAft>
                <a:spcPts val="0"/>
              </a:spcAft>
              <a:buSzPts val="1900"/>
              <a:buNone/>
              <a:defRPr/>
            </a:lvl9pPr>
          </a:lstStyle>
          <a:p>
            <a:endParaRPr/>
          </a:p>
        </p:txBody>
      </p:sp>
      <p:sp>
        <p:nvSpPr>
          <p:cNvPr id="27" name="Google Shape;27;g2573c09e3ea_0_97"/>
          <p:cNvSpPr txBox="1">
            <a:spLocks noGrp="1"/>
          </p:cNvSpPr>
          <p:nvPr>
            <p:ph type="subTitle" idx="1"/>
          </p:nvPr>
        </p:nvSpPr>
        <p:spPr>
          <a:xfrm>
            <a:off x="6812533" y="3344023"/>
            <a:ext cx="5301900" cy="1752900"/>
          </a:xfrm>
          <a:prstGeom prst="rect">
            <a:avLst/>
          </a:prstGeom>
          <a:noFill/>
          <a:ln>
            <a:noFill/>
          </a:ln>
        </p:spPr>
        <p:txBody>
          <a:bodyPr spcFirstLastPara="1" wrap="square" lIns="121900" tIns="60925" rIns="121900" bIns="60925" anchor="t" anchorCtr="0">
            <a:noAutofit/>
          </a:bodyPr>
          <a:lstStyle>
            <a:lvl1pPr lvl="0" algn="r" rtl="0">
              <a:lnSpc>
                <a:spcPct val="100000"/>
              </a:lnSpc>
              <a:spcBef>
                <a:spcPts val="600"/>
              </a:spcBef>
              <a:spcAft>
                <a:spcPts val="0"/>
              </a:spcAft>
              <a:buClr>
                <a:srgbClr val="888888"/>
              </a:buClr>
              <a:buSzPts val="4300"/>
              <a:buNone/>
              <a:defRPr sz="3700">
                <a:solidFill>
                  <a:schemeClr val="lt1"/>
                </a:solidFill>
                <a:latin typeface="Helvetica Neue"/>
                <a:ea typeface="Helvetica Neue"/>
                <a:cs typeface="Helvetica Neue"/>
                <a:sym typeface="Helvetica Neue"/>
              </a:defRPr>
            </a:lvl1pPr>
            <a:lvl2pPr lvl="1" algn="ctr" rtl="0">
              <a:lnSpc>
                <a:spcPct val="100000"/>
              </a:lnSpc>
              <a:spcBef>
                <a:spcPts val="600"/>
              </a:spcBef>
              <a:spcAft>
                <a:spcPts val="0"/>
              </a:spcAft>
              <a:buClr>
                <a:srgbClr val="888888"/>
              </a:buClr>
              <a:buSzPts val="3700"/>
              <a:buNone/>
              <a:defRPr>
                <a:solidFill>
                  <a:srgbClr val="888888"/>
                </a:solidFill>
              </a:defRPr>
            </a:lvl2pPr>
            <a:lvl3pPr lvl="2" algn="ctr" rtl="0">
              <a:lnSpc>
                <a:spcPct val="100000"/>
              </a:lnSpc>
              <a:spcBef>
                <a:spcPts val="500"/>
              </a:spcBef>
              <a:spcAft>
                <a:spcPts val="0"/>
              </a:spcAft>
              <a:buClr>
                <a:srgbClr val="888888"/>
              </a:buClr>
              <a:buSzPts val="3200"/>
              <a:buNone/>
              <a:defRPr>
                <a:solidFill>
                  <a:srgbClr val="888888"/>
                </a:solidFill>
              </a:defRPr>
            </a:lvl3pPr>
            <a:lvl4pPr lvl="3" algn="ctr" rtl="0">
              <a:lnSpc>
                <a:spcPct val="100000"/>
              </a:lnSpc>
              <a:spcBef>
                <a:spcPts val="400"/>
              </a:spcBef>
              <a:spcAft>
                <a:spcPts val="0"/>
              </a:spcAft>
              <a:buClr>
                <a:srgbClr val="888888"/>
              </a:buClr>
              <a:buSzPts val="2700"/>
              <a:buNone/>
              <a:defRPr>
                <a:solidFill>
                  <a:srgbClr val="888888"/>
                </a:solidFill>
              </a:defRPr>
            </a:lvl4pPr>
            <a:lvl5pPr lvl="4" algn="ctr" rtl="0">
              <a:lnSpc>
                <a:spcPct val="100000"/>
              </a:lnSpc>
              <a:spcBef>
                <a:spcPts val="400"/>
              </a:spcBef>
              <a:spcAft>
                <a:spcPts val="0"/>
              </a:spcAft>
              <a:buClr>
                <a:srgbClr val="888888"/>
              </a:buClr>
              <a:buSzPts val="2700"/>
              <a:buNone/>
              <a:defRPr>
                <a:solidFill>
                  <a:srgbClr val="888888"/>
                </a:solidFill>
              </a:defRPr>
            </a:lvl5pPr>
            <a:lvl6pPr lvl="5" algn="ctr" rtl="0">
              <a:lnSpc>
                <a:spcPct val="100000"/>
              </a:lnSpc>
              <a:spcBef>
                <a:spcPts val="400"/>
              </a:spcBef>
              <a:spcAft>
                <a:spcPts val="0"/>
              </a:spcAft>
              <a:buClr>
                <a:srgbClr val="888888"/>
              </a:buClr>
              <a:buSzPts val="2700"/>
              <a:buNone/>
              <a:defRPr>
                <a:solidFill>
                  <a:srgbClr val="888888"/>
                </a:solidFill>
              </a:defRPr>
            </a:lvl6pPr>
            <a:lvl7pPr lvl="6" algn="ctr" rtl="0">
              <a:lnSpc>
                <a:spcPct val="100000"/>
              </a:lnSpc>
              <a:spcBef>
                <a:spcPts val="400"/>
              </a:spcBef>
              <a:spcAft>
                <a:spcPts val="0"/>
              </a:spcAft>
              <a:buClr>
                <a:srgbClr val="888888"/>
              </a:buClr>
              <a:buSzPts val="2700"/>
              <a:buNone/>
              <a:defRPr>
                <a:solidFill>
                  <a:srgbClr val="888888"/>
                </a:solidFill>
              </a:defRPr>
            </a:lvl7pPr>
            <a:lvl8pPr lvl="7" algn="ctr" rtl="0">
              <a:lnSpc>
                <a:spcPct val="100000"/>
              </a:lnSpc>
              <a:spcBef>
                <a:spcPts val="400"/>
              </a:spcBef>
              <a:spcAft>
                <a:spcPts val="0"/>
              </a:spcAft>
              <a:buClr>
                <a:srgbClr val="888888"/>
              </a:buClr>
              <a:buSzPts val="2700"/>
              <a:buNone/>
              <a:defRPr>
                <a:solidFill>
                  <a:srgbClr val="888888"/>
                </a:solidFill>
              </a:defRPr>
            </a:lvl8pPr>
            <a:lvl9pPr lvl="8" algn="ctr" rtl="0">
              <a:lnSpc>
                <a:spcPct val="100000"/>
              </a:lnSpc>
              <a:spcBef>
                <a:spcPts val="400"/>
              </a:spcBef>
              <a:spcAft>
                <a:spcPts val="0"/>
              </a:spcAft>
              <a:buClr>
                <a:srgbClr val="888888"/>
              </a:buClr>
              <a:buSzPts val="2700"/>
              <a:buNone/>
              <a:defRPr>
                <a:solidFill>
                  <a:srgbClr val="888888"/>
                </a:solidFill>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8"/>
        <p:cNvGrpSpPr/>
        <p:nvPr/>
      </p:nvGrpSpPr>
      <p:grpSpPr>
        <a:xfrm>
          <a:off x="0" y="0"/>
          <a:ext cx="0" cy="0"/>
          <a:chOff x="0" y="0"/>
          <a:chExt cx="0" cy="0"/>
        </a:xfrm>
      </p:grpSpPr>
      <p:sp>
        <p:nvSpPr>
          <p:cNvPr id="29" name="Google Shape;29;g2573c09e3ea_0_101"/>
          <p:cNvSpPr txBox="1">
            <a:spLocks noGrp="1"/>
          </p:cNvSpPr>
          <p:nvPr>
            <p:ph type="title"/>
          </p:nvPr>
        </p:nvSpPr>
        <p:spPr>
          <a:xfrm>
            <a:off x="1393373" y="130408"/>
            <a:ext cx="10579500" cy="1143300"/>
          </a:xfrm>
          <a:prstGeom prst="rect">
            <a:avLst/>
          </a:prstGeom>
          <a:noFill/>
          <a:ln>
            <a:noFill/>
          </a:ln>
        </p:spPr>
        <p:txBody>
          <a:bodyPr spcFirstLastPara="1" wrap="square" lIns="121900" tIns="60925" rIns="121900" bIns="60925" anchor="ctr" anchorCtr="0">
            <a:noAutofit/>
          </a:bodyPr>
          <a:lstStyle>
            <a:lvl1pPr lvl="0" algn="l" rtl="0">
              <a:lnSpc>
                <a:spcPct val="100000"/>
              </a:lnSpc>
              <a:spcBef>
                <a:spcPts val="0"/>
              </a:spcBef>
              <a:spcAft>
                <a:spcPts val="0"/>
              </a:spcAft>
              <a:buSzPts val="5900"/>
              <a:buNone/>
              <a:defRPr sz="5300">
                <a:latin typeface="Helvetica Neue"/>
                <a:ea typeface="Helvetica Neue"/>
                <a:cs typeface="Helvetica Neue"/>
                <a:sym typeface="Helvetica Neue"/>
              </a:defRPr>
            </a:lvl1pPr>
            <a:lvl2pPr lvl="1" algn="l" rtl="0">
              <a:lnSpc>
                <a:spcPct val="100000"/>
              </a:lnSpc>
              <a:spcBef>
                <a:spcPts val="0"/>
              </a:spcBef>
              <a:spcAft>
                <a:spcPts val="0"/>
              </a:spcAft>
              <a:buSzPts val="1900"/>
              <a:buNone/>
              <a:defRPr/>
            </a:lvl2pPr>
            <a:lvl3pPr lvl="2" algn="l" rtl="0">
              <a:lnSpc>
                <a:spcPct val="100000"/>
              </a:lnSpc>
              <a:spcBef>
                <a:spcPts val="0"/>
              </a:spcBef>
              <a:spcAft>
                <a:spcPts val="0"/>
              </a:spcAft>
              <a:buSzPts val="1900"/>
              <a:buNone/>
              <a:defRPr/>
            </a:lvl3pPr>
            <a:lvl4pPr lvl="3" algn="l" rtl="0">
              <a:lnSpc>
                <a:spcPct val="100000"/>
              </a:lnSpc>
              <a:spcBef>
                <a:spcPts val="0"/>
              </a:spcBef>
              <a:spcAft>
                <a:spcPts val="0"/>
              </a:spcAft>
              <a:buSzPts val="1900"/>
              <a:buNone/>
              <a:defRPr/>
            </a:lvl4pPr>
            <a:lvl5pPr lvl="4" algn="l" rtl="0">
              <a:lnSpc>
                <a:spcPct val="100000"/>
              </a:lnSpc>
              <a:spcBef>
                <a:spcPts val="0"/>
              </a:spcBef>
              <a:spcAft>
                <a:spcPts val="0"/>
              </a:spcAft>
              <a:buSzPts val="1900"/>
              <a:buNone/>
              <a:defRPr/>
            </a:lvl5pPr>
            <a:lvl6pPr lvl="5" algn="l" rtl="0">
              <a:lnSpc>
                <a:spcPct val="100000"/>
              </a:lnSpc>
              <a:spcBef>
                <a:spcPts val="0"/>
              </a:spcBef>
              <a:spcAft>
                <a:spcPts val="0"/>
              </a:spcAft>
              <a:buSzPts val="1900"/>
              <a:buNone/>
              <a:defRPr/>
            </a:lvl6pPr>
            <a:lvl7pPr lvl="6" algn="l" rtl="0">
              <a:lnSpc>
                <a:spcPct val="100000"/>
              </a:lnSpc>
              <a:spcBef>
                <a:spcPts val="0"/>
              </a:spcBef>
              <a:spcAft>
                <a:spcPts val="0"/>
              </a:spcAft>
              <a:buSzPts val="1900"/>
              <a:buNone/>
              <a:defRPr/>
            </a:lvl7pPr>
            <a:lvl8pPr lvl="7" algn="l" rtl="0">
              <a:lnSpc>
                <a:spcPct val="100000"/>
              </a:lnSpc>
              <a:spcBef>
                <a:spcPts val="0"/>
              </a:spcBef>
              <a:spcAft>
                <a:spcPts val="0"/>
              </a:spcAft>
              <a:buSzPts val="1900"/>
              <a:buNone/>
              <a:defRPr/>
            </a:lvl8pPr>
            <a:lvl9pPr lvl="8" algn="l" rtl="0">
              <a:lnSpc>
                <a:spcPct val="100000"/>
              </a:lnSpc>
              <a:spcBef>
                <a:spcPts val="0"/>
              </a:spcBef>
              <a:spcAft>
                <a:spcPts val="0"/>
              </a:spcAft>
              <a:buSzPts val="19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0"/>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mparison">
  <p:cSld name="Comparison with sub title">
    <p:spTree>
      <p:nvGrpSpPr>
        <p:cNvPr id="1" name="Shape 31"/>
        <p:cNvGrpSpPr/>
        <p:nvPr/>
      </p:nvGrpSpPr>
      <p:grpSpPr>
        <a:xfrm>
          <a:off x="0" y="0"/>
          <a:ext cx="0" cy="0"/>
          <a:chOff x="0" y="0"/>
          <a:chExt cx="0" cy="0"/>
        </a:xfrm>
      </p:grpSpPr>
      <p:sp>
        <p:nvSpPr>
          <p:cNvPr id="32" name="Google Shape;32;g2573c09e3ea_0_104"/>
          <p:cNvSpPr txBox="1">
            <a:spLocks noGrp="1"/>
          </p:cNvSpPr>
          <p:nvPr>
            <p:ph type="body" idx="1"/>
          </p:nvPr>
        </p:nvSpPr>
        <p:spPr>
          <a:xfrm>
            <a:off x="609600" y="1593173"/>
            <a:ext cx="5386800" cy="639600"/>
          </a:xfrm>
          <a:prstGeom prst="rect">
            <a:avLst/>
          </a:prstGeom>
          <a:noFill/>
          <a:ln>
            <a:noFill/>
          </a:ln>
        </p:spPr>
        <p:txBody>
          <a:bodyPr spcFirstLastPara="1" wrap="square" lIns="121900" tIns="60925" rIns="121900" bIns="60925" anchor="b" anchorCtr="0">
            <a:noAutofit/>
          </a:bodyPr>
          <a:lstStyle>
            <a:lvl1pPr marL="457200" lvl="0" indent="-228600" algn="l" rtl="0">
              <a:lnSpc>
                <a:spcPct val="100000"/>
              </a:lnSpc>
              <a:spcBef>
                <a:spcPts val="500"/>
              </a:spcBef>
              <a:spcAft>
                <a:spcPts val="0"/>
              </a:spcAft>
              <a:buClr>
                <a:schemeClr val="dk1"/>
              </a:buClr>
              <a:buSzPts val="3200"/>
              <a:buNone/>
              <a:defRPr sz="2400" b="1">
                <a:latin typeface="Helvetica Neue"/>
                <a:ea typeface="Helvetica Neue"/>
                <a:cs typeface="Helvetica Neue"/>
                <a:sym typeface="Helvetica Neue"/>
              </a:defRPr>
            </a:lvl1pPr>
            <a:lvl2pPr marL="914400" lvl="1" indent="-228600" algn="l" rtl="0">
              <a:lnSpc>
                <a:spcPct val="100000"/>
              </a:lnSpc>
              <a:spcBef>
                <a:spcPts val="400"/>
              </a:spcBef>
              <a:spcAft>
                <a:spcPts val="0"/>
              </a:spcAft>
              <a:buClr>
                <a:schemeClr val="dk1"/>
              </a:buClr>
              <a:buSzPts val="2700"/>
              <a:buNone/>
              <a:defRPr sz="2000" b="1"/>
            </a:lvl2pPr>
            <a:lvl3pPr marL="1371600" lvl="2" indent="-228600" algn="l" rtl="0">
              <a:lnSpc>
                <a:spcPct val="100000"/>
              </a:lnSpc>
              <a:spcBef>
                <a:spcPts val="400"/>
              </a:spcBef>
              <a:spcAft>
                <a:spcPts val="0"/>
              </a:spcAft>
              <a:buClr>
                <a:schemeClr val="dk1"/>
              </a:buClr>
              <a:buSzPts val="2400"/>
              <a:buNone/>
              <a:defRPr sz="1800" b="1"/>
            </a:lvl3pPr>
            <a:lvl4pPr marL="1828800" lvl="3" indent="-228600" algn="l" rtl="0">
              <a:lnSpc>
                <a:spcPct val="100000"/>
              </a:lnSpc>
              <a:spcBef>
                <a:spcPts val="300"/>
              </a:spcBef>
              <a:spcAft>
                <a:spcPts val="0"/>
              </a:spcAft>
              <a:buClr>
                <a:schemeClr val="dk1"/>
              </a:buClr>
              <a:buSzPts val="2100"/>
              <a:buNone/>
              <a:defRPr sz="1600" b="1"/>
            </a:lvl4pPr>
            <a:lvl5pPr marL="2286000" lvl="4" indent="-228600" algn="l" rtl="0">
              <a:lnSpc>
                <a:spcPct val="100000"/>
              </a:lnSpc>
              <a:spcBef>
                <a:spcPts val="300"/>
              </a:spcBef>
              <a:spcAft>
                <a:spcPts val="0"/>
              </a:spcAft>
              <a:buClr>
                <a:schemeClr val="dk1"/>
              </a:buClr>
              <a:buSzPts val="2100"/>
              <a:buNone/>
              <a:defRPr sz="1600" b="1"/>
            </a:lvl5pPr>
            <a:lvl6pPr marL="2743200" lvl="5" indent="-228600" algn="l" rtl="0">
              <a:lnSpc>
                <a:spcPct val="100000"/>
              </a:lnSpc>
              <a:spcBef>
                <a:spcPts val="300"/>
              </a:spcBef>
              <a:spcAft>
                <a:spcPts val="0"/>
              </a:spcAft>
              <a:buClr>
                <a:schemeClr val="dk1"/>
              </a:buClr>
              <a:buSzPts val="2100"/>
              <a:buNone/>
              <a:defRPr sz="1600" b="1"/>
            </a:lvl6pPr>
            <a:lvl7pPr marL="3200400" lvl="6" indent="-228600" algn="l" rtl="0">
              <a:lnSpc>
                <a:spcPct val="100000"/>
              </a:lnSpc>
              <a:spcBef>
                <a:spcPts val="300"/>
              </a:spcBef>
              <a:spcAft>
                <a:spcPts val="0"/>
              </a:spcAft>
              <a:buClr>
                <a:schemeClr val="dk1"/>
              </a:buClr>
              <a:buSzPts val="2100"/>
              <a:buNone/>
              <a:defRPr sz="1600" b="1"/>
            </a:lvl7pPr>
            <a:lvl8pPr marL="3657600" lvl="7" indent="-228600" algn="l" rtl="0">
              <a:lnSpc>
                <a:spcPct val="100000"/>
              </a:lnSpc>
              <a:spcBef>
                <a:spcPts val="300"/>
              </a:spcBef>
              <a:spcAft>
                <a:spcPts val="0"/>
              </a:spcAft>
              <a:buClr>
                <a:schemeClr val="dk1"/>
              </a:buClr>
              <a:buSzPts val="2100"/>
              <a:buNone/>
              <a:defRPr sz="1600" b="1"/>
            </a:lvl8pPr>
            <a:lvl9pPr marL="4114800" lvl="8" indent="-228600" algn="l" rtl="0">
              <a:lnSpc>
                <a:spcPct val="100000"/>
              </a:lnSpc>
              <a:spcBef>
                <a:spcPts val="300"/>
              </a:spcBef>
              <a:spcAft>
                <a:spcPts val="0"/>
              </a:spcAft>
              <a:buClr>
                <a:schemeClr val="dk1"/>
              </a:buClr>
              <a:buSzPts val="2100"/>
              <a:buNone/>
              <a:defRPr sz="1600" b="1"/>
            </a:lvl9pPr>
          </a:lstStyle>
          <a:p>
            <a:endParaRPr/>
          </a:p>
        </p:txBody>
      </p:sp>
      <p:sp>
        <p:nvSpPr>
          <p:cNvPr id="33" name="Google Shape;33;g2573c09e3ea_0_104"/>
          <p:cNvSpPr txBox="1">
            <a:spLocks noGrp="1"/>
          </p:cNvSpPr>
          <p:nvPr>
            <p:ph type="body" idx="2"/>
          </p:nvPr>
        </p:nvSpPr>
        <p:spPr>
          <a:xfrm>
            <a:off x="6193371" y="1593173"/>
            <a:ext cx="5389200" cy="639600"/>
          </a:xfrm>
          <a:prstGeom prst="rect">
            <a:avLst/>
          </a:prstGeom>
          <a:noFill/>
          <a:ln>
            <a:noFill/>
          </a:ln>
        </p:spPr>
        <p:txBody>
          <a:bodyPr spcFirstLastPara="1" wrap="square" lIns="121900" tIns="60925" rIns="121900" bIns="60925" anchor="b" anchorCtr="0">
            <a:noAutofit/>
          </a:bodyPr>
          <a:lstStyle>
            <a:lvl1pPr marL="457200" lvl="0" indent="-228600" algn="l" rtl="0">
              <a:lnSpc>
                <a:spcPct val="100000"/>
              </a:lnSpc>
              <a:spcBef>
                <a:spcPts val="500"/>
              </a:spcBef>
              <a:spcAft>
                <a:spcPts val="0"/>
              </a:spcAft>
              <a:buClr>
                <a:schemeClr val="dk1"/>
              </a:buClr>
              <a:buSzPts val="3200"/>
              <a:buNone/>
              <a:defRPr sz="2400" b="1">
                <a:latin typeface="Helvetica Neue"/>
                <a:ea typeface="Helvetica Neue"/>
                <a:cs typeface="Helvetica Neue"/>
                <a:sym typeface="Helvetica Neue"/>
              </a:defRPr>
            </a:lvl1pPr>
            <a:lvl2pPr marL="914400" lvl="1" indent="-228600" algn="l" rtl="0">
              <a:lnSpc>
                <a:spcPct val="100000"/>
              </a:lnSpc>
              <a:spcBef>
                <a:spcPts val="400"/>
              </a:spcBef>
              <a:spcAft>
                <a:spcPts val="0"/>
              </a:spcAft>
              <a:buClr>
                <a:schemeClr val="dk1"/>
              </a:buClr>
              <a:buSzPts val="2700"/>
              <a:buNone/>
              <a:defRPr sz="2000" b="1"/>
            </a:lvl2pPr>
            <a:lvl3pPr marL="1371600" lvl="2" indent="-228600" algn="l" rtl="0">
              <a:lnSpc>
                <a:spcPct val="100000"/>
              </a:lnSpc>
              <a:spcBef>
                <a:spcPts val="400"/>
              </a:spcBef>
              <a:spcAft>
                <a:spcPts val="0"/>
              </a:spcAft>
              <a:buClr>
                <a:schemeClr val="dk1"/>
              </a:buClr>
              <a:buSzPts val="2400"/>
              <a:buNone/>
              <a:defRPr sz="1800" b="1"/>
            </a:lvl3pPr>
            <a:lvl4pPr marL="1828800" lvl="3" indent="-228600" algn="l" rtl="0">
              <a:lnSpc>
                <a:spcPct val="100000"/>
              </a:lnSpc>
              <a:spcBef>
                <a:spcPts val="300"/>
              </a:spcBef>
              <a:spcAft>
                <a:spcPts val="0"/>
              </a:spcAft>
              <a:buClr>
                <a:schemeClr val="dk1"/>
              </a:buClr>
              <a:buSzPts val="2100"/>
              <a:buNone/>
              <a:defRPr sz="1600" b="1"/>
            </a:lvl4pPr>
            <a:lvl5pPr marL="2286000" lvl="4" indent="-228600" algn="l" rtl="0">
              <a:lnSpc>
                <a:spcPct val="100000"/>
              </a:lnSpc>
              <a:spcBef>
                <a:spcPts val="300"/>
              </a:spcBef>
              <a:spcAft>
                <a:spcPts val="0"/>
              </a:spcAft>
              <a:buClr>
                <a:schemeClr val="dk1"/>
              </a:buClr>
              <a:buSzPts val="2100"/>
              <a:buNone/>
              <a:defRPr sz="1600" b="1"/>
            </a:lvl5pPr>
            <a:lvl6pPr marL="2743200" lvl="5" indent="-228600" algn="l" rtl="0">
              <a:lnSpc>
                <a:spcPct val="100000"/>
              </a:lnSpc>
              <a:spcBef>
                <a:spcPts val="300"/>
              </a:spcBef>
              <a:spcAft>
                <a:spcPts val="0"/>
              </a:spcAft>
              <a:buClr>
                <a:schemeClr val="dk1"/>
              </a:buClr>
              <a:buSzPts val="2100"/>
              <a:buNone/>
              <a:defRPr sz="1600" b="1"/>
            </a:lvl6pPr>
            <a:lvl7pPr marL="3200400" lvl="6" indent="-228600" algn="l" rtl="0">
              <a:lnSpc>
                <a:spcPct val="100000"/>
              </a:lnSpc>
              <a:spcBef>
                <a:spcPts val="300"/>
              </a:spcBef>
              <a:spcAft>
                <a:spcPts val="0"/>
              </a:spcAft>
              <a:buClr>
                <a:schemeClr val="dk1"/>
              </a:buClr>
              <a:buSzPts val="2100"/>
              <a:buNone/>
              <a:defRPr sz="1600" b="1"/>
            </a:lvl7pPr>
            <a:lvl8pPr marL="3657600" lvl="7" indent="-228600" algn="l" rtl="0">
              <a:lnSpc>
                <a:spcPct val="100000"/>
              </a:lnSpc>
              <a:spcBef>
                <a:spcPts val="300"/>
              </a:spcBef>
              <a:spcAft>
                <a:spcPts val="0"/>
              </a:spcAft>
              <a:buClr>
                <a:schemeClr val="dk1"/>
              </a:buClr>
              <a:buSzPts val="2100"/>
              <a:buNone/>
              <a:defRPr sz="1600" b="1"/>
            </a:lvl8pPr>
            <a:lvl9pPr marL="4114800" lvl="8" indent="-228600" algn="l" rtl="0">
              <a:lnSpc>
                <a:spcPct val="100000"/>
              </a:lnSpc>
              <a:spcBef>
                <a:spcPts val="300"/>
              </a:spcBef>
              <a:spcAft>
                <a:spcPts val="0"/>
              </a:spcAft>
              <a:buClr>
                <a:schemeClr val="dk1"/>
              </a:buClr>
              <a:buSzPts val="2100"/>
              <a:buNone/>
              <a:defRPr sz="1600" b="1"/>
            </a:lvl9pPr>
          </a:lstStyle>
          <a:p>
            <a:endParaRPr/>
          </a:p>
        </p:txBody>
      </p:sp>
      <p:sp>
        <p:nvSpPr>
          <p:cNvPr id="34" name="Google Shape;34;g2573c09e3ea_0_104"/>
          <p:cNvSpPr txBox="1">
            <a:spLocks noGrp="1"/>
          </p:cNvSpPr>
          <p:nvPr>
            <p:ph type="title"/>
          </p:nvPr>
        </p:nvSpPr>
        <p:spPr>
          <a:xfrm>
            <a:off x="1393373" y="130408"/>
            <a:ext cx="10579500" cy="1143300"/>
          </a:xfrm>
          <a:prstGeom prst="rect">
            <a:avLst/>
          </a:prstGeom>
          <a:noFill/>
          <a:ln>
            <a:noFill/>
          </a:ln>
        </p:spPr>
        <p:txBody>
          <a:bodyPr spcFirstLastPara="1" wrap="square" lIns="121900" tIns="60925" rIns="121900" bIns="60925" anchor="ctr" anchorCtr="0">
            <a:noAutofit/>
          </a:bodyPr>
          <a:lstStyle>
            <a:lvl1pPr marR="0" lvl="0" algn="l" rtl="0">
              <a:lnSpc>
                <a:spcPct val="100000"/>
              </a:lnSpc>
              <a:spcBef>
                <a:spcPts val="0"/>
              </a:spcBef>
              <a:spcAft>
                <a:spcPts val="0"/>
              </a:spcAft>
              <a:buClr>
                <a:schemeClr val="dk1"/>
              </a:buClr>
              <a:buSzPts val="5900"/>
              <a:buFont typeface="Arial"/>
              <a:buNone/>
              <a:defRPr sz="5300" b="0" i="0" u="none" strike="noStrike" cap="none">
                <a:solidFill>
                  <a:schemeClr val="dk1"/>
                </a:solidFill>
                <a:latin typeface="Helvetica Neue"/>
                <a:ea typeface="Helvetica Neue"/>
                <a:cs typeface="Helvetica Neue"/>
                <a:sym typeface="Helvetica Neue"/>
              </a:defRPr>
            </a:lvl1pPr>
            <a:lvl2pPr lvl="1" algn="l" rtl="0">
              <a:lnSpc>
                <a:spcPct val="100000"/>
              </a:lnSpc>
              <a:spcBef>
                <a:spcPts val="0"/>
              </a:spcBef>
              <a:spcAft>
                <a:spcPts val="0"/>
              </a:spcAft>
              <a:buSzPts val="1900"/>
              <a:buNone/>
              <a:defRPr sz="2400"/>
            </a:lvl2pPr>
            <a:lvl3pPr lvl="2" algn="l" rtl="0">
              <a:lnSpc>
                <a:spcPct val="100000"/>
              </a:lnSpc>
              <a:spcBef>
                <a:spcPts val="0"/>
              </a:spcBef>
              <a:spcAft>
                <a:spcPts val="0"/>
              </a:spcAft>
              <a:buSzPts val="1900"/>
              <a:buNone/>
              <a:defRPr sz="2400"/>
            </a:lvl3pPr>
            <a:lvl4pPr lvl="3" algn="l" rtl="0">
              <a:lnSpc>
                <a:spcPct val="100000"/>
              </a:lnSpc>
              <a:spcBef>
                <a:spcPts val="0"/>
              </a:spcBef>
              <a:spcAft>
                <a:spcPts val="0"/>
              </a:spcAft>
              <a:buSzPts val="1900"/>
              <a:buNone/>
              <a:defRPr sz="2400"/>
            </a:lvl4pPr>
            <a:lvl5pPr lvl="4" algn="l" rtl="0">
              <a:lnSpc>
                <a:spcPct val="100000"/>
              </a:lnSpc>
              <a:spcBef>
                <a:spcPts val="0"/>
              </a:spcBef>
              <a:spcAft>
                <a:spcPts val="0"/>
              </a:spcAft>
              <a:buSzPts val="1900"/>
              <a:buNone/>
              <a:defRPr sz="2400"/>
            </a:lvl5pPr>
            <a:lvl6pPr lvl="5" algn="l" rtl="0">
              <a:lnSpc>
                <a:spcPct val="100000"/>
              </a:lnSpc>
              <a:spcBef>
                <a:spcPts val="0"/>
              </a:spcBef>
              <a:spcAft>
                <a:spcPts val="0"/>
              </a:spcAft>
              <a:buSzPts val="1900"/>
              <a:buNone/>
              <a:defRPr sz="2400"/>
            </a:lvl6pPr>
            <a:lvl7pPr lvl="6" algn="l" rtl="0">
              <a:lnSpc>
                <a:spcPct val="100000"/>
              </a:lnSpc>
              <a:spcBef>
                <a:spcPts val="0"/>
              </a:spcBef>
              <a:spcAft>
                <a:spcPts val="0"/>
              </a:spcAft>
              <a:buSzPts val="1900"/>
              <a:buNone/>
              <a:defRPr sz="2400"/>
            </a:lvl7pPr>
            <a:lvl8pPr lvl="7" algn="l" rtl="0">
              <a:lnSpc>
                <a:spcPct val="100000"/>
              </a:lnSpc>
              <a:spcBef>
                <a:spcPts val="0"/>
              </a:spcBef>
              <a:spcAft>
                <a:spcPts val="0"/>
              </a:spcAft>
              <a:buSzPts val="1900"/>
              <a:buNone/>
              <a:defRPr sz="2400"/>
            </a:lvl8pPr>
            <a:lvl9pPr lvl="8" algn="l" rtl="0">
              <a:lnSpc>
                <a:spcPct val="100000"/>
              </a:lnSpc>
              <a:spcBef>
                <a:spcPts val="0"/>
              </a:spcBef>
              <a:spcAft>
                <a:spcPts val="0"/>
              </a:spcAft>
              <a:buSzPts val="1900"/>
              <a:buNone/>
              <a:defRPr sz="2400"/>
            </a:lvl9pPr>
          </a:lstStyle>
          <a:p>
            <a:endParaRPr/>
          </a:p>
        </p:txBody>
      </p:sp>
      <p:sp>
        <p:nvSpPr>
          <p:cNvPr id="35" name="Google Shape;35;g2573c09e3ea_0_104"/>
          <p:cNvSpPr txBox="1">
            <a:spLocks noGrp="1"/>
          </p:cNvSpPr>
          <p:nvPr>
            <p:ph type="body" idx="3"/>
          </p:nvPr>
        </p:nvSpPr>
        <p:spPr>
          <a:xfrm>
            <a:off x="609597" y="2232936"/>
            <a:ext cx="5386800" cy="4494900"/>
          </a:xfrm>
          <a:prstGeom prst="rect">
            <a:avLst/>
          </a:prstGeom>
          <a:noFill/>
          <a:ln>
            <a:noFill/>
          </a:ln>
        </p:spPr>
        <p:txBody>
          <a:bodyPr spcFirstLastPara="1" wrap="square" lIns="121900" tIns="60925" rIns="121900" bIns="60925" anchor="t" anchorCtr="0">
            <a:noAutofit/>
          </a:bodyPr>
          <a:lstStyle>
            <a:lvl1pPr marL="457200" lvl="0" indent="-501650" algn="l" rtl="0">
              <a:lnSpc>
                <a:spcPct val="100000"/>
              </a:lnSpc>
              <a:spcBef>
                <a:spcPts val="900"/>
              </a:spcBef>
              <a:spcAft>
                <a:spcPts val="0"/>
              </a:spcAft>
              <a:buSzPts val="4300"/>
              <a:buChar char="•"/>
              <a:defRPr sz="3200">
                <a:latin typeface="Helvetica Neue"/>
                <a:ea typeface="Helvetica Neue"/>
                <a:cs typeface="Helvetica Neue"/>
                <a:sym typeface="Helvetica Neue"/>
              </a:defRPr>
            </a:lvl1pPr>
            <a:lvl2pPr marL="914400" lvl="1" indent="-463550" algn="l" rtl="0">
              <a:lnSpc>
                <a:spcPct val="100000"/>
              </a:lnSpc>
              <a:spcBef>
                <a:spcPts val="700"/>
              </a:spcBef>
              <a:spcAft>
                <a:spcPts val="0"/>
              </a:spcAft>
              <a:buSzPts val="3700"/>
              <a:buChar char="–"/>
              <a:defRPr sz="2700">
                <a:latin typeface="Helvetica Neue"/>
                <a:ea typeface="Helvetica Neue"/>
                <a:cs typeface="Helvetica Neue"/>
                <a:sym typeface="Helvetica Neue"/>
              </a:defRPr>
            </a:lvl2pPr>
            <a:lvl3pPr marL="1371600" lvl="2" indent="-431800" algn="l" rtl="0">
              <a:lnSpc>
                <a:spcPct val="100000"/>
              </a:lnSpc>
              <a:spcBef>
                <a:spcPts val="600"/>
              </a:spcBef>
              <a:spcAft>
                <a:spcPts val="0"/>
              </a:spcAft>
              <a:buSzPts val="3200"/>
              <a:buChar char="•"/>
              <a:defRPr sz="2400">
                <a:latin typeface="Helvetica Neue"/>
                <a:ea typeface="Helvetica Neue"/>
                <a:cs typeface="Helvetica Neue"/>
                <a:sym typeface="Helvetica Neue"/>
              </a:defRPr>
            </a:lvl3pPr>
            <a:lvl4pPr marL="1828800" lvl="3" indent="-400050" algn="l" rtl="0">
              <a:lnSpc>
                <a:spcPct val="100000"/>
              </a:lnSpc>
              <a:spcBef>
                <a:spcPts val="500"/>
              </a:spcBef>
              <a:spcAft>
                <a:spcPts val="0"/>
              </a:spcAft>
              <a:buSzPts val="2700"/>
              <a:buChar char="–"/>
              <a:defRPr sz="2100">
                <a:latin typeface="Helvetica Neue"/>
                <a:ea typeface="Helvetica Neue"/>
                <a:cs typeface="Helvetica Neue"/>
                <a:sym typeface="Helvetica Neue"/>
              </a:defRPr>
            </a:lvl4pPr>
            <a:lvl5pPr marL="2286000" lvl="4" indent="-400050" algn="l" rtl="0">
              <a:lnSpc>
                <a:spcPct val="100000"/>
              </a:lnSpc>
              <a:spcBef>
                <a:spcPts val="500"/>
              </a:spcBef>
              <a:spcAft>
                <a:spcPts val="0"/>
              </a:spcAft>
              <a:buSzPts val="2700"/>
              <a:buChar char="»"/>
              <a:defRPr sz="1900">
                <a:latin typeface="Helvetica Neue"/>
                <a:ea typeface="Helvetica Neue"/>
                <a:cs typeface="Helvetica Neue"/>
                <a:sym typeface="Helvetica Neue"/>
              </a:defRPr>
            </a:lvl5pPr>
            <a:lvl6pPr marL="2743200" lvl="5" indent="-400050" algn="l" rtl="0">
              <a:lnSpc>
                <a:spcPct val="100000"/>
              </a:lnSpc>
              <a:spcBef>
                <a:spcPts val="500"/>
              </a:spcBef>
              <a:spcAft>
                <a:spcPts val="0"/>
              </a:spcAft>
              <a:buSzPts val="2700"/>
              <a:buChar char="•"/>
              <a:defRPr/>
            </a:lvl6pPr>
            <a:lvl7pPr marL="3200400" lvl="6" indent="-400050" algn="l" rtl="0">
              <a:lnSpc>
                <a:spcPct val="100000"/>
              </a:lnSpc>
              <a:spcBef>
                <a:spcPts val="500"/>
              </a:spcBef>
              <a:spcAft>
                <a:spcPts val="0"/>
              </a:spcAft>
              <a:buSzPts val="2700"/>
              <a:buChar char="•"/>
              <a:defRPr/>
            </a:lvl7pPr>
            <a:lvl8pPr marL="3657600" lvl="7" indent="-400050" algn="l" rtl="0">
              <a:lnSpc>
                <a:spcPct val="100000"/>
              </a:lnSpc>
              <a:spcBef>
                <a:spcPts val="500"/>
              </a:spcBef>
              <a:spcAft>
                <a:spcPts val="0"/>
              </a:spcAft>
              <a:buSzPts val="2700"/>
              <a:buChar char="•"/>
              <a:defRPr/>
            </a:lvl8pPr>
            <a:lvl9pPr marL="4114800" lvl="8" indent="-400050" algn="l" rtl="0">
              <a:lnSpc>
                <a:spcPct val="100000"/>
              </a:lnSpc>
              <a:spcBef>
                <a:spcPts val="500"/>
              </a:spcBef>
              <a:spcAft>
                <a:spcPts val="0"/>
              </a:spcAft>
              <a:buSzPts val="2700"/>
              <a:buChar char="•"/>
              <a:defRPr/>
            </a:lvl9pPr>
          </a:lstStyle>
          <a:p>
            <a:endParaRPr/>
          </a:p>
        </p:txBody>
      </p:sp>
      <p:sp>
        <p:nvSpPr>
          <p:cNvPr id="36" name="Google Shape;36;g2573c09e3ea_0_104"/>
          <p:cNvSpPr txBox="1">
            <a:spLocks noGrp="1"/>
          </p:cNvSpPr>
          <p:nvPr>
            <p:ph type="body" idx="4"/>
          </p:nvPr>
        </p:nvSpPr>
        <p:spPr>
          <a:xfrm>
            <a:off x="6203279" y="2242229"/>
            <a:ext cx="5386800" cy="4494900"/>
          </a:xfrm>
          <a:prstGeom prst="rect">
            <a:avLst/>
          </a:prstGeom>
          <a:noFill/>
          <a:ln>
            <a:noFill/>
          </a:ln>
        </p:spPr>
        <p:txBody>
          <a:bodyPr spcFirstLastPara="1" wrap="square" lIns="121900" tIns="60925" rIns="121900" bIns="60925" anchor="t" anchorCtr="0">
            <a:noAutofit/>
          </a:bodyPr>
          <a:lstStyle>
            <a:lvl1pPr marL="457200" lvl="0" indent="-501650" algn="l" rtl="0">
              <a:lnSpc>
                <a:spcPct val="100000"/>
              </a:lnSpc>
              <a:spcBef>
                <a:spcPts val="900"/>
              </a:spcBef>
              <a:spcAft>
                <a:spcPts val="0"/>
              </a:spcAft>
              <a:buSzPts val="4300"/>
              <a:buChar char="•"/>
              <a:defRPr sz="3200">
                <a:latin typeface="Helvetica Neue"/>
                <a:ea typeface="Helvetica Neue"/>
                <a:cs typeface="Helvetica Neue"/>
                <a:sym typeface="Helvetica Neue"/>
              </a:defRPr>
            </a:lvl1pPr>
            <a:lvl2pPr marL="914400" lvl="1" indent="-463550" algn="l" rtl="0">
              <a:lnSpc>
                <a:spcPct val="100000"/>
              </a:lnSpc>
              <a:spcBef>
                <a:spcPts val="700"/>
              </a:spcBef>
              <a:spcAft>
                <a:spcPts val="0"/>
              </a:spcAft>
              <a:buSzPts val="3700"/>
              <a:buChar char="–"/>
              <a:defRPr sz="2700">
                <a:latin typeface="Helvetica Neue"/>
                <a:ea typeface="Helvetica Neue"/>
                <a:cs typeface="Helvetica Neue"/>
                <a:sym typeface="Helvetica Neue"/>
              </a:defRPr>
            </a:lvl2pPr>
            <a:lvl3pPr marL="1371600" lvl="2" indent="-431800" algn="l" rtl="0">
              <a:lnSpc>
                <a:spcPct val="100000"/>
              </a:lnSpc>
              <a:spcBef>
                <a:spcPts val="600"/>
              </a:spcBef>
              <a:spcAft>
                <a:spcPts val="0"/>
              </a:spcAft>
              <a:buSzPts val="3200"/>
              <a:buChar char="•"/>
              <a:defRPr sz="2400">
                <a:latin typeface="Helvetica Neue"/>
                <a:ea typeface="Helvetica Neue"/>
                <a:cs typeface="Helvetica Neue"/>
                <a:sym typeface="Helvetica Neue"/>
              </a:defRPr>
            </a:lvl3pPr>
            <a:lvl4pPr marL="1828800" lvl="3" indent="-400050" algn="l" rtl="0">
              <a:lnSpc>
                <a:spcPct val="100000"/>
              </a:lnSpc>
              <a:spcBef>
                <a:spcPts val="500"/>
              </a:spcBef>
              <a:spcAft>
                <a:spcPts val="0"/>
              </a:spcAft>
              <a:buSzPts val="2700"/>
              <a:buChar char="–"/>
              <a:defRPr sz="2100">
                <a:latin typeface="Helvetica Neue"/>
                <a:ea typeface="Helvetica Neue"/>
                <a:cs typeface="Helvetica Neue"/>
                <a:sym typeface="Helvetica Neue"/>
              </a:defRPr>
            </a:lvl4pPr>
            <a:lvl5pPr marL="2286000" lvl="4" indent="-400050" algn="l" rtl="0">
              <a:lnSpc>
                <a:spcPct val="100000"/>
              </a:lnSpc>
              <a:spcBef>
                <a:spcPts val="500"/>
              </a:spcBef>
              <a:spcAft>
                <a:spcPts val="0"/>
              </a:spcAft>
              <a:buSzPts val="2700"/>
              <a:buChar char="»"/>
              <a:defRPr sz="1900">
                <a:latin typeface="Helvetica Neue"/>
                <a:ea typeface="Helvetica Neue"/>
                <a:cs typeface="Helvetica Neue"/>
                <a:sym typeface="Helvetica Neue"/>
              </a:defRPr>
            </a:lvl5pPr>
            <a:lvl6pPr marL="2743200" lvl="5" indent="-400050" algn="l" rtl="0">
              <a:lnSpc>
                <a:spcPct val="100000"/>
              </a:lnSpc>
              <a:spcBef>
                <a:spcPts val="500"/>
              </a:spcBef>
              <a:spcAft>
                <a:spcPts val="0"/>
              </a:spcAft>
              <a:buSzPts val="2700"/>
              <a:buChar char="•"/>
              <a:defRPr/>
            </a:lvl6pPr>
            <a:lvl7pPr marL="3200400" lvl="6" indent="-400050" algn="l" rtl="0">
              <a:lnSpc>
                <a:spcPct val="100000"/>
              </a:lnSpc>
              <a:spcBef>
                <a:spcPts val="500"/>
              </a:spcBef>
              <a:spcAft>
                <a:spcPts val="0"/>
              </a:spcAft>
              <a:buSzPts val="2700"/>
              <a:buChar char="•"/>
              <a:defRPr/>
            </a:lvl7pPr>
            <a:lvl8pPr marL="3657600" lvl="7" indent="-400050" algn="l" rtl="0">
              <a:lnSpc>
                <a:spcPct val="100000"/>
              </a:lnSpc>
              <a:spcBef>
                <a:spcPts val="500"/>
              </a:spcBef>
              <a:spcAft>
                <a:spcPts val="0"/>
              </a:spcAft>
              <a:buSzPts val="2700"/>
              <a:buChar char="•"/>
              <a:defRPr/>
            </a:lvl8pPr>
            <a:lvl9pPr marL="4114800" lvl="8" indent="-400050" algn="l" rtl="0">
              <a:lnSpc>
                <a:spcPct val="100000"/>
              </a:lnSpc>
              <a:spcBef>
                <a:spcPts val="500"/>
              </a:spcBef>
              <a:spcAft>
                <a:spcPts val="0"/>
              </a:spcAft>
              <a:buSzPts val="27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7"/>
        <p:cNvGrpSpPr/>
        <p:nvPr/>
      </p:nvGrpSpPr>
      <p:grpSpPr>
        <a:xfrm>
          <a:off x="0" y="0"/>
          <a:ext cx="0" cy="0"/>
          <a:chOff x="0" y="0"/>
          <a:chExt cx="0" cy="0"/>
        </a:xfrm>
      </p:grpSpPr>
      <p:sp>
        <p:nvSpPr>
          <p:cNvPr id="38" name="Google Shape;38;g2573c09e3ea_0_110"/>
          <p:cNvSpPr txBox="1">
            <a:spLocks noGrp="1"/>
          </p:cNvSpPr>
          <p:nvPr>
            <p:ph type="title"/>
          </p:nvPr>
        </p:nvSpPr>
        <p:spPr>
          <a:xfrm>
            <a:off x="174172" y="1593777"/>
            <a:ext cx="4446300" cy="1161900"/>
          </a:xfrm>
          <a:prstGeom prst="rect">
            <a:avLst/>
          </a:prstGeom>
          <a:noFill/>
          <a:ln>
            <a:noFill/>
          </a:ln>
        </p:spPr>
        <p:txBody>
          <a:bodyPr spcFirstLastPara="1" wrap="square" lIns="121900" tIns="60925" rIns="121900" bIns="60925" anchor="b" anchorCtr="0">
            <a:noAutofit/>
          </a:bodyPr>
          <a:lstStyle>
            <a:lvl1pPr lvl="0" algn="l" rtl="0">
              <a:lnSpc>
                <a:spcPct val="100000"/>
              </a:lnSpc>
              <a:spcBef>
                <a:spcPts val="0"/>
              </a:spcBef>
              <a:spcAft>
                <a:spcPts val="0"/>
              </a:spcAft>
              <a:buClr>
                <a:schemeClr val="dk1"/>
              </a:buClr>
              <a:buSzPts val="2700"/>
              <a:buFont typeface="Arial"/>
              <a:buNone/>
              <a:defRPr sz="2000" b="1">
                <a:latin typeface="Helvetica Neue"/>
                <a:ea typeface="Helvetica Neue"/>
                <a:cs typeface="Helvetica Neue"/>
                <a:sym typeface="Helvetica Neue"/>
              </a:defRPr>
            </a:lvl1pPr>
            <a:lvl2pPr lvl="1" algn="l" rtl="0">
              <a:lnSpc>
                <a:spcPct val="100000"/>
              </a:lnSpc>
              <a:spcBef>
                <a:spcPts val="0"/>
              </a:spcBef>
              <a:spcAft>
                <a:spcPts val="0"/>
              </a:spcAft>
              <a:buSzPts val="1900"/>
              <a:buNone/>
              <a:defRPr/>
            </a:lvl2pPr>
            <a:lvl3pPr lvl="2" algn="l" rtl="0">
              <a:lnSpc>
                <a:spcPct val="100000"/>
              </a:lnSpc>
              <a:spcBef>
                <a:spcPts val="0"/>
              </a:spcBef>
              <a:spcAft>
                <a:spcPts val="0"/>
              </a:spcAft>
              <a:buSzPts val="1900"/>
              <a:buNone/>
              <a:defRPr/>
            </a:lvl3pPr>
            <a:lvl4pPr lvl="3" algn="l" rtl="0">
              <a:lnSpc>
                <a:spcPct val="100000"/>
              </a:lnSpc>
              <a:spcBef>
                <a:spcPts val="0"/>
              </a:spcBef>
              <a:spcAft>
                <a:spcPts val="0"/>
              </a:spcAft>
              <a:buSzPts val="1900"/>
              <a:buNone/>
              <a:defRPr/>
            </a:lvl4pPr>
            <a:lvl5pPr lvl="4" algn="l" rtl="0">
              <a:lnSpc>
                <a:spcPct val="100000"/>
              </a:lnSpc>
              <a:spcBef>
                <a:spcPts val="0"/>
              </a:spcBef>
              <a:spcAft>
                <a:spcPts val="0"/>
              </a:spcAft>
              <a:buSzPts val="1900"/>
              <a:buNone/>
              <a:defRPr/>
            </a:lvl5pPr>
            <a:lvl6pPr lvl="5" algn="l" rtl="0">
              <a:lnSpc>
                <a:spcPct val="100000"/>
              </a:lnSpc>
              <a:spcBef>
                <a:spcPts val="0"/>
              </a:spcBef>
              <a:spcAft>
                <a:spcPts val="0"/>
              </a:spcAft>
              <a:buSzPts val="1900"/>
              <a:buNone/>
              <a:defRPr/>
            </a:lvl6pPr>
            <a:lvl7pPr lvl="6" algn="l" rtl="0">
              <a:lnSpc>
                <a:spcPct val="100000"/>
              </a:lnSpc>
              <a:spcBef>
                <a:spcPts val="0"/>
              </a:spcBef>
              <a:spcAft>
                <a:spcPts val="0"/>
              </a:spcAft>
              <a:buSzPts val="1900"/>
              <a:buNone/>
              <a:defRPr/>
            </a:lvl7pPr>
            <a:lvl8pPr lvl="7" algn="l" rtl="0">
              <a:lnSpc>
                <a:spcPct val="100000"/>
              </a:lnSpc>
              <a:spcBef>
                <a:spcPts val="0"/>
              </a:spcBef>
              <a:spcAft>
                <a:spcPts val="0"/>
              </a:spcAft>
              <a:buSzPts val="1900"/>
              <a:buNone/>
              <a:defRPr/>
            </a:lvl8pPr>
            <a:lvl9pPr lvl="8" algn="l" rtl="0">
              <a:lnSpc>
                <a:spcPct val="100000"/>
              </a:lnSpc>
              <a:spcBef>
                <a:spcPts val="0"/>
              </a:spcBef>
              <a:spcAft>
                <a:spcPts val="0"/>
              </a:spcAft>
              <a:buSzPts val="1900"/>
              <a:buNone/>
              <a:defRPr/>
            </a:lvl9pPr>
          </a:lstStyle>
          <a:p>
            <a:endParaRPr/>
          </a:p>
        </p:txBody>
      </p:sp>
      <p:sp>
        <p:nvSpPr>
          <p:cNvPr id="39" name="Google Shape;39;g2573c09e3ea_0_110"/>
          <p:cNvSpPr txBox="1">
            <a:spLocks noGrp="1"/>
          </p:cNvSpPr>
          <p:nvPr>
            <p:ph type="body" idx="1"/>
          </p:nvPr>
        </p:nvSpPr>
        <p:spPr>
          <a:xfrm>
            <a:off x="174172" y="2755831"/>
            <a:ext cx="4446300" cy="3897600"/>
          </a:xfrm>
          <a:prstGeom prst="rect">
            <a:avLst/>
          </a:prstGeom>
          <a:noFill/>
          <a:ln>
            <a:noFill/>
          </a:ln>
        </p:spPr>
        <p:txBody>
          <a:bodyPr spcFirstLastPara="1" wrap="square" lIns="121900" tIns="60925" rIns="121900" bIns="60925" anchor="t" anchorCtr="0">
            <a:noAutofit/>
          </a:bodyPr>
          <a:lstStyle>
            <a:lvl1pPr marL="457200" lvl="0" indent="-228600" algn="l" rtl="0">
              <a:lnSpc>
                <a:spcPct val="100000"/>
              </a:lnSpc>
              <a:spcBef>
                <a:spcPts val="300"/>
              </a:spcBef>
              <a:spcAft>
                <a:spcPts val="0"/>
              </a:spcAft>
              <a:buClr>
                <a:schemeClr val="dk1"/>
              </a:buClr>
              <a:buSzPts val="1900"/>
              <a:buNone/>
              <a:defRPr sz="1400">
                <a:latin typeface="Helvetica Neue"/>
                <a:ea typeface="Helvetica Neue"/>
                <a:cs typeface="Helvetica Neue"/>
                <a:sym typeface="Helvetica Neue"/>
              </a:defRPr>
            </a:lvl1pPr>
            <a:lvl2pPr marL="914400" lvl="1" indent="-228600" algn="l" rtl="0">
              <a:lnSpc>
                <a:spcPct val="100000"/>
              </a:lnSpc>
              <a:spcBef>
                <a:spcPts val="200"/>
              </a:spcBef>
              <a:spcAft>
                <a:spcPts val="0"/>
              </a:spcAft>
              <a:buClr>
                <a:schemeClr val="dk1"/>
              </a:buClr>
              <a:buSzPts val="1600"/>
              <a:buNone/>
              <a:defRPr sz="1200"/>
            </a:lvl2pPr>
            <a:lvl3pPr marL="1371600" lvl="2" indent="-228600" algn="l" rtl="0">
              <a:lnSpc>
                <a:spcPct val="100000"/>
              </a:lnSpc>
              <a:spcBef>
                <a:spcPts val="200"/>
              </a:spcBef>
              <a:spcAft>
                <a:spcPts val="0"/>
              </a:spcAft>
              <a:buClr>
                <a:schemeClr val="dk1"/>
              </a:buClr>
              <a:buSzPts val="1300"/>
              <a:buNone/>
              <a:defRPr sz="1000"/>
            </a:lvl3pPr>
            <a:lvl4pPr marL="1828800" lvl="3" indent="-228600" algn="l" rtl="0">
              <a:lnSpc>
                <a:spcPct val="100000"/>
              </a:lnSpc>
              <a:spcBef>
                <a:spcPts val="200"/>
              </a:spcBef>
              <a:spcAft>
                <a:spcPts val="0"/>
              </a:spcAft>
              <a:buClr>
                <a:schemeClr val="dk1"/>
              </a:buClr>
              <a:buSzPts val="1200"/>
              <a:buNone/>
              <a:defRPr sz="900"/>
            </a:lvl4pPr>
            <a:lvl5pPr marL="2286000" lvl="4" indent="-228600" algn="l" rtl="0">
              <a:lnSpc>
                <a:spcPct val="100000"/>
              </a:lnSpc>
              <a:spcBef>
                <a:spcPts val="200"/>
              </a:spcBef>
              <a:spcAft>
                <a:spcPts val="0"/>
              </a:spcAft>
              <a:buClr>
                <a:schemeClr val="dk1"/>
              </a:buClr>
              <a:buSzPts val="1200"/>
              <a:buNone/>
              <a:defRPr sz="900"/>
            </a:lvl5pPr>
            <a:lvl6pPr marL="2743200" lvl="5" indent="-228600" algn="l" rtl="0">
              <a:lnSpc>
                <a:spcPct val="100000"/>
              </a:lnSpc>
              <a:spcBef>
                <a:spcPts val="200"/>
              </a:spcBef>
              <a:spcAft>
                <a:spcPts val="0"/>
              </a:spcAft>
              <a:buClr>
                <a:schemeClr val="dk1"/>
              </a:buClr>
              <a:buSzPts val="1200"/>
              <a:buNone/>
              <a:defRPr sz="900"/>
            </a:lvl6pPr>
            <a:lvl7pPr marL="3200400" lvl="6" indent="-228600" algn="l" rtl="0">
              <a:lnSpc>
                <a:spcPct val="100000"/>
              </a:lnSpc>
              <a:spcBef>
                <a:spcPts val="200"/>
              </a:spcBef>
              <a:spcAft>
                <a:spcPts val="0"/>
              </a:spcAft>
              <a:buClr>
                <a:schemeClr val="dk1"/>
              </a:buClr>
              <a:buSzPts val="1200"/>
              <a:buNone/>
              <a:defRPr sz="900"/>
            </a:lvl7pPr>
            <a:lvl8pPr marL="3657600" lvl="7" indent="-228600" algn="l" rtl="0">
              <a:lnSpc>
                <a:spcPct val="100000"/>
              </a:lnSpc>
              <a:spcBef>
                <a:spcPts val="200"/>
              </a:spcBef>
              <a:spcAft>
                <a:spcPts val="0"/>
              </a:spcAft>
              <a:buClr>
                <a:schemeClr val="dk1"/>
              </a:buClr>
              <a:buSzPts val="1200"/>
              <a:buNone/>
              <a:defRPr sz="900"/>
            </a:lvl8pPr>
            <a:lvl9pPr marL="4114800" lvl="8" indent="-228600" algn="l" rtl="0">
              <a:lnSpc>
                <a:spcPct val="100000"/>
              </a:lnSpc>
              <a:spcBef>
                <a:spcPts val="200"/>
              </a:spcBef>
              <a:spcAft>
                <a:spcPts val="0"/>
              </a:spcAft>
              <a:buClr>
                <a:schemeClr val="dk1"/>
              </a:buClr>
              <a:buSzPts val="1200"/>
              <a:buNone/>
              <a:defRPr sz="900"/>
            </a:lvl9pPr>
          </a:lstStyle>
          <a:p>
            <a:endParaRPr/>
          </a:p>
        </p:txBody>
      </p:sp>
      <p:sp>
        <p:nvSpPr>
          <p:cNvPr id="40" name="Google Shape;40;g2573c09e3ea_0_110"/>
          <p:cNvSpPr txBox="1">
            <a:spLocks noGrp="1"/>
          </p:cNvSpPr>
          <p:nvPr>
            <p:ph type="body" idx="2"/>
          </p:nvPr>
        </p:nvSpPr>
        <p:spPr>
          <a:xfrm>
            <a:off x="4766732" y="1593775"/>
            <a:ext cx="7251300" cy="5059500"/>
          </a:xfrm>
          <a:prstGeom prst="rect">
            <a:avLst/>
          </a:prstGeom>
          <a:noFill/>
          <a:ln>
            <a:noFill/>
          </a:ln>
        </p:spPr>
        <p:txBody>
          <a:bodyPr spcFirstLastPara="1" wrap="square" lIns="121900" tIns="60925" rIns="121900" bIns="60925" anchor="t" anchorCtr="0">
            <a:noAutofit/>
          </a:bodyPr>
          <a:lstStyle>
            <a:lvl1pPr marL="457200" lvl="0" indent="-501650" algn="l" rtl="0">
              <a:lnSpc>
                <a:spcPct val="100000"/>
              </a:lnSpc>
              <a:spcBef>
                <a:spcPts val="900"/>
              </a:spcBef>
              <a:spcAft>
                <a:spcPts val="0"/>
              </a:spcAft>
              <a:buSzPts val="4300"/>
              <a:buChar char="•"/>
              <a:defRPr sz="3200">
                <a:latin typeface="Helvetica Neue"/>
                <a:ea typeface="Helvetica Neue"/>
                <a:cs typeface="Helvetica Neue"/>
                <a:sym typeface="Helvetica Neue"/>
              </a:defRPr>
            </a:lvl1pPr>
            <a:lvl2pPr marL="914400" lvl="1" indent="-463550" algn="l" rtl="0">
              <a:lnSpc>
                <a:spcPct val="100000"/>
              </a:lnSpc>
              <a:spcBef>
                <a:spcPts val="700"/>
              </a:spcBef>
              <a:spcAft>
                <a:spcPts val="0"/>
              </a:spcAft>
              <a:buSzPts val="3700"/>
              <a:buChar char="–"/>
              <a:defRPr sz="2700">
                <a:latin typeface="Helvetica Neue"/>
                <a:ea typeface="Helvetica Neue"/>
                <a:cs typeface="Helvetica Neue"/>
                <a:sym typeface="Helvetica Neue"/>
              </a:defRPr>
            </a:lvl2pPr>
            <a:lvl3pPr marL="1371600" lvl="2" indent="-431800" algn="l" rtl="0">
              <a:lnSpc>
                <a:spcPct val="100000"/>
              </a:lnSpc>
              <a:spcBef>
                <a:spcPts val="600"/>
              </a:spcBef>
              <a:spcAft>
                <a:spcPts val="0"/>
              </a:spcAft>
              <a:buSzPts val="3200"/>
              <a:buChar char="•"/>
              <a:defRPr sz="2400">
                <a:latin typeface="Helvetica Neue"/>
                <a:ea typeface="Helvetica Neue"/>
                <a:cs typeface="Helvetica Neue"/>
                <a:sym typeface="Helvetica Neue"/>
              </a:defRPr>
            </a:lvl3pPr>
            <a:lvl4pPr marL="1828800" lvl="3" indent="-400050" algn="l" rtl="0">
              <a:lnSpc>
                <a:spcPct val="100000"/>
              </a:lnSpc>
              <a:spcBef>
                <a:spcPts val="500"/>
              </a:spcBef>
              <a:spcAft>
                <a:spcPts val="0"/>
              </a:spcAft>
              <a:buSzPts val="2700"/>
              <a:buChar char="–"/>
              <a:defRPr sz="2100">
                <a:latin typeface="Helvetica Neue"/>
                <a:ea typeface="Helvetica Neue"/>
                <a:cs typeface="Helvetica Neue"/>
                <a:sym typeface="Helvetica Neue"/>
              </a:defRPr>
            </a:lvl4pPr>
            <a:lvl5pPr marL="2286000" lvl="4" indent="-400050" algn="l" rtl="0">
              <a:lnSpc>
                <a:spcPct val="100000"/>
              </a:lnSpc>
              <a:spcBef>
                <a:spcPts val="500"/>
              </a:spcBef>
              <a:spcAft>
                <a:spcPts val="0"/>
              </a:spcAft>
              <a:buSzPts val="2700"/>
              <a:buChar char="»"/>
              <a:defRPr sz="1900">
                <a:latin typeface="Helvetica Neue"/>
                <a:ea typeface="Helvetica Neue"/>
                <a:cs typeface="Helvetica Neue"/>
                <a:sym typeface="Helvetica Neue"/>
              </a:defRPr>
            </a:lvl5pPr>
            <a:lvl6pPr marL="2743200" lvl="5" indent="-400050" algn="l" rtl="0">
              <a:lnSpc>
                <a:spcPct val="100000"/>
              </a:lnSpc>
              <a:spcBef>
                <a:spcPts val="500"/>
              </a:spcBef>
              <a:spcAft>
                <a:spcPts val="0"/>
              </a:spcAft>
              <a:buSzPts val="2700"/>
              <a:buChar char="•"/>
              <a:defRPr/>
            </a:lvl6pPr>
            <a:lvl7pPr marL="3200400" lvl="6" indent="-400050" algn="l" rtl="0">
              <a:lnSpc>
                <a:spcPct val="100000"/>
              </a:lnSpc>
              <a:spcBef>
                <a:spcPts val="500"/>
              </a:spcBef>
              <a:spcAft>
                <a:spcPts val="0"/>
              </a:spcAft>
              <a:buSzPts val="2700"/>
              <a:buChar char="•"/>
              <a:defRPr/>
            </a:lvl7pPr>
            <a:lvl8pPr marL="3657600" lvl="7" indent="-400050" algn="l" rtl="0">
              <a:lnSpc>
                <a:spcPct val="100000"/>
              </a:lnSpc>
              <a:spcBef>
                <a:spcPts val="500"/>
              </a:spcBef>
              <a:spcAft>
                <a:spcPts val="0"/>
              </a:spcAft>
              <a:buSzPts val="2700"/>
              <a:buChar char="•"/>
              <a:defRPr/>
            </a:lvl8pPr>
            <a:lvl9pPr marL="4114800" lvl="8" indent="-400050" algn="l" rtl="0">
              <a:lnSpc>
                <a:spcPct val="100000"/>
              </a:lnSpc>
              <a:spcBef>
                <a:spcPts val="500"/>
              </a:spcBef>
              <a:spcAft>
                <a:spcPts val="0"/>
              </a:spcAft>
              <a:buSzPts val="27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1"/>
        <p:cNvGrpSpPr/>
        <p:nvPr/>
      </p:nvGrpSpPr>
      <p:grpSpPr>
        <a:xfrm>
          <a:off x="0" y="0"/>
          <a:ext cx="0" cy="0"/>
          <a:chOff x="0" y="0"/>
          <a:chExt cx="0" cy="0"/>
        </a:xfrm>
      </p:grpSpPr>
      <p:sp>
        <p:nvSpPr>
          <p:cNvPr id="42" name="Google Shape;42;g2573c09e3ea_0_114"/>
          <p:cNvSpPr txBox="1">
            <a:spLocks noGrp="1"/>
          </p:cNvSpPr>
          <p:nvPr>
            <p:ph type="title"/>
          </p:nvPr>
        </p:nvSpPr>
        <p:spPr>
          <a:xfrm>
            <a:off x="2389717" y="5474073"/>
            <a:ext cx="7315200" cy="566700"/>
          </a:xfrm>
          <a:prstGeom prst="rect">
            <a:avLst/>
          </a:prstGeom>
          <a:noFill/>
          <a:ln>
            <a:noFill/>
          </a:ln>
        </p:spPr>
        <p:txBody>
          <a:bodyPr spcFirstLastPara="1" wrap="square" lIns="121900" tIns="60925" rIns="121900" bIns="60925" anchor="b" anchorCtr="0">
            <a:noAutofit/>
          </a:bodyPr>
          <a:lstStyle>
            <a:lvl1pPr lvl="0" algn="l" rtl="0">
              <a:lnSpc>
                <a:spcPct val="100000"/>
              </a:lnSpc>
              <a:spcBef>
                <a:spcPts val="0"/>
              </a:spcBef>
              <a:spcAft>
                <a:spcPts val="0"/>
              </a:spcAft>
              <a:buClr>
                <a:schemeClr val="dk1"/>
              </a:buClr>
              <a:buSzPts val="2700"/>
              <a:buFont typeface="Arial"/>
              <a:buNone/>
              <a:defRPr sz="2000" b="1">
                <a:latin typeface="Helvetica Neue"/>
                <a:ea typeface="Helvetica Neue"/>
                <a:cs typeface="Helvetica Neue"/>
                <a:sym typeface="Helvetica Neue"/>
              </a:defRPr>
            </a:lvl1pPr>
            <a:lvl2pPr lvl="1" algn="l" rtl="0">
              <a:lnSpc>
                <a:spcPct val="100000"/>
              </a:lnSpc>
              <a:spcBef>
                <a:spcPts val="0"/>
              </a:spcBef>
              <a:spcAft>
                <a:spcPts val="0"/>
              </a:spcAft>
              <a:buSzPts val="1900"/>
              <a:buNone/>
              <a:defRPr/>
            </a:lvl2pPr>
            <a:lvl3pPr lvl="2" algn="l" rtl="0">
              <a:lnSpc>
                <a:spcPct val="100000"/>
              </a:lnSpc>
              <a:spcBef>
                <a:spcPts val="0"/>
              </a:spcBef>
              <a:spcAft>
                <a:spcPts val="0"/>
              </a:spcAft>
              <a:buSzPts val="1900"/>
              <a:buNone/>
              <a:defRPr/>
            </a:lvl3pPr>
            <a:lvl4pPr lvl="3" algn="l" rtl="0">
              <a:lnSpc>
                <a:spcPct val="100000"/>
              </a:lnSpc>
              <a:spcBef>
                <a:spcPts val="0"/>
              </a:spcBef>
              <a:spcAft>
                <a:spcPts val="0"/>
              </a:spcAft>
              <a:buSzPts val="1900"/>
              <a:buNone/>
              <a:defRPr/>
            </a:lvl4pPr>
            <a:lvl5pPr lvl="4" algn="l" rtl="0">
              <a:lnSpc>
                <a:spcPct val="100000"/>
              </a:lnSpc>
              <a:spcBef>
                <a:spcPts val="0"/>
              </a:spcBef>
              <a:spcAft>
                <a:spcPts val="0"/>
              </a:spcAft>
              <a:buSzPts val="1900"/>
              <a:buNone/>
              <a:defRPr/>
            </a:lvl5pPr>
            <a:lvl6pPr lvl="5" algn="l" rtl="0">
              <a:lnSpc>
                <a:spcPct val="100000"/>
              </a:lnSpc>
              <a:spcBef>
                <a:spcPts val="0"/>
              </a:spcBef>
              <a:spcAft>
                <a:spcPts val="0"/>
              </a:spcAft>
              <a:buSzPts val="1900"/>
              <a:buNone/>
              <a:defRPr/>
            </a:lvl6pPr>
            <a:lvl7pPr lvl="6" algn="l" rtl="0">
              <a:lnSpc>
                <a:spcPct val="100000"/>
              </a:lnSpc>
              <a:spcBef>
                <a:spcPts val="0"/>
              </a:spcBef>
              <a:spcAft>
                <a:spcPts val="0"/>
              </a:spcAft>
              <a:buSzPts val="1900"/>
              <a:buNone/>
              <a:defRPr/>
            </a:lvl7pPr>
            <a:lvl8pPr lvl="7" algn="l" rtl="0">
              <a:lnSpc>
                <a:spcPct val="100000"/>
              </a:lnSpc>
              <a:spcBef>
                <a:spcPts val="0"/>
              </a:spcBef>
              <a:spcAft>
                <a:spcPts val="0"/>
              </a:spcAft>
              <a:buSzPts val="1900"/>
              <a:buNone/>
              <a:defRPr/>
            </a:lvl8pPr>
            <a:lvl9pPr lvl="8" algn="l" rtl="0">
              <a:lnSpc>
                <a:spcPct val="100000"/>
              </a:lnSpc>
              <a:spcBef>
                <a:spcPts val="0"/>
              </a:spcBef>
              <a:spcAft>
                <a:spcPts val="0"/>
              </a:spcAft>
              <a:buSzPts val="1900"/>
              <a:buNone/>
              <a:defRPr/>
            </a:lvl9pPr>
          </a:lstStyle>
          <a:p>
            <a:endParaRPr/>
          </a:p>
        </p:txBody>
      </p:sp>
      <p:sp>
        <p:nvSpPr>
          <p:cNvPr id="43" name="Google Shape;43;g2573c09e3ea_0_114"/>
          <p:cNvSpPr>
            <a:spLocks noGrp="1"/>
          </p:cNvSpPr>
          <p:nvPr>
            <p:ph type="pic" idx="2"/>
          </p:nvPr>
        </p:nvSpPr>
        <p:spPr>
          <a:xfrm>
            <a:off x="2389717" y="1613988"/>
            <a:ext cx="7315200" cy="3787200"/>
          </a:xfrm>
          <a:prstGeom prst="rect">
            <a:avLst/>
          </a:prstGeom>
          <a:noFill/>
          <a:ln>
            <a:noFill/>
          </a:ln>
        </p:spPr>
      </p:sp>
      <p:sp>
        <p:nvSpPr>
          <p:cNvPr id="44" name="Google Shape;44;g2573c09e3ea_0_114"/>
          <p:cNvSpPr txBox="1">
            <a:spLocks noGrp="1"/>
          </p:cNvSpPr>
          <p:nvPr>
            <p:ph type="body" idx="1"/>
          </p:nvPr>
        </p:nvSpPr>
        <p:spPr>
          <a:xfrm>
            <a:off x="2389717" y="6040812"/>
            <a:ext cx="7315200" cy="646800"/>
          </a:xfrm>
          <a:prstGeom prst="rect">
            <a:avLst/>
          </a:prstGeom>
          <a:noFill/>
          <a:ln>
            <a:noFill/>
          </a:ln>
        </p:spPr>
        <p:txBody>
          <a:bodyPr spcFirstLastPara="1" wrap="square" lIns="121900" tIns="60925" rIns="121900" bIns="60925" anchor="t" anchorCtr="0">
            <a:noAutofit/>
          </a:bodyPr>
          <a:lstStyle>
            <a:lvl1pPr marL="457200" lvl="0" indent="-228600" algn="l" rtl="0">
              <a:lnSpc>
                <a:spcPct val="100000"/>
              </a:lnSpc>
              <a:spcBef>
                <a:spcPts val="300"/>
              </a:spcBef>
              <a:spcAft>
                <a:spcPts val="0"/>
              </a:spcAft>
              <a:buClr>
                <a:schemeClr val="dk1"/>
              </a:buClr>
              <a:buSzPts val="1900"/>
              <a:buNone/>
              <a:defRPr sz="1400">
                <a:latin typeface="Helvetica Neue"/>
                <a:ea typeface="Helvetica Neue"/>
                <a:cs typeface="Helvetica Neue"/>
                <a:sym typeface="Helvetica Neue"/>
              </a:defRPr>
            </a:lvl1pPr>
            <a:lvl2pPr marL="914400" lvl="1" indent="-228600" algn="l" rtl="0">
              <a:lnSpc>
                <a:spcPct val="100000"/>
              </a:lnSpc>
              <a:spcBef>
                <a:spcPts val="200"/>
              </a:spcBef>
              <a:spcAft>
                <a:spcPts val="0"/>
              </a:spcAft>
              <a:buClr>
                <a:schemeClr val="dk1"/>
              </a:buClr>
              <a:buSzPts val="1600"/>
              <a:buNone/>
              <a:defRPr sz="1200"/>
            </a:lvl2pPr>
            <a:lvl3pPr marL="1371600" lvl="2" indent="-228600" algn="l" rtl="0">
              <a:lnSpc>
                <a:spcPct val="100000"/>
              </a:lnSpc>
              <a:spcBef>
                <a:spcPts val="200"/>
              </a:spcBef>
              <a:spcAft>
                <a:spcPts val="0"/>
              </a:spcAft>
              <a:buClr>
                <a:schemeClr val="dk1"/>
              </a:buClr>
              <a:buSzPts val="1300"/>
              <a:buNone/>
              <a:defRPr sz="1000"/>
            </a:lvl3pPr>
            <a:lvl4pPr marL="1828800" lvl="3" indent="-228600" algn="l" rtl="0">
              <a:lnSpc>
                <a:spcPct val="100000"/>
              </a:lnSpc>
              <a:spcBef>
                <a:spcPts val="200"/>
              </a:spcBef>
              <a:spcAft>
                <a:spcPts val="0"/>
              </a:spcAft>
              <a:buClr>
                <a:schemeClr val="dk1"/>
              </a:buClr>
              <a:buSzPts val="1200"/>
              <a:buNone/>
              <a:defRPr sz="900"/>
            </a:lvl4pPr>
            <a:lvl5pPr marL="2286000" lvl="4" indent="-228600" algn="l" rtl="0">
              <a:lnSpc>
                <a:spcPct val="100000"/>
              </a:lnSpc>
              <a:spcBef>
                <a:spcPts val="200"/>
              </a:spcBef>
              <a:spcAft>
                <a:spcPts val="0"/>
              </a:spcAft>
              <a:buClr>
                <a:schemeClr val="dk1"/>
              </a:buClr>
              <a:buSzPts val="1200"/>
              <a:buNone/>
              <a:defRPr sz="900"/>
            </a:lvl5pPr>
            <a:lvl6pPr marL="2743200" lvl="5" indent="-228600" algn="l" rtl="0">
              <a:lnSpc>
                <a:spcPct val="100000"/>
              </a:lnSpc>
              <a:spcBef>
                <a:spcPts val="200"/>
              </a:spcBef>
              <a:spcAft>
                <a:spcPts val="0"/>
              </a:spcAft>
              <a:buClr>
                <a:schemeClr val="dk1"/>
              </a:buClr>
              <a:buSzPts val="1200"/>
              <a:buNone/>
              <a:defRPr sz="900"/>
            </a:lvl6pPr>
            <a:lvl7pPr marL="3200400" lvl="6" indent="-228600" algn="l" rtl="0">
              <a:lnSpc>
                <a:spcPct val="100000"/>
              </a:lnSpc>
              <a:spcBef>
                <a:spcPts val="200"/>
              </a:spcBef>
              <a:spcAft>
                <a:spcPts val="0"/>
              </a:spcAft>
              <a:buClr>
                <a:schemeClr val="dk1"/>
              </a:buClr>
              <a:buSzPts val="1200"/>
              <a:buNone/>
              <a:defRPr sz="900"/>
            </a:lvl7pPr>
            <a:lvl8pPr marL="3657600" lvl="7" indent="-228600" algn="l" rtl="0">
              <a:lnSpc>
                <a:spcPct val="100000"/>
              </a:lnSpc>
              <a:spcBef>
                <a:spcPts val="200"/>
              </a:spcBef>
              <a:spcAft>
                <a:spcPts val="0"/>
              </a:spcAft>
              <a:buClr>
                <a:schemeClr val="dk1"/>
              </a:buClr>
              <a:buSzPts val="1200"/>
              <a:buNone/>
              <a:defRPr sz="900"/>
            </a:lvl8pPr>
            <a:lvl9pPr marL="4114800" lvl="8" indent="-228600" algn="l" rtl="0">
              <a:lnSpc>
                <a:spcPct val="100000"/>
              </a:lnSpc>
              <a:spcBef>
                <a:spcPts val="200"/>
              </a:spcBef>
              <a:spcAft>
                <a:spcPts val="0"/>
              </a:spcAft>
              <a:buClr>
                <a:schemeClr val="dk1"/>
              </a:buClr>
              <a:buSzPts val="1200"/>
              <a:buNone/>
              <a:defRPr sz="900"/>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9.xml"/><Relationship Id="rId7" Type="http://schemas.openxmlformats.org/officeDocument/2006/relationships/slideLayout" Target="../slideLayouts/slideLayout13.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5" Type="http://schemas.openxmlformats.org/officeDocument/2006/relationships/slideLayout" Target="../slideLayouts/slideLayout11.xml"/><Relationship Id="rId10" Type="http://schemas.openxmlformats.org/officeDocument/2006/relationships/image" Target="../media/image2.png"/><Relationship Id="rId4" Type="http://schemas.openxmlformats.org/officeDocument/2006/relationships/slideLayout" Target="../slideLayouts/slideLayout10.xml"/><Relationship Id="rId9" Type="http://schemas.openxmlformats.org/officeDocument/2006/relationships/image" Target="../media/image4.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8">
            <a:alphaModFix/>
          </a:blip>
          <a:stretch>
            <a:fillRect/>
          </a:stretch>
        </a:blipFill>
        <a:effectLst/>
      </p:bgPr>
    </p:bg>
    <p:spTree>
      <p:nvGrpSpPr>
        <p:cNvPr id="1" name="Shape 5"/>
        <p:cNvGrpSpPr/>
        <p:nvPr/>
      </p:nvGrpSpPr>
      <p:grpSpPr>
        <a:xfrm>
          <a:off x="0" y="0"/>
          <a:ext cx="0" cy="0"/>
          <a:chOff x="0" y="0"/>
          <a:chExt cx="0" cy="0"/>
        </a:xfrm>
      </p:grpSpPr>
      <p:pic>
        <p:nvPicPr>
          <p:cNvPr id="4" name="Picture 3" descr="A close-up of a logo&#10;&#10;Description automatically generated">
            <a:extLst>
              <a:ext uri="{FF2B5EF4-FFF2-40B4-BE49-F238E27FC236}">
                <a16:creationId xmlns:a16="http://schemas.microsoft.com/office/drawing/2014/main" id="{24C75BE8-60A9-B25D-DE05-FE32DF93D16B}"/>
              </a:ext>
            </a:extLst>
          </p:cNvPr>
          <p:cNvPicPr>
            <a:picLocks noChangeAspect="1"/>
          </p:cNvPicPr>
          <p:nvPr userDrawn="1"/>
        </p:nvPicPr>
        <p:blipFill>
          <a:blip r:embed="rId9" cstate="screen">
            <a:extLst>
              <a:ext uri="{28A0092B-C50C-407E-A947-70E740481C1C}">
                <a14:useLocalDpi xmlns:a14="http://schemas.microsoft.com/office/drawing/2010/main"/>
              </a:ext>
            </a:extLst>
          </a:blip>
          <a:stretch>
            <a:fillRect/>
          </a:stretch>
        </p:blipFill>
        <p:spPr>
          <a:xfrm>
            <a:off x="10108099" y="0"/>
            <a:ext cx="2083901" cy="689763"/>
          </a:xfrm>
          <a:prstGeom prst="rect">
            <a:avLst/>
          </a:prstGeom>
        </p:spPr>
      </p:pic>
      <p:sp>
        <p:nvSpPr>
          <p:cNvPr id="3" name="TextBox 2">
            <a:extLst>
              <a:ext uri="{FF2B5EF4-FFF2-40B4-BE49-F238E27FC236}">
                <a16:creationId xmlns:a16="http://schemas.microsoft.com/office/drawing/2014/main" id="{1AADAB12-4EA8-B6B3-DA2D-29B5D4AB6136}"/>
              </a:ext>
            </a:extLst>
          </p:cNvPr>
          <p:cNvSpPr txBox="1"/>
          <p:nvPr userDrawn="1">
            <p:extLst>
              <p:ext uri="{1162E1C5-73C7-4A58-AE30-91384D911F3F}">
                <p184:classification xmlns:p184="http://schemas.microsoft.com/office/powerpoint/2018/4/main" val="ftr"/>
              </p:ext>
            </p:extLst>
          </p:nvPr>
        </p:nvSpPr>
        <p:spPr>
          <a:xfrm>
            <a:off x="10758488" y="6459220"/>
            <a:ext cx="1433512" cy="335280"/>
          </a:xfrm>
          <a:prstGeom prst="rect">
            <a:avLst/>
          </a:prstGeom>
        </p:spPr>
        <p:txBody>
          <a:bodyPr horzOverflow="overflow" lIns="0" tIns="0" rIns="0" bIns="0">
            <a:spAutoFit/>
          </a:bodyPr>
          <a:lstStyle/>
          <a:p>
            <a:pPr algn="l"/>
            <a:r>
              <a:rPr lang="fi-FI" sz="2200">
                <a:solidFill>
                  <a:srgbClr val="FF8939">
                    <a:alpha val="50000"/>
                  </a:srgbClr>
                </a:solidFill>
                <a:latin typeface="Calibri" panose="020F0502020204030204" pitchFamily="34" charset="0"/>
                <a:ea typeface="Calibri" panose="020F0502020204030204" pitchFamily="34" charset="0"/>
                <a:cs typeface="Calibri" panose="020F0502020204030204" pitchFamily="34" charset="0"/>
              </a:rPr>
              <a:t>RESTRICTED</a:t>
            </a: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63" r:id="rId4"/>
    <p:sldLayoutId id="2147483664" r:id="rId5"/>
    <p:sldLayoutId id="2147483665"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
        <p:cNvGrpSpPr/>
        <p:nvPr/>
      </p:nvGrpSpPr>
      <p:grpSpPr>
        <a:xfrm>
          <a:off x="0" y="0"/>
          <a:ext cx="0" cy="0"/>
          <a:chOff x="0" y="0"/>
          <a:chExt cx="0" cy="0"/>
        </a:xfrm>
      </p:grpSpPr>
      <p:sp>
        <p:nvSpPr>
          <p:cNvPr id="16" name="Google Shape;16;g2573c09e3ea_0_88"/>
          <p:cNvSpPr txBox="1">
            <a:spLocks noGrp="1"/>
          </p:cNvSpPr>
          <p:nvPr>
            <p:ph type="title"/>
          </p:nvPr>
        </p:nvSpPr>
        <p:spPr>
          <a:xfrm>
            <a:off x="1393373" y="130408"/>
            <a:ext cx="10579500" cy="1143300"/>
          </a:xfrm>
          <a:prstGeom prst="rect">
            <a:avLst/>
          </a:prstGeom>
          <a:noFill/>
          <a:ln>
            <a:noFill/>
          </a:ln>
        </p:spPr>
        <p:txBody>
          <a:bodyPr spcFirstLastPara="1" wrap="square" lIns="121900" tIns="60925" rIns="121900" bIns="60925" anchor="ctr" anchorCtr="0">
            <a:noAutofit/>
          </a:bodyPr>
          <a:lstStyle>
            <a:lvl1pPr marR="0" lvl="0" algn="ctr" rtl="0">
              <a:lnSpc>
                <a:spcPct val="100000"/>
              </a:lnSpc>
              <a:spcBef>
                <a:spcPts val="0"/>
              </a:spcBef>
              <a:spcAft>
                <a:spcPts val="0"/>
              </a:spcAft>
              <a:buClr>
                <a:schemeClr val="dk1"/>
              </a:buClr>
              <a:buSzPts val="5900"/>
              <a:buFont typeface="Arial"/>
              <a:buNone/>
              <a:defRPr sz="59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900"/>
              <a:buFont typeface="Arial"/>
              <a:buNone/>
              <a:defRPr sz="2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900"/>
              <a:buFont typeface="Arial"/>
              <a:buNone/>
              <a:defRPr sz="2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900"/>
              <a:buFont typeface="Arial"/>
              <a:buNone/>
              <a:defRPr sz="2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900"/>
              <a:buFont typeface="Arial"/>
              <a:buNone/>
              <a:defRPr sz="2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900"/>
              <a:buFont typeface="Arial"/>
              <a:buNone/>
              <a:defRPr sz="2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900"/>
              <a:buFont typeface="Arial"/>
              <a:buNone/>
              <a:defRPr sz="2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900"/>
              <a:buFont typeface="Arial"/>
              <a:buNone/>
              <a:defRPr sz="2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900"/>
              <a:buFont typeface="Arial"/>
              <a:buNone/>
              <a:defRPr sz="2400" b="0" i="0" u="none" strike="noStrike" cap="none">
                <a:solidFill>
                  <a:srgbClr val="000000"/>
                </a:solidFill>
                <a:latin typeface="Arial"/>
                <a:ea typeface="Arial"/>
                <a:cs typeface="Arial"/>
                <a:sym typeface="Arial"/>
              </a:defRPr>
            </a:lvl9pPr>
          </a:lstStyle>
          <a:p>
            <a:endParaRPr/>
          </a:p>
        </p:txBody>
      </p:sp>
      <p:sp>
        <p:nvSpPr>
          <p:cNvPr id="17" name="Google Shape;17;g2573c09e3ea_0_88"/>
          <p:cNvSpPr txBox="1">
            <a:spLocks noGrp="1"/>
          </p:cNvSpPr>
          <p:nvPr>
            <p:ph type="body" idx="1"/>
          </p:nvPr>
        </p:nvSpPr>
        <p:spPr>
          <a:xfrm>
            <a:off x="139337" y="1600201"/>
            <a:ext cx="11833500" cy="4995300"/>
          </a:xfrm>
          <a:prstGeom prst="rect">
            <a:avLst/>
          </a:prstGeom>
          <a:noFill/>
          <a:ln>
            <a:noFill/>
          </a:ln>
        </p:spPr>
        <p:txBody>
          <a:bodyPr spcFirstLastPara="1" wrap="square" lIns="121900" tIns="60925" rIns="121900" bIns="60925" anchor="t" anchorCtr="0">
            <a:noAutofit/>
          </a:bodyPr>
          <a:lstStyle>
            <a:lvl1pPr marL="457200" marR="0" lvl="0" indent="-501650" algn="l" rtl="0">
              <a:lnSpc>
                <a:spcPct val="100000"/>
              </a:lnSpc>
              <a:spcBef>
                <a:spcPts val="900"/>
              </a:spcBef>
              <a:spcAft>
                <a:spcPts val="0"/>
              </a:spcAft>
              <a:buClr>
                <a:schemeClr val="dk1"/>
              </a:buClr>
              <a:buSzPts val="4300"/>
              <a:buFont typeface="Arial"/>
              <a:buChar char="•"/>
              <a:defRPr sz="4300" b="0" i="0" u="none" strike="noStrike" cap="none">
                <a:solidFill>
                  <a:schemeClr val="dk1"/>
                </a:solidFill>
                <a:latin typeface="Arial"/>
                <a:ea typeface="Arial"/>
                <a:cs typeface="Arial"/>
                <a:sym typeface="Arial"/>
              </a:defRPr>
            </a:lvl1pPr>
            <a:lvl2pPr marL="914400" marR="0" lvl="1" indent="-463550" algn="l" rtl="0">
              <a:lnSpc>
                <a:spcPct val="100000"/>
              </a:lnSpc>
              <a:spcBef>
                <a:spcPts val="700"/>
              </a:spcBef>
              <a:spcAft>
                <a:spcPts val="0"/>
              </a:spcAft>
              <a:buClr>
                <a:schemeClr val="dk1"/>
              </a:buClr>
              <a:buSzPts val="3700"/>
              <a:buFont typeface="Arial"/>
              <a:buChar char="–"/>
              <a:defRPr sz="3700" b="0" i="0" u="none" strike="noStrike" cap="none">
                <a:solidFill>
                  <a:schemeClr val="dk1"/>
                </a:solidFill>
                <a:latin typeface="Arial"/>
                <a:ea typeface="Arial"/>
                <a:cs typeface="Arial"/>
                <a:sym typeface="Arial"/>
              </a:defRPr>
            </a:lvl2pPr>
            <a:lvl3pPr marL="1371600" marR="0" lvl="2" indent="-431800" algn="l" rtl="0">
              <a:lnSpc>
                <a:spcPct val="100000"/>
              </a:lnSpc>
              <a:spcBef>
                <a:spcPts val="60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400050" algn="l" rtl="0">
              <a:lnSpc>
                <a:spcPct val="100000"/>
              </a:lnSpc>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4pPr>
            <a:lvl5pPr marL="2286000" marR="0" lvl="4" indent="-400050" algn="l" rtl="0">
              <a:lnSpc>
                <a:spcPct val="100000"/>
              </a:lnSpc>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5pPr>
            <a:lvl6pPr marL="2743200" marR="0" lvl="5" indent="-400050" algn="l" rtl="0">
              <a:lnSpc>
                <a:spcPct val="100000"/>
              </a:lnSpc>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6pPr>
            <a:lvl7pPr marL="3200400" marR="0" lvl="6" indent="-400050" algn="l" rtl="0">
              <a:lnSpc>
                <a:spcPct val="100000"/>
              </a:lnSpc>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7pPr>
            <a:lvl8pPr marL="3657600" marR="0" lvl="7" indent="-400050" algn="l" rtl="0">
              <a:lnSpc>
                <a:spcPct val="100000"/>
              </a:lnSpc>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8pPr>
            <a:lvl9pPr marL="4114800" marR="0" lvl="8" indent="-400050" algn="l" rtl="0">
              <a:lnSpc>
                <a:spcPct val="100000"/>
              </a:lnSpc>
              <a:spcBef>
                <a:spcPts val="50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9pPr>
          </a:lstStyle>
          <a:p>
            <a:endParaRPr/>
          </a:p>
        </p:txBody>
      </p:sp>
      <p:pic>
        <p:nvPicPr>
          <p:cNvPr id="18" name="Google Shape;18;g2573c09e3ea_0_88" descr="A close up of a logo&#10;&#10;Description automatically generated"/>
          <p:cNvPicPr preferRelativeResize="0"/>
          <p:nvPr/>
        </p:nvPicPr>
        <p:blipFill rotWithShape="1">
          <a:blip r:embed="rId9">
            <a:alphaModFix/>
          </a:blip>
          <a:srcRect/>
          <a:stretch/>
        </p:blipFill>
        <p:spPr>
          <a:xfrm>
            <a:off x="0" y="50240"/>
            <a:ext cx="1303336" cy="1303336"/>
          </a:xfrm>
          <a:prstGeom prst="rect">
            <a:avLst/>
          </a:prstGeom>
          <a:noFill/>
          <a:ln>
            <a:noFill/>
          </a:ln>
        </p:spPr>
      </p:pic>
      <p:sp>
        <p:nvSpPr>
          <p:cNvPr id="19" name="Google Shape;19;g2573c09e3ea_0_88"/>
          <p:cNvSpPr/>
          <p:nvPr/>
        </p:nvSpPr>
        <p:spPr>
          <a:xfrm>
            <a:off x="0" y="1348059"/>
            <a:ext cx="12192000" cy="147600"/>
          </a:xfrm>
          <a:prstGeom prst="rect">
            <a:avLst/>
          </a:prstGeom>
          <a:gradFill>
            <a:gsLst>
              <a:gs pos="0">
                <a:srgbClr val="2DDBDF"/>
              </a:gs>
              <a:gs pos="100000">
                <a:srgbClr val="0033A0"/>
              </a:gs>
            </a:gsLst>
            <a:path path="circle">
              <a:fillToRect l="50000" t="50000" r="50000" b="50000"/>
            </a:path>
            <a:tileRect/>
          </a:grad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Arial"/>
              <a:ea typeface="Arial"/>
              <a:cs typeface="Arial"/>
              <a:sym typeface="Arial"/>
            </a:endParaRPr>
          </a:p>
        </p:txBody>
      </p:sp>
      <p:pic>
        <p:nvPicPr>
          <p:cNvPr id="2" name="Picture 1" descr="A close-up of a logo&#10;&#10;Description automatically generated">
            <a:extLst>
              <a:ext uri="{FF2B5EF4-FFF2-40B4-BE49-F238E27FC236}">
                <a16:creationId xmlns:a16="http://schemas.microsoft.com/office/drawing/2014/main" id="{04B10C10-FA12-36A1-6BD6-474EA5649C81}"/>
              </a:ext>
            </a:extLst>
          </p:cNvPr>
          <p:cNvPicPr>
            <a:picLocks noChangeAspect="1"/>
          </p:cNvPicPr>
          <p:nvPr userDrawn="1"/>
        </p:nvPicPr>
        <p:blipFill>
          <a:blip r:embed="rId10" cstate="screen">
            <a:extLst>
              <a:ext uri="{28A0092B-C50C-407E-A947-70E740481C1C}">
                <a14:useLocalDpi xmlns:a14="http://schemas.microsoft.com/office/drawing/2010/main"/>
              </a:ext>
            </a:extLst>
          </a:blip>
          <a:stretch>
            <a:fillRect/>
          </a:stretch>
        </p:blipFill>
        <p:spPr>
          <a:xfrm>
            <a:off x="10108099" y="0"/>
            <a:ext cx="2083901" cy="689763"/>
          </a:xfrm>
          <a:prstGeom prst="rect">
            <a:avLst/>
          </a:prstGeom>
        </p:spPr>
      </p:pic>
      <p:sp>
        <p:nvSpPr>
          <p:cNvPr id="4" name="TextBox 3">
            <a:extLst>
              <a:ext uri="{FF2B5EF4-FFF2-40B4-BE49-F238E27FC236}">
                <a16:creationId xmlns:a16="http://schemas.microsoft.com/office/drawing/2014/main" id="{1EF6344D-F381-91D0-B687-03AC34D799E2}"/>
              </a:ext>
            </a:extLst>
          </p:cNvPr>
          <p:cNvSpPr txBox="1"/>
          <p:nvPr userDrawn="1">
            <p:extLst>
              <p:ext uri="{1162E1C5-73C7-4A58-AE30-91384D911F3F}">
                <p184:classification xmlns:p184="http://schemas.microsoft.com/office/powerpoint/2018/4/main" val="ftr"/>
              </p:ext>
            </p:extLst>
          </p:nvPr>
        </p:nvSpPr>
        <p:spPr>
          <a:xfrm>
            <a:off x="10758488" y="6459220"/>
            <a:ext cx="1433512" cy="335280"/>
          </a:xfrm>
          <a:prstGeom prst="rect">
            <a:avLst/>
          </a:prstGeom>
        </p:spPr>
        <p:txBody>
          <a:bodyPr horzOverflow="overflow" lIns="0" tIns="0" rIns="0" bIns="0">
            <a:spAutoFit/>
          </a:bodyPr>
          <a:lstStyle/>
          <a:p>
            <a:pPr algn="l"/>
            <a:r>
              <a:rPr lang="fi-FI" sz="2200">
                <a:solidFill>
                  <a:srgbClr val="FF8939">
                    <a:alpha val="50000"/>
                  </a:srgbClr>
                </a:solidFill>
                <a:latin typeface="Calibri" panose="020F0502020204030204" pitchFamily="34" charset="0"/>
                <a:ea typeface="Calibri" panose="020F0502020204030204" pitchFamily="34" charset="0"/>
                <a:cs typeface="Calibri" panose="020F0502020204030204" pitchFamily="34" charset="0"/>
              </a:rPr>
              <a:t>RESTRICTED</a:t>
            </a:r>
          </a:p>
        </p:txBody>
      </p:sp>
    </p:spTree>
  </p:cSld>
  <p:clrMap bg1="lt1" tx1="dk1" bg2="dk2" tx2="lt2" accent1="accent1" accent2="accent2" accent3="accent3" accent4="accent4" accent5="accent5" accent6="accent6" hlink="hlink" folHlink="folHlink"/>
  <p:sldLayoutIdLst>
    <p:sldLayoutId id="2147483653" r:id="rId1"/>
    <p:sldLayoutId id="2147483655" r:id="rId2"/>
    <p:sldLayoutId id="2147483656" r:id="rId3"/>
    <p:sldLayoutId id="2147483657" r:id="rId4"/>
    <p:sldLayoutId id="2147483658" r:id="rId5"/>
    <p:sldLayoutId id="2147483659" r:id="rId6"/>
    <p:sldLayoutId id="2147483660"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https://posit.cloud/spaces/627310/join?access_code=Ht_i118WHp_wjQ9XGwi-b7fb1bs0y1mbbVO3JyME" TargetMode="External"/><Relationship Id="rId2" Type="http://schemas.openxmlformats.org/officeDocument/2006/relationships/hyperlink" Target="https://github.com/OpenRBQM/openRBQM-workshop-EU25"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6.xml"/><Relationship Id="rId4" Type="http://schemas.openxmlformats.org/officeDocument/2006/relationships/hyperlink" Target="https://impala-consortium.org/"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9.xml"/><Relationship Id="rId1" Type="http://schemas.openxmlformats.org/officeDocument/2006/relationships/tags" Target="../tags/tag1.xml"/><Relationship Id="rId4" Type="http://schemas.openxmlformats.org/officeDocument/2006/relationships/image" Target="../media/image9.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9.xml"/><Relationship Id="rId1" Type="http://schemas.openxmlformats.org/officeDocument/2006/relationships/tags" Target="../tags/tag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9.xml"/><Relationship Id="rId5" Type="http://schemas.openxmlformats.org/officeDocument/2006/relationships/image" Target="../media/image14.jpe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9.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hyperlink" Target="https://gilead-biostats.github.io/gsm.core/" TargetMode="Externa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7.png"/><Relationship Id="rId7"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hyperlink" Target="https://phuse.s3.eu-central-1.amazonaws.com/Archive/2024/Connect/EU/Strasbourg/PRE_AR04.pdf" TargetMode="External"/><Relationship Id="rId10" Type="http://schemas.openxmlformats.org/officeDocument/2006/relationships/image" Target="../media/image32.png"/><Relationship Id="rId4" Type="http://schemas.openxmlformats.org/officeDocument/2006/relationships/hyperlink" Target="https://github.com/IMPALA-Consortium/gsm.simaerep" TargetMode="External"/><Relationship Id="rId9" Type="http://schemas.openxmlformats.org/officeDocument/2006/relationships/image" Target="../media/image3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posit.cloud/spaces/627310/join?access_code=Ht_i118WHp_wjQ9XGwi-b7fb1bs0y1mbbVO3JyME"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gilead-biostats.github.io/gsm.core/articles/DataAnalysis.html#case-study---step-by-step-adverse-event-kri"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posit.cloud/spaces/627310/join?access_code=Ht_i118WHp_wjQ9XGwi-b7fb1bs0y1mbbVO3JyME" TargetMode="External"/><Relationship Id="rId2" Type="http://schemas.microsoft.com/office/2018/10/relationships/comments" Target="../comments/modernComment_7AE61214_1989EB16.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a:blip r:embed="rId3">
            <a:alphaModFix/>
          </a:blip>
          <a:stretch>
            <a:fillRect/>
          </a:stretch>
        </a:blipFill>
        <a:effectLst/>
      </p:bgPr>
    </p:bg>
    <p:spTree>
      <p:nvGrpSpPr>
        <p:cNvPr id="1" name="Shape 55"/>
        <p:cNvGrpSpPr/>
        <p:nvPr/>
      </p:nvGrpSpPr>
      <p:grpSpPr>
        <a:xfrm>
          <a:off x="0" y="0"/>
          <a:ext cx="0" cy="0"/>
          <a:chOff x="0" y="0"/>
          <a:chExt cx="0" cy="0"/>
        </a:xfrm>
      </p:grpSpPr>
      <p:sp>
        <p:nvSpPr>
          <p:cNvPr id="56" name="Google Shape;56;p1"/>
          <p:cNvSpPr txBox="1"/>
          <p:nvPr/>
        </p:nvSpPr>
        <p:spPr>
          <a:xfrm>
            <a:off x="291975" y="2091133"/>
            <a:ext cx="8736960" cy="1532638"/>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Clr>
                <a:schemeClr val="dk1"/>
              </a:buClr>
              <a:buSzPts val="2800"/>
              <a:buFont typeface="Arial"/>
              <a:buNone/>
            </a:pPr>
            <a:r>
              <a:rPr lang="en-GB" sz="3600" b="1" i="0">
                <a:solidFill>
                  <a:srgbClr val="000000"/>
                </a:solidFill>
                <a:effectLst/>
                <a:latin typeface="WordVisi_MSFontService"/>
              </a:rPr>
              <a:t>Building Open-Source Tools paired with Central Monitoring Best Practice</a:t>
            </a:r>
            <a:endParaRPr lang="en-US"/>
          </a:p>
        </p:txBody>
      </p:sp>
      <p:sp>
        <p:nvSpPr>
          <p:cNvPr id="57" name="Google Shape;57;p1"/>
          <p:cNvSpPr txBox="1"/>
          <p:nvPr/>
        </p:nvSpPr>
        <p:spPr>
          <a:xfrm>
            <a:off x="291975" y="1160508"/>
            <a:ext cx="8470200" cy="92328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5400" b="1" i="0">
                <a:solidFill>
                  <a:srgbClr val="000000"/>
                </a:solidFill>
                <a:effectLst/>
                <a:latin typeface="WordVisi_MSFontService"/>
              </a:rPr>
              <a:t>RBQM Workshop </a:t>
            </a:r>
            <a:endParaRPr/>
          </a:p>
        </p:txBody>
      </p:sp>
      <p:sp>
        <p:nvSpPr>
          <p:cNvPr id="58" name="Google Shape;58;p1"/>
          <p:cNvSpPr/>
          <p:nvPr/>
        </p:nvSpPr>
        <p:spPr>
          <a:xfrm>
            <a:off x="165375" y="6329475"/>
            <a:ext cx="2658900" cy="308100"/>
          </a:xfrm>
          <a:prstGeom prst="rect">
            <a:avLst/>
          </a:prstGeom>
          <a:solidFill>
            <a:srgbClr val="4AB7AE"/>
          </a:solidFill>
          <a:ln w="9525" cap="flat" cmpd="sng">
            <a:solidFill>
              <a:srgbClr val="4AB7A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US" i="1">
                <a:solidFill>
                  <a:schemeClr val="lt1"/>
                </a:solidFill>
              </a:rPr>
              <a:t>phuse.global/working_groups</a:t>
            </a:r>
            <a:endParaRPr i="1">
              <a:solidFill>
                <a:schemeClr val="lt1"/>
              </a:solidFill>
            </a:endParaRPr>
          </a:p>
        </p:txBody>
      </p:sp>
      <p:sp>
        <p:nvSpPr>
          <p:cNvPr id="5" name="TextBox 4">
            <a:extLst>
              <a:ext uri="{FF2B5EF4-FFF2-40B4-BE49-F238E27FC236}">
                <a16:creationId xmlns:a16="http://schemas.microsoft.com/office/drawing/2014/main" id="{F7B54C5F-94B8-F9B1-5611-D3F72CC84502}"/>
              </a:ext>
            </a:extLst>
          </p:cNvPr>
          <p:cNvSpPr txBox="1"/>
          <p:nvPr/>
        </p:nvSpPr>
        <p:spPr>
          <a:xfrm>
            <a:off x="291975" y="3429000"/>
            <a:ext cx="6113720" cy="1600438"/>
          </a:xfrm>
          <a:prstGeom prst="rect">
            <a:avLst/>
          </a:prstGeom>
          <a:noFill/>
        </p:spPr>
        <p:txBody>
          <a:bodyPr wrap="square" lIns="91440" tIns="45720" rIns="91440" bIns="45720" anchor="t">
            <a:spAutoFit/>
          </a:bodyPr>
          <a:lstStyle/>
          <a:p>
            <a:r>
              <a:rPr lang="en-US" dirty="0"/>
              <a:t>Jeremy Howells, Roche</a:t>
            </a:r>
          </a:p>
          <a:p>
            <a:r>
              <a:rPr lang="en-US" dirty="0"/>
              <a:t>Björn Koneswarakantha, Roche </a:t>
            </a:r>
          </a:p>
          <a:p>
            <a:r>
              <a:rPr lang="en-US" dirty="0"/>
              <a:t>Chris Wells, Roche</a:t>
            </a:r>
          </a:p>
          <a:p>
            <a:r>
              <a:rPr lang="en-US" dirty="0"/>
              <a:t>Mariia </a:t>
            </a:r>
            <a:r>
              <a:rPr lang="en-US" dirty="0" err="1"/>
              <a:t>Lapaeva</a:t>
            </a:r>
            <a:r>
              <a:rPr lang="en-US" dirty="0"/>
              <a:t>, Roche </a:t>
            </a:r>
          </a:p>
          <a:p>
            <a:r>
              <a:rPr lang="en-US" dirty="0"/>
              <a:t>Lawrence Dennison-Hall, Roche</a:t>
            </a:r>
          </a:p>
          <a:p>
            <a:r>
              <a:rPr lang="en-US" dirty="0"/>
              <a:t>Pekka </a:t>
            </a:r>
            <a:r>
              <a:rPr lang="en-US" dirty="0" err="1"/>
              <a:t>Tiikkainen</a:t>
            </a:r>
            <a:r>
              <a:rPr lang="en-US" dirty="0"/>
              <a:t>, Bayer</a:t>
            </a:r>
          </a:p>
          <a:p>
            <a:r>
              <a:rPr lang="en-US" dirty="0"/>
              <a:t>Frederik Collin, Boehringer Ingelheim</a:t>
            </a:r>
          </a:p>
        </p:txBody>
      </p:sp>
      <p:pic>
        <p:nvPicPr>
          <p:cNvPr id="3" name="Picture 2" descr="A close-up of a logo&#10;&#10;Description automatically generated">
            <a:extLst>
              <a:ext uri="{FF2B5EF4-FFF2-40B4-BE49-F238E27FC236}">
                <a16:creationId xmlns:a16="http://schemas.microsoft.com/office/drawing/2014/main" id="{3E26525A-3FE0-73E9-3174-EFE4FB7DC875}"/>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377265" y="1183199"/>
            <a:ext cx="2743036" cy="90793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DDF49F1-8C8B-72D6-1032-4C2207B3AF70}"/>
              </a:ext>
            </a:extLst>
          </p:cNvPr>
          <p:cNvSpPr>
            <a:spLocks noGrp="1"/>
          </p:cNvSpPr>
          <p:nvPr>
            <p:ph type="body" idx="1"/>
          </p:nvPr>
        </p:nvSpPr>
        <p:spPr/>
        <p:txBody>
          <a:bodyPr/>
          <a:lstStyle/>
          <a:p>
            <a:pPr marL="25400" indent="0">
              <a:buNone/>
            </a:pPr>
            <a:r>
              <a:rPr lang="en-US" dirty="0"/>
              <a:t>Set up Project on Posit Connect</a:t>
            </a:r>
          </a:p>
          <a:p>
            <a:r>
              <a:rPr lang="en-US" dirty="0"/>
              <a:t>Open Repo: </a:t>
            </a:r>
            <a:r>
              <a:rPr lang="en-US" sz="2400" dirty="0">
                <a:hlinkClick r:id="rId2"/>
              </a:rPr>
              <a:t>https://</a:t>
            </a:r>
            <a:r>
              <a:rPr lang="en-US" sz="2400" dirty="0" err="1">
                <a:hlinkClick r:id="rId2"/>
              </a:rPr>
              <a:t>github.com</a:t>
            </a:r>
            <a:r>
              <a:rPr lang="en-US" sz="2400" dirty="0">
                <a:hlinkClick r:id="rId2"/>
              </a:rPr>
              <a:t>/</a:t>
            </a:r>
            <a:r>
              <a:rPr lang="en-US" sz="2400" dirty="0" err="1">
                <a:hlinkClick r:id="rId2"/>
              </a:rPr>
              <a:t>OpenRBQM</a:t>
            </a:r>
            <a:r>
              <a:rPr lang="en-US" sz="2400" dirty="0">
                <a:hlinkClick r:id="rId2"/>
              </a:rPr>
              <a:t>/openRBQM-workshop-EU25</a:t>
            </a:r>
            <a:endParaRPr lang="en-US" sz="2400" dirty="0"/>
          </a:p>
          <a:p>
            <a:r>
              <a:rPr lang="en-US" dirty="0"/>
              <a:t>Open </a:t>
            </a:r>
            <a:r>
              <a:rPr lang="en-US" dirty="0">
                <a:hlinkClick r:id="rId3"/>
              </a:rPr>
              <a:t>Link to Posit Cloud Project</a:t>
            </a:r>
            <a:endParaRPr lang="en-US" dirty="0"/>
          </a:p>
          <a:p>
            <a:r>
              <a:rPr lang="en-US" dirty="0"/>
              <a:t>Log in/Create an Account</a:t>
            </a:r>
          </a:p>
          <a:p>
            <a:r>
              <a:rPr lang="en-US" dirty="0"/>
              <a:t>Click on the 'assignment' to make yourself a copy</a:t>
            </a:r>
          </a:p>
          <a:p>
            <a:r>
              <a:rPr lang="en-US" dirty="0"/>
              <a:t>Follow along with hands on exercises</a:t>
            </a:r>
          </a:p>
        </p:txBody>
      </p:sp>
      <p:sp>
        <p:nvSpPr>
          <p:cNvPr id="3" name="Title 2">
            <a:extLst>
              <a:ext uri="{FF2B5EF4-FFF2-40B4-BE49-F238E27FC236}">
                <a16:creationId xmlns:a16="http://schemas.microsoft.com/office/drawing/2014/main" id="{EBC3E432-3468-DC35-4B9C-41805C52B9C9}"/>
              </a:ext>
            </a:extLst>
          </p:cNvPr>
          <p:cNvSpPr>
            <a:spLocks noGrp="1"/>
          </p:cNvSpPr>
          <p:nvPr>
            <p:ph type="title"/>
          </p:nvPr>
        </p:nvSpPr>
        <p:spPr/>
        <p:txBody>
          <a:bodyPr/>
          <a:lstStyle/>
          <a:p>
            <a:r>
              <a:rPr lang="en-US"/>
              <a:t>Getting Started</a:t>
            </a:r>
          </a:p>
        </p:txBody>
      </p:sp>
    </p:spTree>
    <p:extLst>
      <p:ext uri="{BB962C8B-B14F-4D97-AF65-F5344CB8AC3E}">
        <p14:creationId xmlns:p14="http://schemas.microsoft.com/office/powerpoint/2010/main" val="38624841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6530C18-4222-C0A8-C587-B609DBD15F8F}"/>
              </a:ext>
            </a:extLst>
          </p:cNvPr>
          <p:cNvSpPr>
            <a:spLocks noGrp="1"/>
          </p:cNvSpPr>
          <p:nvPr>
            <p:ph type="body" idx="1"/>
          </p:nvPr>
        </p:nvSpPr>
        <p:spPr>
          <a:xfrm>
            <a:off x="353762" y="1028388"/>
            <a:ext cx="11159045" cy="3834837"/>
          </a:xfrm>
        </p:spPr>
        <p:txBody>
          <a:bodyPr/>
          <a:lstStyle/>
          <a:p>
            <a:pPr marL="25400" indent="0">
              <a:buNone/>
            </a:pPr>
            <a:r>
              <a:rPr lang="en-US" b="0" i="0" dirty="0">
                <a:solidFill>
                  <a:srgbClr val="1F2328"/>
                </a:solidFill>
                <a:effectLst/>
                <a:latin typeface="-apple-system"/>
              </a:rPr>
              <a:t>5 min </a:t>
            </a:r>
            <a:r>
              <a:rPr lang="en-US" dirty="0">
                <a:solidFill>
                  <a:srgbClr val="1F2328"/>
                </a:solidFill>
                <a:latin typeface="-apple-system"/>
              </a:rPr>
              <a:t>– </a:t>
            </a:r>
            <a:r>
              <a:rPr lang="en-US" b="0" i="0" dirty="0" err="1">
                <a:solidFill>
                  <a:srgbClr val="1F2328"/>
                </a:solidFill>
                <a:effectLst/>
                <a:latin typeface="-apple-system"/>
              </a:rPr>
              <a:t>OpenRBQM</a:t>
            </a:r>
            <a:r>
              <a:rPr lang="en-US" dirty="0">
                <a:solidFill>
                  <a:srgbClr val="1F2328"/>
                </a:solidFill>
                <a:latin typeface="-apple-system"/>
              </a:rPr>
              <a:t>/IMPALA – Jeremy Howells</a:t>
            </a:r>
            <a:endParaRPr lang="en-US" b="0" i="0" dirty="0">
              <a:solidFill>
                <a:srgbClr val="1F2328"/>
              </a:solidFill>
              <a:effectLst/>
              <a:latin typeface="-apple-system"/>
            </a:endParaRPr>
          </a:p>
          <a:p>
            <a:pPr marL="25400" indent="0">
              <a:buNone/>
            </a:pPr>
            <a:r>
              <a:rPr lang="en-US" b="0" i="0" dirty="0">
                <a:solidFill>
                  <a:srgbClr val="1F2328"/>
                </a:solidFill>
                <a:effectLst/>
                <a:latin typeface="-apple-system"/>
              </a:rPr>
              <a:t>10 min – RBQM Overview – Chris Wells</a:t>
            </a:r>
          </a:p>
          <a:p>
            <a:pPr marL="25400" indent="0">
              <a:buNone/>
            </a:pPr>
            <a:r>
              <a:rPr lang="en-US" dirty="0">
                <a:solidFill>
                  <a:srgbClr val="1F2328"/>
                </a:solidFill>
                <a:latin typeface="-apple-system"/>
              </a:rPr>
              <a:t>5 min – Introduction {</a:t>
            </a:r>
            <a:r>
              <a:rPr lang="en-US" dirty="0" err="1">
                <a:solidFill>
                  <a:srgbClr val="1F2328"/>
                </a:solidFill>
                <a:latin typeface="-apple-system"/>
              </a:rPr>
              <a:t>gsm</a:t>
            </a:r>
            <a:r>
              <a:rPr lang="en-US" dirty="0">
                <a:solidFill>
                  <a:srgbClr val="1F2328"/>
                </a:solidFill>
                <a:latin typeface="-apple-system"/>
              </a:rPr>
              <a:t>} – Björn </a:t>
            </a:r>
            <a:r>
              <a:rPr lang="en-US" dirty="0" err="1">
                <a:solidFill>
                  <a:srgbClr val="1F2328"/>
                </a:solidFill>
                <a:latin typeface="-apple-system"/>
              </a:rPr>
              <a:t>Koneswarakantha</a:t>
            </a:r>
            <a:endParaRPr lang="en-US" dirty="0">
              <a:solidFill>
                <a:srgbClr val="1F2328"/>
              </a:solidFill>
              <a:latin typeface="-apple-system"/>
            </a:endParaRPr>
          </a:p>
          <a:p>
            <a:pPr marL="25400" indent="0">
              <a:buNone/>
            </a:pPr>
            <a:r>
              <a:rPr lang="en-US" b="0" i="0" dirty="0">
                <a:solidFill>
                  <a:srgbClr val="1F2328"/>
                </a:solidFill>
                <a:effectLst/>
                <a:latin typeface="-apple-system"/>
              </a:rPr>
              <a:t>15 min – Hands on Analytics – Mariia </a:t>
            </a:r>
            <a:r>
              <a:rPr lang="en-US" b="0" i="0" dirty="0" err="1">
                <a:solidFill>
                  <a:srgbClr val="1F2328"/>
                </a:solidFill>
                <a:effectLst/>
                <a:latin typeface="-apple-system"/>
              </a:rPr>
              <a:t>Lapaeva</a:t>
            </a:r>
            <a:endParaRPr lang="en-US" b="0" i="0" dirty="0">
              <a:solidFill>
                <a:srgbClr val="1F2328"/>
              </a:solidFill>
              <a:effectLst/>
              <a:latin typeface="-apple-system"/>
            </a:endParaRPr>
          </a:p>
          <a:p>
            <a:pPr marL="25400" indent="0">
              <a:buNone/>
            </a:pPr>
            <a:r>
              <a:rPr lang="en-US" dirty="0">
                <a:solidFill>
                  <a:srgbClr val="1F2328"/>
                </a:solidFill>
                <a:latin typeface="-apple-system"/>
              </a:rPr>
              <a:t>15 min – Deep Dive – Björn </a:t>
            </a:r>
            <a:r>
              <a:rPr lang="en-US" dirty="0" err="1">
                <a:solidFill>
                  <a:srgbClr val="1F2328"/>
                </a:solidFill>
                <a:latin typeface="-apple-system"/>
              </a:rPr>
              <a:t>Koneswarakantha</a:t>
            </a:r>
            <a:r>
              <a:rPr lang="en-US" dirty="0">
                <a:solidFill>
                  <a:srgbClr val="1F2328"/>
                </a:solidFill>
                <a:latin typeface="-apple-system"/>
              </a:rPr>
              <a:t> </a:t>
            </a:r>
            <a:endParaRPr lang="en-US" b="0" i="0" dirty="0">
              <a:solidFill>
                <a:srgbClr val="1F2328"/>
              </a:solidFill>
              <a:effectLst/>
              <a:latin typeface="-apple-system"/>
            </a:endParaRPr>
          </a:p>
          <a:p>
            <a:pPr marL="25400" indent="0">
              <a:buNone/>
            </a:pPr>
            <a:r>
              <a:rPr lang="en-US" dirty="0">
                <a:solidFill>
                  <a:srgbClr val="1F2328"/>
                </a:solidFill>
                <a:latin typeface="-apple-system"/>
              </a:rPr>
              <a:t>10</a:t>
            </a:r>
            <a:r>
              <a:rPr lang="en-US" b="0" i="0" dirty="0">
                <a:solidFill>
                  <a:srgbClr val="1F2328"/>
                </a:solidFill>
                <a:effectLst/>
                <a:latin typeface="-apple-system"/>
              </a:rPr>
              <a:t> min </a:t>
            </a:r>
            <a:r>
              <a:rPr lang="en-US" dirty="0">
                <a:solidFill>
                  <a:srgbClr val="1F2328"/>
                </a:solidFill>
                <a:latin typeface="-apple-system"/>
              </a:rPr>
              <a:t>– Introduction {</a:t>
            </a:r>
            <a:r>
              <a:rPr lang="en-US" dirty="0" err="1">
                <a:solidFill>
                  <a:srgbClr val="1F2328"/>
                </a:solidFill>
                <a:latin typeface="-apple-system"/>
              </a:rPr>
              <a:t>ctas</a:t>
            </a:r>
            <a:r>
              <a:rPr lang="en-US" dirty="0">
                <a:solidFill>
                  <a:srgbClr val="1F2328"/>
                </a:solidFill>
                <a:latin typeface="-apple-system"/>
              </a:rPr>
              <a:t>} – Pekka </a:t>
            </a:r>
            <a:r>
              <a:rPr lang="en-US" dirty="0" err="1">
                <a:solidFill>
                  <a:srgbClr val="1F2328"/>
                </a:solidFill>
                <a:latin typeface="-apple-system"/>
              </a:rPr>
              <a:t>Tiikkainen</a:t>
            </a:r>
            <a:endParaRPr lang="en-US" dirty="0">
              <a:solidFill>
                <a:srgbClr val="1F2328"/>
              </a:solidFill>
              <a:latin typeface="-apple-system"/>
            </a:endParaRPr>
          </a:p>
          <a:p>
            <a:pPr marL="25400" indent="0">
              <a:buNone/>
            </a:pPr>
            <a:r>
              <a:rPr lang="en-US" b="0" i="0" dirty="0">
                <a:solidFill>
                  <a:srgbClr val="1F2328"/>
                </a:solidFill>
                <a:effectLst/>
                <a:latin typeface="-apple-system"/>
              </a:rPr>
              <a:t>20 min </a:t>
            </a:r>
            <a:r>
              <a:rPr lang="en-US" dirty="0">
                <a:solidFill>
                  <a:srgbClr val="1F2328"/>
                </a:solidFill>
                <a:latin typeface="-apple-system"/>
              </a:rPr>
              <a:t>– Hands on Analytics – Pekka </a:t>
            </a:r>
            <a:r>
              <a:rPr lang="en-US" dirty="0" err="1">
                <a:solidFill>
                  <a:srgbClr val="1F2328"/>
                </a:solidFill>
                <a:latin typeface="-apple-system"/>
              </a:rPr>
              <a:t>Tiikkainen</a:t>
            </a:r>
            <a:endParaRPr lang="en-US" dirty="0">
              <a:solidFill>
                <a:srgbClr val="1F2328"/>
              </a:solidFill>
              <a:latin typeface="-apple-system"/>
            </a:endParaRPr>
          </a:p>
          <a:p>
            <a:pPr marL="25400" indent="0">
              <a:buNone/>
            </a:pPr>
            <a:r>
              <a:rPr lang="en-US" b="0" i="0" dirty="0">
                <a:solidFill>
                  <a:srgbClr val="1F2328"/>
                </a:solidFill>
                <a:effectLst/>
                <a:latin typeface="-apple-system"/>
              </a:rPr>
              <a:t>10 min </a:t>
            </a:r>
            <a:r>
              <a:rPr lang="en-US" dirty="0">
                <a:solidFill>
                  <a:srgbClr val="1F2328"/>
                </a:solidFill>
                <a:latin typeface="-apple-system"/>
              </a:rPr>
              <a:t>– Wrap-up – Jeremy Howells</a:t>
            </a:r>
            <a:endParaRPr lang="en-US" dirty="0"/>
          </a:p>
        </p:txBody>
      </p:sp>
      <p:sp>
        <p:nvSpPr>
          <p:cNvPr id="3" name="Title 2">
            <a:extLst>
              <a:ext uri="{FF2B5EF4-FFF2-40B4-BE49-F238E27FC236}">
                <a16:creationId xmlns:a16="http://schemas.microsoft.com/office/drawing/2014/main" id="{CFE486C8-D78D-BF92-B05A-E53533BB1791}"/>
              </a:ext>
            </a:extLst>
          </p:cNvPr>
          <p:cNvSpPr>
            <a:spLocks noGrp="1"/>
          </p:cNvSpPr>
          <p:nvPr>
            <p:ph type="title"/>
          </p:nvPr>
        </p:nvSpPr>
        <p:spPr>
          <a:xfrm>
            <a:off x="353763" y="417838"/>
            <a:ext cx="11159045" cy="693045"/>
          </a:xfrm>
        </p:spPr>
        <p:txBody>
          <a:bodyPr/>
          <a:lstStyle/>
          <a:p>
            <a:r>
              <a:rPr lang="en-US" dirty="0"/>
              <a:t>Agenda</a:t>
            </a:r>
          </a:p>
        </p:txBody>
      </p:sp>
    </p:spTree>
    <p:extLst>
      <p:ext uri="{BB962C8B-B14F-4D97-AF65-F5344CB8AC3E}">
        <p14:creationId xmlns:p14="http://schemas.microsoft.com/office/powerpoint/2010/main" val="38896971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1792982-EB45-BAE9-8327-B0EDD189FD12}"/>
              </a:ext>
            </a:extLst>
          </p:cNvPr>
          <p:cNvSpPr>
            <a:spLocks noGrp="1"/>
          </p:cNvSpPr>
          <p:nvPr>
            <p:ph type="body" idx="1"/>
          </p:nvPr>
        </p:nvSpPr>
        <p:spPr/>
        <p:txBody>
          <a:bodyPr/>
          <a:lstStyle/>
          <a:p>
            <a:r>
              <a:rPr lang="en-US" dirty="0"/>
              <a:t>Understand what RBQM is and how it’s done</a:t>
            </a:r>
          </a:p>
          <a:p>
            <a:r>
              <a:rPr lang="en-US" dirty="0"/>
              <a:t>Learn about open-source collaboration and contribution</a:t>
            </a:r>
          </a:p>
          <a:p>
            <a:r>
              <a:rPr lang="en-US" dirty="0"/>
              <a:t>Learn how to evaluate KRIs on your own studies</a:t>
            </a:r>
          </a:p>
          <a:p>
            <a:r>
              <a:rPr lang="en-US" dirty="0"/>
              <a:t>Learn how to detect anomalies in your clinical trial data</a:t>
            </a:r>
          </a:p>
        </p:txBody>
      </p:sp>
      <p:sp>
        <p:nvSpPr>
          <p:cNvPr id="3" name="Title 2">
            <a:extLst>
              <a:ext uri="{FF2B5EF4-FFF2-40B4-BE49-F238E27FC236}">
                <a16:creationId xmlns:a16="http://schemas.microsoft.com/office/drawing/2014/main" id="{44BA501E-D32E-7B7C-081C-7F2C65A989C3}"/>
              </a:ext>
            </a:extLst>
          </p:cNvPr>
          <p:cNvSpPr>
            <a:spLocks noGrp="1"/>
          </p:cNvSpPr>
          <p:nvPr>
            <p:ph type="title"/>
          </p:nvPr>
        </p:nvSpPr>
        <p:spPr/>
        <p:txBody>
          <a:bodyPr/>
          <a:lstStyle/>
          <a:p>
            <a:r>
              <a:rPr lang="en-US"/>
              <a:t>Workshop Objectives</a:t>
            </a:r>
          </a:p>
        </p:txBody>
      </p:sp>
    </p:spTree>
    <p:extLst>
      <p:ext uri="{BB962C8B-B14F-4D97-AF65-F5344CB8AC3E}">
        <p14:creationId xmlns:p14="http://schemas.microsoft.com/office/powerpoint/2010/main" val="21636763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D449AD8-18D9-B9CC-61D0-D26610E7B2FA}"/>
              </a:ext>
            </a:extLst>
          </p:cNvPr>
          <p:cNvSpPr>
            <a:spLocks noGrp="1"/>
          </p:cNvSpPr>
          <p:nvPr>
            <p:ph type="body" sz="quarter" idx="10"/>
          </p:nvPr>
        </p:nvSpPr>
        <p:spPr/>
        <p:txBody>
          <a:bodyPr/>
          <a:lstStyle/>
          <a:p>
            <a:r>
              <a:rPr lang="de-CH" dirty="0"/>
              <a:t>Cross Industry Organisation</a:t>
            </a:r>
            <a:endParaRPr lang="en-US" dirty="0"/>
          </a:p>
        </p:txBody>
      </p:sp>
      <p:pic>
        <p:nvPicPr>
          <p:cNvPr id="3" name="Picture 2" descr="IMPALA Consortium Logo">
            <a:extLst>
              <a:ext uri="{FF2B5EF4-FFF2-40B4-BE49-F238E27FC236}">
                <a16:creationId xmlns:a16="http://schemas.microsoft.com/office/drawing/2014/main" id="{7ACD5C9E-546C-D525-34F8-D6DB90FB85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1478" y="1406569"/>
            <a:ext cx="2466461" cy="75967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a:extLst>
              <a:ext uri="{FF2B5EF4-FFF2-40B4-BE49-F238E27FC236}">
                <a16:creationId xmlns:a16="http://schemas.microsoft.com/office/drawing/2014/main" id="{50F9670F-5BDB-54CA-36A3-55FE8C9430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118795"/>
            <a:ext cx="6099797" cy="1274762"/>
          </a:xfrm>
          <a:prstGeom prst="rect">
            <a:avLst/>
          </a:prstGeom>
          <a:noFill/>
          <a:extLst>
            <a:ext uri="{909E8E84-426E-40DD-AFC4-6F175D3DCCD1}">
              <a14:hiddenFill xmlns:a14="http://schemas.microsoft.com/office/drawing/2010/main">
                <a:solidFill>
                  <a:srgbClr val="FFFFFF"/>
                </a:solidFill>
              </a14:hiddenFill>
            </a:ext>
          </a:extLst>
        </p:spPr>
      </p:pic>
      <p:sp>
        <p:nvSpPr>
          <p:cNvPr id="6" name="Text Placeholder 3">
            <a:extLst>
              <a:ext uri="{FF2B5EF4-FFF2-40B4-BE49-F238E27FC236}">
                <a16:creationId xmlns:a16="http://schemas.microsoft.com/office/drawing/2014/main" id="{27FC1467-F9D8-37DE-A51E-A937D91736D2}"/>
              </a:ext>
            </a:extLst>
          </p:cNvPr>
          <p:cNvSpPr txBox="1">
            <a:spLocks/>
          </p:cNvSpPr>
          <p:nvPr/>
        </p:nvSpPr>
        <p:spPr>
          <a:xfrm>
            <a:off x="591478" y="2518492"/>
            <a:ext cx="5342992" cy="3873789"/>
          </a:xfrm>
          <a:prstGeom prst="rect">
            <a:avLst/>
          </a:prstGeom>
        </p:spPr>
        <p:txBody>
          <a:bodyPr/>
          <a:lstStyle>
            <a:lvl1pPr marL="228589" indent="-228589" algn="l" defTabSz="914354" rtl="0" eaLnBrk="1" latinLnBrk="0" hangingPunct="1">
              <a:lnSpc>
                <a:spcPct val="90000"/>
              </a:lnSpc>
              <a:spcBef>
                <a:spcPts val="1000"/>
              </a:spcBef>
              <a:buClr>
                <a:srgbClr val="0066A1"/>
              </a:buClr>
              <a:buFont typeface="LucidaGrande" charset="0"/>
              <a:buChar char="▸"/>
              <a:defRPr sz="2200" kern="1200">
                <a:solidFill>
                  <a:schemeClr val="tx1"/>
                </a:solidFill>
                <a:latin typeface="+mn-lt"/>
                <a:ea typeface="+mn-ea"/>
                <a:cs typeface="+mn-cs"/>
              </a:defRPr>
            </a:lvl1pPr>
            <a:lvl2pPr marL="685766" indent="-228589" algn="l" defTabSz="914354" rtl="0" eaLnBrk="1" latinLnBrk="0" hangingPunct="1">
              <a:lnSpc>
                <a:spcPct val="90000"/>
              </a:lnSpc>
              <a:spcBef>
                <a:spcPts val="500"/>
              </a:spcBef>
              <a:buClr>
                <a:srgbClr val="0066A1"/>
              </a:buClr>
              <a:buFont typeface="LucidaGrande" charset="0"/>
              <a:buChar char="-"/>
              <a:defRPr sz="1800" kern="1200">
                <a:solidFill>
                  <a:schemeClr val="tx1"/>
                </a:solidFill>
                <a:latin typeface="+mn-lt"/>
                <a:ea typeface="+mn-ea"/>
                <a:cs typeface="+mn-cs"/>
              </a:defRPr>
            </a:lvl2pPr>
            <a:lvl3pPr marL="1142942" indent="-228589" algn="l" defTabSz="914354" rtl="0" eaLnBrk="1" latinLnBrk="0" hangingPunct="1">
              <a:lnSpc>
                <a:spcPct val="90000"/>
              </a:lnSpc>
              <a:spcBef>
                <a:spcPts val="500"/>
              </a:spcBef>
              <a:buClr>
                <a:srgbClr val="0066A1"/>
              </a:buClr>
              <a:buFont typeface="Arial" panose="020B0604020202020204" pitchFamily="34" charset="0"/>
              <a:buChar char="•"/>
              <a:defRPr sz="1800" kern="1200">
                <a:solidFill>
                  <a:schemeClr val="tx1"/>
                </a:solidFill>
                <a:latin typeface="+mn-lt"/>
                <a:ea typeface="+mn-ea"/>
                <a:cs typeface="+mn-cs"/>
              </a:defRPr>
            </a:lvl3pPr>
            <a:lvl4pPr marL="1600120" indent="-228589" algn="l" defTabSz="914354" rtl="0" eaLnBrk="1" latinLnBrk="0" hangingPunct="1">
              <a:lnSpc>
                <a:spcPct val="90000"/>
              </a:lnSpc>
              <a:spcBef>
                <a:spcPts val="500"/>
              </a:spcBef>
              <a:buClr>
                <a:srgbClr val="0066A1"/>
              </a:buClr>
              <a:buFont typeface="Wingdings" charset="2"/>
              <a:buChar char="§"/>
              <a:defRPr sz="1800" kern="1200">
                <a:solidFill>
                  <a:schemeClr val="tx1"/>
                </a:solidFill>
                <a:latin typeface="+mn-lt"/>
                <a:ea typeface="+mn-ea"/>
                <a:cs typeface="+mn-cs"/>
              </a:defRPr>
            </a:lvl4pPr>
            <a:lvl5pPr marL="2057298" indent="-228589" algn="l" defTabSz="914354" rtl="0" eaLnBrk="1" latinLnBrk="0" hangingPunct="1">
              <a:lnSpc>
                <a:spcPct val="90000"/>
              </a:lnSpc>
              <a:spcBef>
                <a:spcPts val="500"/>
              </a:spcBef>
              <a:buClr>
                <a:srgbClr val="0066A1"/>
              </a:buClr>
              <a:buFont typeface="Courier New" charset="0"/>
              <a:buChar char="o"/>
              <a:defRPr sz="1800" kern="1200">
                <a:solidFill>
                  <a:schemeClr val="tx1"/>
                </a:solidFill>
                <a:latin typeface="+mn-lt"/>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r>
              <a:rPr lang="en-US" sz="2000" dirty="0"/>
              <a:t>Founded 2022</a:t>
            </a:r>
          </a:p>
          <a:p>
            <a:pPr marL="342900" indent="-342900"/>
            <a:r>
              <a:rPr lang="en-US" sz="2000" dirty="0"/>
              <a:t>19 industry members</a:t>
            </a:r>
          </a:p>
          <a:p>
            <a:pPr marL="342900" indent="-342900"/>
            <a:r>
              <a:rPr lang="en-US" sz="2000" dirty="0">
                <a:solidFill>
                  <a:srgbClr val="4375A5"/>
                </a:solidFill>
                <a:hlinkClick r:id="rId4">
                  <a:extLst>
                    <a:ext uri="{A12FA001-AC4F-418D-AE19-62706E023703}">
                      <ahyp:hlinkClr xmlns:ahyp="http://schemas.microsoft.com/office/drawing/2018/hyperlinkcolor" val="tx"/>
                    </a:ext>
                  </a:extLst>
                </a:hlinkClick>
              </a:rPr>
              <a:t>https://impala-consortium.org/</a:t>
            </a:r>
            <a:endParaRPr lang="en-US" sz="2000" dirty="0">
              <a:solidFill>
                <a:srgbClr val="4375A5"/>
              </a:solidFill>
            </a:endParaRPr>
          </a:p>
          <a:p>
            <a:pPr marL="342900" indent="-342900"/>
            <a:r>
              <a:rPr lang="en-US" sz="2000" dirty="0"/>
              <a:t>Statistical Open Source Packages</a:t>
            </a:r>
          </a:p>
          <a:p>
            <a:pPr marL="342900" indent="-342900"/>
            <a:r>
              <a:rPr lang="en-US" sz="2000" dirty="0"/>
              <a:t>Scientific Publications</a:t>
            </a:r>
          </a:p>
          <a:p>
            <a:pPr marL="342900" indent="-342900"/>
            <a:r>
              <a:rPr lang="en-US" sz="2000" dirty="0"/>
              <a:t>Quality Frameworks (RAPID, Quality Briefs)</a:t>
            </a:r>
          </a:p>
          <a:p>
            <a:pPr marL="342900" indent="-342900"/>
            <a:r>
              <a:rPr lang="en-US" sz="2000" dirty="0"/>
              <a:t>Joint Health Authority Engagement</a:t>
            </a:r>
          </a:p>
          <a:p>
            <a:endParaRPr lang="en-US" dirty="0"/>
          </a:p>
        </p:txBody>
      </p:sp>
      <p:sp>
        <p:nvSpPr>
          <p:cNvPr id="7" name="Text Placeholder 3">
            <a:extLst>
              <a:ext uri="{FF2B5EF4-FFF2-40B4-BE49-F238E27FC236}">
                <a16:creationId xmlns:a16="http://schemas.microsoft.com/office/drawing/2014/main" id="{CDA1784B-E904-1BDB-DD5A-1938B8444308}"/>
              </a:ext>
            </a:extLst>
          </p:cNvPr>
          <p:cNvSpPr txBox="1">
            <a:spLocks/>
          </p:cNvSpPr>
          <p:nvPr/>
        </p:nvSpPr>
        <p:spPr>
          <a:xfrm>
            <a:off x="5972909" y="2530791"/>
            <a:ext cx="5342992" cy="3873789"/>
          </a:xfrm>
          <a:prstGeom prst="rect">
            <a:avLst/>
          </a:prstGeom>
        </p:spPr>
        <p:txBody>
          <a:bodyPr/>
          <a:lstStyle>
            <a:lvl1pPr marL="228589" indent="-228589" algn="l" defTabSz="914354" rtl="0" eaLnBrk="1" latinLnBrk="0" hangingPunct="1">
              <a:lnSpc>
                <a:spcPct val="90000"/>
              </a:lnSpc>
              <a:spcBef>
                <a:spcPts val="1000"/>
              </a:spcBef>
              <a:buClr>
                <a:srgbClr val="0066A1"/>
              </a:buClr>
              <a:buFont typeface="LucidaGrande" charset="0"/>
              <a:buChar char="▸"/>
              <a:defRPr sz="2200" kern="1200">
                <a:solidFill>
                  <a:schemeClr val="tx1"/>
                </a:solidFill>
                <a:latin typeface="+mn-lt"/>
                <a:ea typeface="+mn-ea"/>
                <a:cs typeface="+mn-cs"/>
              </a:defRPr>
            </a:lvl1pPr>
            <a:lvl2pPr marL="685766" indent="-228589" algn="l" defTabSz="914354" rtl="0" eaLnBrk="1" latinLnBrk="0" hangingPunct="1">
              <a:lnSpc>
                <a:spcPct val="90000"/>
              </a:lnSpc>
              <a:spcBef>
                <a:spcPts val="500"/>
              </a:spcBef>
              <a:buClr>
                <a:srgbClr val="0066A1"/>
              </a:buClr>
              <a:buFont typeface="LucidaGrande" charset="0"/>
              <a:buChar char="-"/>
              <a:defRPr sz="1800" kern="1200">
                <a:solidFill>
                  <a:schemeClr val="tx1"/>
                </a:solidFill>
                <a:latin typeface="+mn-lt"/>
                <a:ea typeface="+mn-ea"/>
                <a:cs typeface="+mn-cs"/>
              </a:defRPr>
            </a:lvl2pPr>
            <a:lvl3pPr marL="1142942" indent="-228589" algn="l" defTabSz="914354" rtl="0" eaLnBrk="1" latinLnBrk="0" hangingPunct="1">
              <a:lnSpc>
                <a:spcPct val="90000"/>
              </a:lnSpc>
              <a:spcBef>
                <a:spcPts val="500"/>
              </a:spcBef>
              <a:buClr>
                <a:srgbClr val="0066A1"/>
              </a:buClr>
              <a:buFont typeface="Arial" panose="020B0604020202020204" pitchFamily="34" charset="0"/>
              <a:buChar char="•"/>
              <a:defRPr sz="1800" kern="1200">
                <a:solidFill>
                  <a:schemeClr val="tx1"/>
                </a:solidFill>
                <a:latin typeface="+mn-lt"/>
                <a:ea typeface="+mn-ea"/>
                <a:cs typeface="+mn-cs"/>
              </a:defRPr>
            </a:lvl3pPr>
            <a:lvl4pPr marL="1600120" indent="-228589" algn="l" defTabSz="914354" rtl="0" eaLnBrk="1" latinLnBrk="0" hangingPunct="1">
              <a:lnSpc>
                <a:spcPct val="90000"/>
              </a:lnSpc>
              <a:spcBef>
                <a:spcPts val="500"/>
              </a:spcBef>
              <a:buClr>
                <a:srgbClr val="0066A1"/>
              </a:buClr>
              <a:buFont typeface="Wingdings" charset="2"/>
              <a:buChar char="§"/>
              <a:defRPr sz="1800" kern="1200">
                <a:solidFill>
                  <a:schemeClr val="tx1"/>
                </a:solidFill>
                <a:latin typeface="+mn-lt"/>
                <a:ea typeface="+mn-ea"/>
                <a:cs typeface="+mn-cs"/>
              </a:defRPr>
            </a:lvl4pPr>
            <a:lvl5pPr marL="2057298" indent="-228589" algn="l" defTabSz="914354" rtl="0" eaLnBrk="1" latinLnBrk="0" hangingPunct="1">
              <a:lnSpc>
                <a:spcPct val="90000"/>
              </a:lnSpc>
              <a:spcBef>
                <a:spcPts val="500"/>
              </a:spcBef>
              <a:buClr>
                <a:srgbClr val="0066A1"/>
              </a:buClr>
              <a:buFont typeface="Courier New" charset="0"/>
              <a:buChar char="o"/>
              <a:defRPr sz="1800" kern="1200">
                <a:solidFill>
                  <a:schemeClr val="tx1"/>
                </a:solidFill>
                <a:latin typeface="+mn-lt"/>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sz="2000" dirty="0"/>
              <a:t>Founded 2024</a:t>
            </a:r>
          </a:p>
          <a:p>
            <a:pPr marL="342900" indent="-342900">
              <a:buFont typeface="Arial" panose="020B0604020202020204" pitchFamily="34" charset="0"/>
              <a:buChar char="•"/>
            </a:pPr>
            <a:r>
              <a:rPr lang="en-US" sz="2000" dirty="0"/>
              <a:t>&gt; 3 industry members</a:t>
            </a:r>
          </a:p>
          <a:p>
            <a:pPr marL="342900" indent="-342900">
              <a:buFont typeface="Arial" panose="020B0604020202020204" pitchFamily="34" charset="0"/>
              <a:buChar char="•"/>
            </a:pPr>
            <a:r>
              <a:rPr lang="en-US" sz="2000" dirty="0"/>
              <a:t>RBQM focus (Critical to Quality, Centralized Monitoring, Quality Tolerance Limits)</a:t>
            </a:r>
          </a:p>
          <a:p>
            <a:pPr marL="342900" indent="-342900">
              <a:buFont typeface="Arial" panose="020B0604020202020204" pitchFamily="34" charset="0"/>
              <a:buChar char="•"/>
            </a:pPr>
            <a:r>
              <a:rPr lang="en-US" sz="2000" dirty="0"/>
              <a:t>6 Projects</a:t>
            </a:r>
          </a:p>
          <a:p>
            <a:pPr marL="342900" indent="-342900">
              <a:buFont typeface="Arial" panose="020B0604020202020204" pitchFamily="34" charset="0"/>
              <a:buChar char="•"/>
            </a:pPr>
            <a:r>
              <a:rPr lang="en-US" sz="2000" dirty="0"/>
              <a:t>Open Source Packages</a:t>
            </a:r>
          </a:p>
          <a:p>
            <a:endParaRPr lang="en-US" dirty="0"/>
          </a:p>
        </p:txBody>
      </p:sp>
    </p:spTree>
    <p:extLst>
      <p:ext uri="{BB962C8B-B14F-4D97-AF65-F5344CB8AC3E}">
        <p14:creationId xmlns:p14="http://schemas.microsoft.com/office/powerpoint/2010/main" val="2728792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3934B11-8A8B-59B0-F802-AF3FA66B12BE}"/>
              </a:ext>
            </a:extLst>
          </p:cNvPr>
          <p:cNvSpPr>
            <a:spLocks noGrp="1"/>
          </p:cNvSpPr>
          <p:nvPr>
            <p:ph type="body" idx="1"/>
          </p:nvPr>
        </p:nvSpPr>
        <p:spPr>
          <a:xfrm>
            <a:off x="516477" y="2182094"/>
            <a:ext cx="11159045" cy="1558634"/>
          </a:xfrm>
        </p:spPr>
        <p:txBody>
          <a:bodyPr/>
          <a:lstStyle/>
          <a:p>
            <a:pPr marL="25400" indent="0">
              <a:buNone/>
            </a:pPr>
            <a:r>
              <a:rPr lang="en-US" sz="4800" dirty="0"/>
              <a:t>Part 1 - Intro To RBQM &amp; CM</a:t>
            </a:r>
          </a:p>
          <a:p>
            <a:pPr marL="25400" indent="0">
              <a:buNone/>
            </a:pPr>
            <a:r>
              <a:rPr lang="en-US" dirty="0"/>
              <a:t>Chris Wells</a:t>
            </a:r>
          </a:p>
        </p:txBody>
      </p:sp>
    </p:spTree>
    <p:extLst>
      <p:ext uri="{BB962C8B-B14F-4D97-AF65-F5344CB8AC3E}">
        <p14:creationId xmlns:p14="http://schemas.microsoft.com/office/powerpoint/2010/main" val="38083098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1DDF4DF-1EE4-2E0E-CA99-05D29C260172}"/>
              </a:ext>
            </a:extLst>
          </p:cNvPr>
          <p:cNvGrpSpPr/>
          <p:nvPr/>
        </p:nvGrpSpPr>
        <p:grpSpPr>
          <a:xfrm>
            <a:off x="7105693" y="1995610"/>
            <a:ext cx="4322472" cy="4313238"/>
            <a:chOff x="6926973" y="2073783"/>
            <a:chExt cx="3434151" cy="3426815"/>
          </a:xfrm>
        </p:grpSpPr>
        <p:grpSp>
          <p:nvGrpSpPr>
            <p:cNvPr id="5" name="Group 4">
              <a:extLst>
                <a:ext uri="{FF2B5EF4-FFF2-40B4-BE49-F238E27FC236}">
                  <a16:creationId xmlns:a16="http://schemas.microsoft.com/office/drawing/2014/main" id="{42CA5FFD-3A40-5FD7-040D-907313B5E7CD}"/>
                </a:ext>
              </a:extLst>
            </p:cNvPr>
            <p:cNvGrpSpPr/>
            <p:nvPr/>
          </p:nvGrpSpPr>
          <p:grpSpPr>
            <a:xfrm>
              <a:off x="6963164" y="2131355"/>
              <a:ext cx="3363134" cy="3333754"/>
              <a:chOff x="4018766" y="1431779"/>
              <a:chExt cx="4155863" cy="4119604"/>
            </a:xfrm>
          </p:grpSpPr>
          <p:sp>
            <p:nvSpPr>
              <p:cNvPr id="53" name="Line 109">
                <a:extLst>
                  <a:ext uri="{FF2B5EF4-FFF2-40B4-BE49-F238E27FC236}">
                    <a16:creationId xmlns:a16="http://schemas.microsoft.com/office/drawing/2014/main" id="{BF2068D0-767C-DE98-0378-7597BBBF9206}"/>
                  </a:ext>
                </a:extLst>
              </p:cNvPr>
              <p:cNvSpPr>
                <a:spLocks noChangeShapeType="1"/>
              </p:cNvSpPr>
              <p:nvPr/>
            </p:nvSpPr>
            <p:spPr bwMode="auto">
              <a:xfrm>
                <a:off x="8171839" y="2975585"/>
                <a:ext cx="2789" cy="1036177"/>
              </a:xfrm>
              <a:prstGeom prst="line">
                <a:avLst/>
              </a:prstGeom>
              <a:noFill/>
              <a:ln w="9525">
                <a:solidFill>
                  <a:schemeClr val="bg1">
                    <a:lumMod val="8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54" name="Line 110">
                <a:extLst>
                  <a:ext uri="{FF2B5EF4-FFF2-40B4-BE49-F238E27FC236}">
                    <a16:creationId xmlns:a16="http://schemas.microsoft.com/office/drawing/2014/main" id="{4E0C8EEF-02FB-C467-0454-865A7145B3F4}"/>
                  </a:ext>
                </a:extLst>
              </p:cNvPr>
              <p:cNvSpPr>
                <a:spLocks noChangeShapeType="1"/>
              </p:cNvSpPr>
              <p:nvPr/>
            </p:nvSpPr>
            <p:spPr bwMode="auto">
              <a:xfrm flipV="1">
                <a:off x="5506788" y="5547199"/>
                <a:ext cx="1182608" cy="2789"/>
              </a:xfrm>
              <a:prstGeom prst="line">
                <a:avLst/>
              </a:prstGeom>
              <a:noFill/>
              <a:ln w="9525">
                <a:solidFill>
                  <a:schemeClr val="bg1">
                    <a:lumMod val="85000"/>
                  </a:schemeClr>
                </a:solidFill>
                <a:round/>
                <a:headEnd/>
                <a:tailEnd/>
              </a:ln>
              <a:extLst>
                <a:ext uri="{909E8E84-426E-40DD-AFC4-6F175D3DCCD1}">
                  <a14:hiddenFill xmlns:a14="http://schemas.microsoft.com/office/drawing/2010/main">
                    <a:noFill/>
                  </a14:hiddenFill>
                </a:ext>
              </a:extLst>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55" name="Line 111">
                <a:extLst>
                  <a:ext uri="{FF2B5EF4-FFF2-40B4-BE49-F238E27FC236}">
                    <a16:creationId xmlns:a16="http://schemas.microsoft.com/office/drawing/2014/main" id="{F49E6B3A-ECEB-0A5F-EF43-1216FD0AA773}"/>
                  </a:ext>
                </a:extLst>
              </p:cNvPr>
              <p:cNvSpPr>
                <a:spLocks noChangeShapeType="1"/>
              </p:cNvSpPr>
              <p:nvPr/>
            </p:nvSpPr>
            <p:spPr bwMode="auto">
              <a:xfrm flipV="1">
                <a:off x="5506788" y="5547199"/>
                <a:ext cx="1182608" cy="2789"/>
              </a:xfrm>
              <a:prstGeom prst="line">
                <a:avLst/>
              </a:prstGeom>
              <a:noFill/>
              <a:ln w="9525">
                <a:solidFill>
                  <a:schemeClr val="bg1">
                    <a:lumMod val="8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56" name="Freeform 112">
                <a:extLst>
                  <a:ext uri="{FF2B5EF4-FFF2-40B4-BE49-F238E27FC236}">
                    <a16:creationId xmlns:a16="http://schemas.microsoft.com/office/drawing/2014/main" id="{B5899EA5-A22F-E9CD-ECC9-C2092B672760}"/>
                  </a:ext>
                </a:extLst>
              </p:cNvPr>
              <p:cNvSpPr>
                <a:spLocks/>
              </p:cNvSpPr>
              <p:nvPr/>
            </p:nvSpPr>
            <p:spPr bwMode="auto">
              <a:xfrm>
                <a:off x="4018766" y="1433174"/>
                <a:ext cx="4155863" cy="4116814"/>
              </a:xfrm>
              <a:custGeom>
                <a:avLst/>
                <a:gdLst>
                  <a:gd name="T0" fmla="*/ 10228 w 11918"/>
                  <a:gd name="T1" fmla="*/ 10322 h 11810"/>
                  <a:gd name="T2" fmla="*/ 4268 w 11918"/>
                  <a:gd name="T3" fmla="*/ 11810 h 11810"/>
                  <a:gd name="T4" fmla="*/ 0 w 11918"/>
                  <a:gd name="T5" fmla="*/ 7393 h 11810"/>
                  <a:gd name="T6" fmla="*/ 1690 w 11918"/>
                  <a:gd name="T7" fmla="*/ 1488 h 11810"/>
                  <a:gd name="T8" fmla="*/ 7650 w 11918"/>
                  <a:gd name="T9" fmla="*/ 0 h 11810"/>
                  <a:gd name="T10" fmla="*/ 11918 w 11918"/>
                  <a:gd name="T11" fmla="*/ 4417 h 11810"/>
                  <a:gd name="T12" fmla="*/ 10228 w 11918"/>
                  <a:gd name="T13" fmla="*/ 10322 h 11810"/>
                </a:gdLst>
                <a:ahLst/>
                <a:cxnLst>
                  <a:cxn ang="0">
                    <a:pos x="T0" y="T1"/>
                  </a:cxn>
                  <a:cxn ang="0">
                    <a:pos x="T2" y="T3"/>
                  </a:cxn>
                  <a:cxn ang="0">
                    <a:pos x="T4" y="T5"/>
                  </a:cxn>
                  <a:cxn ang="0">
                    <a:pos x="T6" y="T7"/>
                  </a:cxn>
                  <a:cxn ang="0">
                    <a:pos x="T8" y="T9"/>
                  </a:cxn>
                  <a:cxn ang="0">
                    <a:pos x="T10" y="T11"/>
                  </a:cxn>
                  <a:cxn ang="0">
                    <a:pos x="T12" y="T13"/>
                  </a:cxn>
                </a:cxnLst>
                <a:rect l="0" t="0" r="r" b="b"/>
                <a:pathLst>
                  <a:path w="11918" h="11810">
                    <a:moveTo>
                      <a:pt x="10228" y="10322"/>
                    </a:moveTo>
                    <a:lnTo>
                      <a:pt x="4268" y="11810"/>
                    </a:lnTo>
                    <a:lnTo>
                      <a:pt x="0" y="7393"/>
                    </a:lnTo>
                    <a:lnTo>
                      <a:pt x="1690" y="1488"/>
                    </a:lnTo>
                    <a:lnTo>
                      <a:pt x="7650" y="0"/>
                    </a:lnTo>
                    <a:lnTo>
                      <a:pt x="11918" y="4417"/>
                    </a:lnTo>
                    <a:lnTo>
                      <a:pt x="10228" y="10322"/>
                    </a:lnTo>
                    <a:close/>
                  </a:path>
                </a:pathLst>
              </a:custGeom>
              <a:noFill/>
              <a:ln w="9525">
                <a:solidFill>
                  <a:schemeClr val="bg1">
                    <a:lumMod val="8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57" name="Freeform 113">
                <a:extLst>
                  <a:ext uri="{FF2B5EF4-FFF2-40B4-BE49-F238E27FC236}">
                    <a16:creationId xmlns:a16="http://schemas.microsoft.com/office/drawing/2014/main" id="{5D5B4AB6-0880-6AB2-8D4B-8BE2A891D4B0}"/>
                  </a:ext>
                </a:extLst>
              </p:cNvPr>
              <p:cNvSpPr>
                <a:spLocks/>
              </p:cNvSpPr>
              <p:nvPr/>
            </p:nvSpPr>
            <p:spPr bwMode="auto">
              <a:xfrm>
                <a:off x="4018766" y="1431779"/>
                <a:ext cx="4155863" cy="4119603"/>
              </a:xfrm>
              <a:custGeom>
                <a:avLst/>
                <a:gdLst>
                  <a:gd name="T0" fmla="*/ 11918 w 11918"/>
                  <a:gd name="T1" fmla="*/ 7399 h 11813"/>
                  <a:gd name="T2" fmla="*/ 7646 w 11918"/>
                  <a:gd name="T3" fmla="*/ 11813 h 11813"/>
                  <a:gd name="T4" fmla="*/ 1688 w 11918"/>
                  <a:gd name="T5" fmla="*/ 10321 h 11813"/>
                  <a:gd name="T6" fmla="*/ 0 w 11918"/>
                  <a:gd name="T7" fmla="*/ 4414 h 11813"/>
                  <a:gd name="T8" fmla="*/ 4272 w 11918"/>
                  <a:gd name="T9" fmla="*/ 0 h 11813"/>
                  <a:gd name="T10" fmla="*/ 10230 w 11918"/>
                  <a:gd name="T11" fmla="*/ 1493 h 11813"/>
                  <a:gd name="T12" fmla="*/ 11918 w 11918"/>
                  <a:gd name="T13" fmla="*/ 7399 h 11813"/>
                </a:gdLst>
                <a:ahLst/>
                <a:cxnLst>
                  <a:cxn ang="0">
                    <a:pos x="T0" y="T1"/>
                  </a:cxn>
                  <a:cxn ang="0">
                    <a:pos x="T2" y="T3"/>
                  </a:cxn>
                  <a:cxn ang="0">
                    <a:pos x="T4" y="T5"/>
                  </a:cxn>
                  <a:cxn ang="0">
                    <a:pos x="T6" y="T7"/>
                  </a:cxn>
                  <a:cxn ang="0">
                    <a:pos x="T8" y="T9"/>
                  </a:cxn>
                  <a:cxn ang="0">
                    <a:pos x="T10" y="T11"/>
                  </a:cxn>
                  <a:cxn ang="0">
                    <a:pos x="T12" y="T13"/>
                  </a:cxn>
                </a:cxnLst>
                <a:rect l="0" t="0" r="r" b="b"/>
                <a:pathLst>
                  <a:path w="11918" h="11813">
                    <a:moveTo>
                      <a:pt x="11918" y="7399"/>
                    </a:moveTo>
                    <a:lnTo>
                      <a:pt x="7646" y="11813"/>
                    </a:lnTo>
                    <a:lnTo>
                      <a:pt x="1688" y="10321"/>
                    </a:lnTo>
                    <a:lnTo>
                      <a:pt x="0" y="4414"/>
                    </a:lnTo>
                    <a:lnTo>
                      <a:pt x="4272" y="0"/>
                    </a:lnTo>
                    <a:lnTo>
                      <a:pt x="10230" y="1493"/>
                    </a:lnTo>
                    <a:lnTo>
                      <a:pt x="11918" y="7399"/>
                    </a:lnTo>
                    <a:close/>
                  </a:path>
                </a:pathLst>
              </a:custGeom>
              <a:noFill/>
              <a:ln w="9525">
                <a:solidFill>
                  <a:schemeClr val="bg1">
                    <a:lumMod val="8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58" name="Freeform 114">
                <a:extLst>
                  <a:ext uri="{FF2B5EF4-FFF2-40B4-BE49-F238E27FC236}">
                    <a16:creationId xmlns:a16="http://schemas.microsoft.com/office/drawing/2014/main" id="{2E9F93DC-8B24-8AE8-D03F-ADEA09050C87}"/>
                  </a:ext>
                </a:extLst>
              </p:cNvPr>
              <p:cNvSpPr>
                <a:spLocks/>
              </p:cNvSpPr>
              <p:nvPr/>
            </p:nvSpPr>
            <p:spPr bwMode="auto">
              <a:xfrm>
                <a:off x="4441325" y="1820869"/>
                <a:ext cx="1069647" cy="1059884"/>
              </a:xfrm>
              <a:custGeom>
                <a:avLst/>
                <a:gdLst>
                  <a:gd name="T0" fmla="*/ 0 w 3069"/>
                  <a:gd name="T1" fmla="*/ 2048 h 3041"/>
                  <a:gd name="T2" fmla="*/ 3069 w 3069"/>
                  <a:gd name="T3" fmla="*/ 3041 h 3041"/>
                  <a:gd name="T4" fmla="*/ 1983 w 3069"/>
                  <a:gd name="T5" fmla="*/ 0 h 3041"/>
                  <a:gd name="T6" fmla="*/ 0 w 3069"/>
                  <a:gd name="T7" fmla="*/ 2048 h 3041"/>
                </a:gdLst>
                <a:ahLst/>
                <a:cxnLst>
                  <a:cxn ang="0">
                    <a:pos x="T0" y="T1"/>
                  </a:cxn>
                  <a:cxn ang="0">
                    <a:pos x="T2" y="T3"/>
                  </a:cxn>
                  <a:cxn ang="0">
                    <a:pos x="T4" y="T5"/>
                  </a:cxn>
                  <a:cxn ang="0">
                    <a:pos x="T6" y="T7"/>
                  </a:cxn>
                </a:cxnLst>
                <a:rect l="0" t="0" r="r" b="b"/>
                <a:pathLst>
                  <a:path w="3069" h="3041">
                    <a:moveTo>
                      <a:pt x="0" y="2048"/>
                    </a:moveTo>
                    <a:lnTo>
                      <a:pt x="3069" y="3041"/>
                    </a:lnTo>
                    <a:lnTo>
                      <a:pt x="1983" y="0"/>
                    </a:lnTo>
                    <a:lnTo>
                      <a:pt x="0" y="2048"/>
                    </a:lnTo>
                    <a:close/>
                  </a:path>
                </a:pathLst>
              </a:custGeom>
              <a:noFill/>
              <a:ln w="9525">
                <a:solidFill>
                  <a:schemeClr val="bg1">
                    <a:lumMod val="8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59" name="Freeform 115">
                <a:extLst>
                  <a:ext uri="{FF2B5EF4-FFF2-40B4-BE49-F238E27FC236}">
                    <a16:creationId xmlns:a16="http://schemas.microsoft.com/office/drawing/2014/main" id="{7DF153C8-0418-DB74-16CE-3D9A344BAC5C}"/>
                  </a:ext>
                </a:extLst>
              </p:cNvPr>
              <p:cNvSpPr>
                <a:spLocks/>
              </p:cNvSpPr>
              <p:nvPr/>
            </p:nvSpPr>
            <p:spPr bwMode="auto">
              <a:xfrm>
                <a:off x="5131644" y="2536291"/>
                <a:ext cx="2620425" cy="2628793"/>
              </a:xfrm>
              <a:custGeom>
                <a:avLst/>
                <a:gdLst>
                  <a:gd name="T0" fmla="*/ 0 w 7518"/>
                  <a:gd name="T1" fmla="*/ 7531 h 7540"/>
                  <a:gd name="T2" fmla="*/ 1093 w 7518"/>
                  <a:gd name="T3" fmla="*/ 997 h 7540"/>
                  <a:gd name="T4" fmla="*/ 7518 w 7518"/>
                  <a:gd name="T5" fmla="*/ 0 h 7540"/>
                  <a:gd name="T6" fmla="*/ 6841 w 7518"/>
                  <a:gd name="T7" fmla="*/ 2346 h 7540"/>
                  <a:gd name="T8" fmla="*/ 5535 w 7518"/>
                  <a:gd name="T9" fmla="*/ 7540 h 7540"/>
                </a:gdLst>
                <a:ahLst/>
                <a:cxnLst>
                  <a:cxn ang="0">
                    <a:pos x="T0" y="T1"/>
                  </a:cxn>
                  <a:cxn ang="0">
                    <a:pos x="T2" y="T3"/>
                  </a:cxn>
                  <a:cxn ang="0">
                    <a:pos x="T4" y="T5"/>
                  </a:cxn>
                  <a:cxn ang="0">
                    <a:pos x="T6" y="T7"/>
                  </a:cxn>
                  <a:cxn ang="0">
                    <a:pos x="T8" y="T9"/>
                  </a:cxn>
                </a:cxnLst>
                <a:rect l="0" t="0" r="r" b="b"/>
                <a:pathLst>
                  <a:path w="7518" h="7540">
                    <a:moveTo>
                      <a:pt x="0" y="7531"/>
                    </a:moveTo>
                    <a:lnTo>
                      <a:pt x="1093" y="997"/>
                    </a:lnTo>
                    <a:lnTo>
                      <a:pt x="7518" y="0"/>
                    </a:lnTo>
                    <a:lnTo>
                      <a:pt x="6841" y="2346"/>
                    </a:lnTo>
                    <a:lnTo>
                      <a:pt x="5535" y="7540"/>
                    </a:lnTo>
                  </a:path>
                </a:pathLst>
              </a:custGeom>
              <a:noFill/>
              <a:ln w="9525">
                <a:solidFill>
                  <a:schemeClr val="bg1">
                    <a:lumMod val="8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60" name="Line 116">
                <a:extLst>
                  <a:ext uri="{FF2B5EF4-FFF2-40B4-BE49-F238E27FC236}">
                    <a16:creationId xmlns:a16="http://schemas.microsoft.com/office/drawing/2014/main" id="{AFE48CBE-7CC2-9D10-05BC-D6B29ACD0DA9}"/>
                  </a:ext>
                </a:extLst>
              </p:cNvPr>
              <p:cNvSpPr>
                <a:spLocks noChangeShapeType="1"/>
              </p:cNvSpPr>
              <p:nvPr/>
            </p:nvSpPr>
            <p:spPr bwMode="auto">
              <a:xfrm>
                <a:off x="4167987" y="3491582"/>
                <a:ext cx="1177028" cy="460212"/>
              </a:xfrm>
              <a:prstGeom prst="line">
                <a:avLst/>
              </a:prstGeom>
              <a:noFill/>
              <a:ln w="9525">
                <a:solidFill>
                  <a:schemeClr val="bg1">
                    <a:lumMod val="8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61" name="Freeform 117">
                <a:extLst>
                  <a:ext uri="{FF2B5EF4-FFF2-40B4-BE49-F238E27FC236}">
                    <a16:creationId xmlns:a16="http://schemas.microsoft.com/office/drawing/2014/main" id="{10196871-D4FE-3F5C-418A-2F0F76BF09E6}"/>
                  </a:ext>
                </a:extLst>
              </p:cNvPr>
              <p:cNvSpPr>
                <a:spLocks/>
              </p:cNvSpPr>
              <p:nvPr/>
            </p:nvSpPr>
            <p:spPr bwMode="auto">
              <a:xfrm>
                <a:off x="5512366" y="2883543"/>
                <a:ext cx="1549384" cy="2278752"/>
              </a:xfrm>
              <a:custGeom>
                <a:avLst/>
                <a:gdLst>
                  <a:gd name="T0" fmla="*/ 4442 w 4442"/>
                  <a:gd name="T1" fmla="*/ 6534 h 6534"/>
                  <a:gd name="T2" fmla="*/ 2220 w 4442"/>
                  <a:gd name="T3" fmla="*/ 3267 h 6534"/>
                  <a:gd name="T4" fmla="*/ 0 w 4442"/>
                  <a:gd name="T5" fmla="*/ 0 h 6534"/>
                </a:gdLst>
                <a:ahLst/>
                <a:cxnLst>
                  <a:cxn ang="0">
                    <a:pos x="T0" y="T1"/>
                  </a:cxn>
                  <a:cxn ang="0">
                    <a:pos x="T2" y="T3"/>
                  </a:cxn>
                  <a:cxn ang="0">
                    <a:pos x="T4" y="T5"/>
                  </a:cxn>
                </a:cxnLst>
                <a:rect l="0" t="0" r="r" b="b"/>
                <a:pathLst>
                  <a:path w="4442" h="6534">
                    <a:moveTo>
                      <a:pt x="4442" y="6534"/>
                    </a:moveTo>
                    <a:lnTo>
                      <a:pt x="2220" y="3267"/>
                    </a:lnTo>
                    <a:lnTo>
                      <a:pt x="0" y="0"/>
                    </a:lnTo>
                  </a:path>
                </a:pathLst>
              </a:custGeom>
              <a:noFill/>
              <a:ln w="9525">
                <a:solidFill>
                  <a:schemeClr val="bg1">
                    <a:lumMod val="8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62" name="Freeform 118">
                <a:extLst>
                  <a:ext uri="{FF2B5EF4-FFF2-40B4-BE49-F238E27FC236}">
                    <a16:creationId xmlns:a16="http://schemas.microsoft.com/office/drawing/2014/main" id="{DE2F0F5E-08E6-0F13-21B5-ED28E31F544B}"/>
                  </a:ext>
                </a:extLst>
              </p:cNvPr>
              <p:cNvSpPr>
                <a:spLocks/>
              </p:cNvSpPr>
              <p:nvPr/>
            </p:nvSpPr>
            <p:spPr bwMode="auto">
              <a:xfrm>
                <a:off x="5934925" y="1579605"/>
                <a:ext cx="411403" cy="2681787"/>
              </a:xfrm>
              <a:custGeom>
                <a:avLst/>
                <a:gdLst>
                  <a:gd name="T0" fmla="*/ 0 w 1180"/>
                  <a:gd name="T1" fmla="*/ 7691 h 7691"/>
                  <a:gd name="T2" fmla="*/ 460 w 1180"/>
                  <a:gd name="T3" fmla="*/ 0 h 7691"/>
                  <a:gd name="T4" fmla="*/ 1180 w 1180"/>
                  <a:gd name="T5" fmla="*/ 6133 h 7691"/>
                  <a:gd name="T6" fmla="*/ 0 w 1180"/>
                  <a:gd name="T7" fmla="*/ 7691 h 7691"/>
                </a:gdLst>
                <a:ahLst/>
                <a:cxnLst>
                  <a:cxn ang="0">
                    <a:pos x="T0" y="T1"/>
                  </a:cxn>
                  <a:cxn ang="0">
                    <a:pos x="T2" y="T3"/>
                  </a:cxn>
                  <a:cxn ang="0">
                    <a:pos x="T4" y="T5"/>
                  </a:cxn>
                  <a:cxn ang="0">
                    <a:pos x="T6" y="T7"/>
                  </a:cxn>
                </a:cxnLst>
                <a:rect l="0" t="0" r="r" b="b"/>
                <a:pathLst>
                  <a:path w="1180" h="7691">
                    <a:moveTo>
                      <a:pt x="0" y="7691"/>
                    </a:moveTo>
                    <a:lnTo>
                      <a:pt x="460" y="0"/>
                    </a:lnTo>
                    <a:lnTo>
                      <a:pt x="1180" y="6133"/>
                    </a:lnTo>
                    <a:lnTo>
                      <a:pt x="0" y="7691"/>
                    </a:lnTo>
                    <a:close/>
                  </a:path>
                </a:pathLst>
              </a:custGeom>
              <a:noFill/>
              <a:ln w="9525">
                <a:solidFill>
                  <a:schemeClr val="bg1">
                    <a:lumMod val="8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63" name="Freeform 119">
                <a:extLst>
                  <a:ext uri="{FF2B5EF4-FFF2-40B4-BE49-F238E27FC236}">
                    <a16:creationId xmlns:a16="http://schemas.microsoft.com/office/drawing/2014/main" id="{D36E91AF-9684-40C7-7D2F-874A85FFF1CA}"/>
                  </a:ext>
                </a:extLst>
              </p:cNvPr>
              <p:cNvSpPr>
                <a:spLocks/>
              </p:cNvSpPr>
              <p:nvPr/>
            </p:nvSpPr>
            <p:spPr bwMode="auto">
              <a:xfrm>
                <a:off x="6347722" y="1953354"/>
                <a:ext cx="1824117" cy="1764150"/>
              </a:xfrm>
              <a:custGeom>
                <a:avLst/>
                <a:gdLst>
                  <a:gd name="T0" fmla="*/ 3552 w 5233"/>
                  <a:gd name="T1" fmla="*/ 0 h 5061"/>
                  <a:gd name="T2" fmla="*/ 0 w 5233"/>
                  <a:gd name="T3" fmla="*/ 5061 h 5061"/>
                  <a:gd name="T4" fmla="*/ 5233 w 5233"/>
                  <a:gd name="T5" fmla="*/ 2934 h 5061"/>
                  <a:gd name="T6" fmla="*/ 3552 w 5233"/>
                  <a:gd name="T7" fmla="*/ 0 h 5061"/>
                </a:gdLst>
                <a:ahLst/>
                <a:cxnLst>
                  <a:cxn ang="0">
                    <a:pos x="T0" y="T1"/>
                  </a:cxn>
                  <a:cxn ang="0">
                    <a:pos x="T2" y="T3"/>
                  </a:cxn>
                  <a:cxn ang="0">
                    <a:pos x="T4" y="T5"/>
                  </a:cxn>
                  <a:cxn ang="0">
                    <a:pos x="T6" y="T7"/>
                  </a:cxn>
                </a:cxnLst>
                <a:rect l="0" t="0" r="r" b="b"/>
                <a:pathLst>
                  <a:path w="5233" h="5061">
                    <a:moveTo>
                      <a:pt x="3552" y="0"/>
                    </a:moveTo>
                    <a:lnTo>
                      <a:pt x="0" y="5061"/>
                    </a:lnTo>
                    <a:lnTo>
                      <a:pt x="5233" y="2934"/>
                    </a:lnTo>
                    <a:lnTo>
                      <a:pt x="3552" y="0"/>
                    </a:lnTo>
                    <a:close/>
                  </a:path>
                </a:pathLst>
              </a:custGeom>
              <a:noFill/>
              <a:ln w="9525">
                <a:solidFill>
                  <a:schemeClr val="bg1">
                    <a:lumMod val="8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64" name="Freeform 120">
                <a:extLst>
                  <a:ext uri="{FF2B5EF4-FFF2-40B4-BE49-F238E27FC236}">
                    <a16:creationId xmlns:a16="http://schemas.microsoft.com/office/drawing/2014/main" id="{47F1232B-6A5A-9F7E-3D91-02F193EA5865}"/>
                  </a:ext>
                </a:extLst>
              </p:cNvPr>
              <p:cNvSpPr>
                <a:spLocks/>
              </p:cNvSpPr>
              <p:nvPr/>
            </p:nvSpPr>
            <p:spPr bwMode="auto">
              <a:xfrm>
                <a:off x="4441325" y="1431779"/>
                <a:ext cx="3730515" cy="3016487"/>
              </a:xfrm>
              <a:custGeom>
                <a:avLst/>
                <a:gdLst>
                  <a:gd name="T0" fmla="*/ 3061 w 10700"/>
                  <a:gd name="T1" fmla="*/ 0 h 8649"/>
                  <a:gd name="T2" fmla="*/ 0 w 10700"/>
                  <a:gd name="T3" fmla="*/ 8649 h 8649"/>
                  <a:gd name="T4" fmla="*/ 10700 w 10700"/>
                  <a:gd name="T5" fmla="*/ 7310 h 8649"/>
                  <a:gd name="T6" fmla="*/ 3061 w 10700"/>
                  <a:gd name="T7" fmla="*/ 0 h 8649"/>
                </a:gdLst>
                <a:ahLst/>
                <a:cxnLst>
                  <a:cxn ang="0">
                    <a:pos x="T0" y="T1"/>
                  </a:cxn>
                  <a:cxn ang="0">
                    <a:pos x="T2" y="T3"/>
                  </a:cxn>
                  <a:cxn ang="0">
                    <a:pos x="T4" y="T5"/>
                  </a:cxn>
                  <a:cxn ang="0">
                    <a:pos x="T6" y="T7"/>
                  </a:cxn>
                </a:cxnLst>
                <a:rect l="0" t="0" r="r" b="b"/>
                <a:pathLst>
                  <a:path w="10700" h="8649">
                    <a:moveTo>
                      <a:pt x="3061" y="0"/>
                    </a:moveTo>
                    <a:lnTo>
                      <a:pt x="0" y="8649"/>
                    </a:lnTo>
                    <a:lnTo>
                      <a:pt x="10700" y="7310"/>
                    </a:lnTo>
                    <a:lnTo>
                      <a:pt x="3061" y="0"/>
                    </a:lnTo>
                    <a:close/>
                  </a:path>
                </a:pathLst>
              </a:custGeom>
              <a:noFill/>
              <a:ln w="9525">
                <a:solidFill>
                  <a:schemeClr val="bg1">
                    <a:lumMod val="8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65" name="Freeform 121">
                <a:extLst>
                  <a:ext uri="{FF2B5EF4-FFF2-40B4-BE49-F238E27FC236}">
                    <a16:creationId xmlns:a16="http://schemas.microsoft.com/office/drawing/2014/main" id="{F2EAA451-536B-C229-C7D2-2E205D257568}"/>
                  </a:ext>
                </a:extLst>
              </p:cNvPr>
              <p:cNvSpPr>
                <a:spLocks/>
              </p:cNvSpPr>
              <p:nvPr/>
            </p:nvSpPr>
            <p:spPr bwMode="auto">
              <a:xfrm>
                <a:off x="4018766" y="2883543"/>
                <a:ext cx="1493601" cy="1126824"/>
              </a:xfrm>
              <a:custGeom>
                <a:avLst/>
                <a:gdLst>
                  <a:gd name="T0" fmla="*/ 0 w 4284"/>
                  <a:gd name="T1" fmla="*/ 3231 h 3231"/>
                  <a:gd name="T2" fmla="*/ 4284 w 4284"/>
                  <a:gd name="T3" fmla="*/ 0 h 3231"/>
                  <a:gd name="T4" fmla="*/ 0 w 4284"/>
                  <a:gd name="T5" fmla="*/ 251 h 3231"/>
                  <a:gd name="T6" fmla="*/ 0 w 4284"/>
                  <a:gd name="T7" fmla="*/ 3231 h 3231"/>
                </a:gdLst>
                <a:ahLst/>
                <a:cxnLst>
                  <a:cxn ang="0">
                    <a:pos x="T0" y="T1"/>
                  </a:cxn>
                  <a:cxn ang="0">
                    <a:pos x="T2" y="T3"/>
                  </a:cxn>
                  <a:cxn ang="0">
                    <a:pos x="T4" y="T5"/>
                  </a:cxn>
                  <a:cxn ang="0">
                    <a:pos x="T6" y="T7"/>
                  </a:cxn>
                </a:cxnLst>
                <a:rect l="0" t="0" r="r" b="b"/>
                <a:pathLst>
                  <a:path w="4284" h="3231">
                    <a:moveTo>
                      <a:pt x="0" y="3231"/>
                    </a:moveTo>
                    <a:lnTo>
                      <a:pt x="4284" y="0"/>
                    </a:lnTo>
                    <a:lnTo>
                      <a:pt x="0" y="251"/>
                    </a:lnTo>
                    <a:lnTo>
                      <a:pt x="0" y="3231"/>
                    </a:lnTo>
                    <a:close/>
                  </a:path>
                </a:pathLst>
              </a:custGeom>
              <a:noFill/>
              <a:ln w="9525">
                <a:solidFill>
                  <a:schemeClr val="bg1">
                    <a:lumMod val="8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66" name="Freeform 122">
                <a:extLst>
                  <a:ext uri="{FF2B5EF4-FFF2-40B4-BE49-F238E27FC236}">
                    <a16:creationId xmlns:a16="http://schemas.microsoft.com/office/drawing/2014/main" id="{C4A312D5-E125-6E83-737F-C37AEF787F8C}"/>
                  </a:ext>
                </a:extLst>
              </p:cNvPr>
              <p:cNvSpPr>
                <a:spLocks/>
              </p:cNvSpPr>
              <p:nvPr/>
            </p:nvSpPr>
            <p:spPr bwMode="auto">
              <a:xfrm>
                <a:off x="4607281" y="4085675"/>
                <a:ext cx="2725019" cy="945528"/>
              </a:xfrm>
              <a:custGeom>
                <a:avLst/>
                <a:gdLst>
                  <a:gd name="T0" fmla="*/ 0 w 7817"/>
                  <a:gd name="T1" fmla="*/ 2709 h 2709"/>
                  <a:gd name="T2" fmla="*/ 981 w 7817"/>
                  <a:gd name="T3" fmla="*/ 2382 h 2709"/>
                  <a:gd name="T4" fmla="*/ 4657 w 7817"/>
                  <a:gd name="T5" fmla="*/ 1143 h 2709"/>
                  <a:gd name="T6" fmla="*/ 6032 w 7817"/>
                  <a:gd name="T7" fmla="*/ 670 h 2709"/>
                  <a:gd name="T8" fmla="*/ 7128 w 7817"/>
                  <a:gd name="T9" fmla="*/ 281 h 2709"/>
                  <a:gd name="T10" fmla="*/ 7638 w 7817"/>
                  <a:gd name="T11" fmla="*/ 88 h 2709"/>
                  <a:gd name="T12" fmla="*/ 7772 w 7817"/>
                  <a:gd name="T13" fmla="*/ 30 h 2709"/>
                  <a:gd name="T14" fmla="*/ 7814 w 7817"/>
                  <a:gd name="T15" fmla="*/ 5 h 2709"/>
                  <a:gd name="T16" fmla="*/ 7817 w 7817"/>
                  <a:gd name="T17" fmla="*/ 0 h 2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817" h="2709">
                    <a:moveTo>
                      <a:pt x="0" y="2709"/>
                    </a:moveTo>
                    <a:lnTo>
                      <a:pt x="981" y="2382"/>
                    </a:lnTo>
                    <a:lnTo>
                      <a:pt x="4657" y="1143"/>
                    </a:lnTo>
                    <a:lnTo>
                      <a:pt x="6032" y="670"/>
                    </a:lnTo>
                    <a:lnTo>
                      <a:pt x="7128" y="281"/>
                    </a:lnTo>
                    <a:lnTo>
                      <a:pt x="7638" y="88"/>
                    </a:lnTo>
                    <a:lnTo>
                      <a:pt x="7772" y="30"/>
                    </a:lnTo>
                    <a:lnTo>
                      <a:pt x="7814" y="5"/>
                    </a:lnTo>
                    <a:lnTo>
                      <a:pt x="7817" y="0"/>
                    </a:lnTo>
                  </a:path>
                </a:pathLst>
              </a:custGeom>
              <a:noFill/>
              <a:ln w="9525">
                <a:solidFill>
                  <a:schemeClr val="bg1">
                    <a:lumMod val="8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67" name="Freeform 123">
                <a:extLst>
                  <a:ext uri="{FF2B5EF4-FFF2-40B4-BE49-F238E27FC236}">
                    <a16:creationId xmlns:a16="http://schemas.microsoft.com/office/drawing/2014/main" id="{1E4F8E0B-3F41-8674-80ED-1D2589510B14}"/>
                  </a:ext>
                </a:extLst>
              </p:cNvPr>
              <p:cNvSpPr>
                <a:spLocks/>
              </p:cNvSpPr>
              <p:nvPr/>
            </p:nvSpPr>
            <p:spPr bwMode="auto">
              <a:xfrm>
                <a:off x="4018766" y="1431779"/>
                <a:ext cx="2077931" cy="3971777"/>
              </a:xfrm>
              <a:custGeom>
                <a:avLst/>
                <a:gdLst>
                  <a:gd name="T0" fmla="*/ 0 w 5960"/>
                  <a:gd name="T1" fmla="*/ 4414 h 11390"/>
                  <a:gd name="T2" fmla="*/ 1690 w 5960"/>
                  <a:gd name="T3" fmla="*/ 1489 h 11390"/>
                  <a:gd name="T4" fmla="*/ 4272 w 5960"/>
                  <a:gd name="T5" fmla="*/ 0 h 11390"/>
                  <a:gd name="T6" fmla="*/ 4489 w 5960"/>
                  <a:gd name="T7" fmla="*/ 1437 h 11390"/>
                  <a:gd name="T8" fmla="*/ 5450 w 5960"/>
                  <a:gd name="T9" fmla="*/ 7878 h 11390"/>
                  <a:gd name="T10" fmla="*/ 5822 w 5960"/>
                  <a:gd name="T11" fmla="*/ 10406 h 11390"/>
                  <a:gd name="T12" fmla="*/ 5953 w 5960"/>
                  <a:gd name="T13" fmla="*/ 11319 h 11390"/>
                  <a:gd name="T14" fmla="*/ 5960 w 5960"/>
                  <a:gd name="T15" fmla="*/ 11390 h 1139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960" h="11390">
                    <a:moveTo>
                      <a:pt x="0" y="4414"/>
                    </a:moveTo>
                    <a:lnTo>
                      <a:pt x="1690" y="1489"/>
                    </a:lnTo>
                    <a:lnTo>
                      <a:pt x="4272" y="0"/>
                    </a:lnTo>
                    <a:lnTo>
                      <a:pt x="4489" y="1437"/>
                    </a:lnTo>
                    <a:lnTo>
                      <a:pt x="5450" y="7878"/>
                    </a:lnTo>
                    <a:lnTo>
                      <a:pt x="5822" y="10406"/>
                    </a:lnTo>
                    <a:lnTo>
                      <a:pt x="5953" y="11319"/>
                    </a:lnTo>
                    <a:lnTo>
                      <a:pt x="5960" y="11390"/>
                    </a:lnTo>
                  </a:path>
                </a:pathLst>
              </a:custGeom>
              <a:noFill/>
              <a:ln w="9525">
                <a:solidFill>
                  <a:schemeClr val="bg1">
                    <a:lumMod val="8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68" name="Line 124">
                <a:extLst>
                  <a:ext uri="{FF2B5EF4-FFF2-40B4-BE49-F238E27FC236}">
                    <a16:creationId xmlns:a16="http://schemas.microsoft.com/office/drawing/2014/main" id="{0278A839-6D7A-FFEC-2E71-CBA19EC81351}"/>
                  </a:ext>
                </a:extLst>
              </p:cNvPr>
              <p:cNvSpPr>
                <a:spLocks noChangeShapeType="1"/>
              </p:cNvSpPr>
              <p:nvPr/>
            </p:nvSpPr>
            <p:spPr bwMode="auto">
              <a:xfrm flipH="1" flipV="1">
                <a:off x="6347722" y="3717504"/>
                <a:ext cx="1236997" cy="1313699"/>
              </a:xfrm>
              <a:prstGeom prst="line">
                <a:avLst/>
              </a:prstGeom>
              <a:noFill/>
              <a:ln w="9525">
                <a:solidFill>
                  <a:schemeClr val="bg1">
                    <a:lumMod val="8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69" name="Freeform 125">
                <a:extLst>
                  <a:ext uri="{FF2B5EF4-FFF2-40B4-BE49-F238E27FC236}">
                    <a16:creationId xmlns:a16="http://schemas.microsoft.com/office/drawing/2014/main" id="{3657EF41-A310-BC04-2712-F6682768C032}"/>
                  </a:ext>
                </a:extLst>
              </p:cNvPr>
              <p:cNvSpPr>
                <a:spLocks/>
              </p:cNvSpPr>
              <p:nvPr/>
            </p:nvSpPr>
            <p:spPr bwMode="auto">
              <a:xfrm>
                <a:off x="4441325" y="1433175"/>
                <a:ext cx="2245281" cy="3970383"/>
              </a:xfrm>
              <a:custGeom>
                <a:avLst/>
                <a:gdLst>
                  <a:gd name="T0" fmla="*/ 0 w 6439"/>
                  <a:gd name="T1" fmla="*/ 8648 h 11389"/>
                  <a:gd name="T2" fmla="*/ 111 w 6439"/>
                  <a:gd name="T3" fmla="*/ 8591 h 11389"/>
                  <a:gd name="T4" fmla="*/ 846 w 6439"/>
                  <a:gd name="T5" fmla="*/ 8180 h 11389"/>
                  <a:gd name="T6" fmla="*/ 2256 w 6439"/>
                  <a:gd name="T7" fmla="*/ 7376 h 11389"/>
                  <a:gd name="T8" fmla="*/ 2565 w 6439"/>
                  <a:gd name="T9" fmla="*/ 7200 h 11389"/>
                  <a:gd name="T10" fmla="*/ 4749 w 6439"/>
                  <a:gd name="T11" fmla="*/ 11389 h 11389"/>
                  <a:gd name="T12" fmla="*/ 6439 w 6439"/>
                  <a:gd name="T13" fmla="*/ 0 h 11389"/>
                  <a:gd name="T14" fmla="*/ 3069 w 6439"/>
                  <a:gd name="T15" fmla="*/ 4154 h 11389"/>
                  <a:gd name="T16" fmla="*/ 0 w 6439"/>
                  <a:gd name="T17" fmla="*/ 3161 h 11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39" h="11389">
                    <a:moveTo>
                      <a:pt x="0" y="8648"/>
                    </a:moveTo>
                    <a:lnTo>
                      <a:pt x="111" y="8591"/>
                    </a:lnTo>
                    <a:lnTo>
                      <a:pt x="846" y="8180"/>
                    </a:lnTo>
                    <a:lnTo>
                      <a:pt x="2256" y="7376"/>
                    </a:lnTo>
                    <a:lnTo>
                      <a:pt x="2565" y="7200"/>
                    </a:lnTo>
                    <a:lnTo>
                      <a:pt x="4749" y="11389"/>
                    </a:lnTo>
                    <a:lnTo>
                      <a:pt x="6439" y="0"/>
                    </a:lnTo>
                    <a:lnTo>
                      <a:pt x="3069" y="4154"/>
                    </a:lnTo>
                    <a:lnTo>
                      <a:pt x="0" y="3161"/>
                    </a:lnTo>
                  </a:path>
                </a:pathLst>
              </a:custGeom>
              <a:noFill/>
              <a:ln w="9525">
                <a:solidFill>
                  <a:schemeClr val="bg1">
                    <a:lumMod val="8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70" name="Freeform 126">
                <a:extLst>
                  <a:ext uri="{FF2B5EF4-FFF2-40B4-BE49-F238E27FC236}">
                    <a16:creationId xmlns:a16="http://schemas.microsoft.com/office/drawing/2014/main" id="{BFB2F17B-2A38-575B-9802-5392BCF25D10}"/>
                  </a:ext>
                </a:extLst>
              </p:cNvPr>
              <p:cNvSpPr>
                <a:spLocks/>
              </p:cNvSpPr>
              <p:nvPr/>
            </p:nvSpPr>
            <p:spPr bwMode="auto">
              <a:xfrm>
                <a:off x="4608676" y="1951960"/>
                <a:ext cx="1733469" cy="1768333"/>
              </a:xfrm>
              <a:custGeom>
                <a:avLst/>
                <a:gdLst>
                  <a:gd name="T0" fmla="*/ 4973 w 4973"/>
                  <a:gd name="T1" fmla="*/ 5073 h 5073"/>
                  <a:gd name="T2" fmla="*/ 272 w 4973"/>
                  <a:gd name="T3" fmla="*/ 5038 h 5073"/>
                  <a:gd name="T4" fmla="*/ 0 w 4973"/>
                  <a:gd name="T5" fmla="*/ 0 h 5073"/>
                  <a:gd name="T6" fmla="*/ 3110 w 4973"/>
                  <a:gd name="T7" fmla="*/ 2027 h 5073"/>
                  <a:gd name="T8" fmla="*/ 4973 w 4973"/>
                  <a:gd name="T9" fmla="*/ 5073 h 5073"/>
                </a:gdLst>
                <a:ahLst/>
                <a:cxnLst>
                  <a:cxn ang="0">
                    <a:pos x="T0" y="T1"/>
                  </a:cxn>
                  <a:cxn ang="0">
                    <a:pos x="T2" y="T3"/>
                  </a:cxn>
                  <a:cxn ang="0">
                    <a:pos x="T4" y="T5"/>
                  </a:cxn>
                  <a:cxn ang="0">
                    <a:pos x="T6" y="T7"/>
                  </a:cxn>
                  <a:cxn ang="0">
                    <a:pos x="T8" y="T9"/>
                  </a:cxn>
                </a:cxnLst>
                <a:rect l="0" t="0" r="r" b="b"/>
                <a:pathLst>
                  <a:path w="4973" h="5073">
                    <a:moveTo>
                      <a:pt x="4973" y="5073"/>
                    </a:moveTo>
                    <a:lnTo>
                      <a:pt x="272" y="5038"/>
                    </a:lnTo>
                    <a:lnTo>
                      <a:pt x="0" y="0"/>
                    </a:lnTo>
                    <a:lnTo>
                      <a:pt x="3110" y="2027"/>
                    </a:lnTo>
                    <a:lnTo>
                      <a:pt x="4973" y="5073"/>
                    </a:lnTo>
                    <a:close/>
                  </a:path>
                </a:pathLst>
              </a:custGeom>
              <a:noFill/>
              <a:ln w="9525">
                <a:solidFill>
                  <a:schemeClr val="bg1">
                    <a:lumMod val="8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71" name="Freeform 127">
                <a:extLst>
                  <a:ext uri="{FF2B5EF4-FFF2-40B4-BE49-F238E27FC236}">
                    <a16:creationId xmlns:a16="http://schemas.microsoft.com/office/drawing/2014/main" id="{80801CEB-9052-1F8A-DB5C-C885B4AE339B}"/>
                  </a:ext>
                </a:extLst>
              </p:cNvPr>
              <p:cNvSpPr>
                <a:spLocks/>
              </p:cNvSpPr>
              <p:nvPr/>
            </p:nvSpPr>
            <p:spPr bwMode="auto">
              <a:xfrm>
                <a:off x="5512366" y="1432823"/>
                <a:ext cx="2073748" cy="986323"/>
              </a:xfrm>
              <a:custGeom>
                <a:avLst/>
                <a:gdLst>
                  <a:gd name="T0" fmla="*/ 0 w 5946"/>
                  <a:gd name="T1" fmla="*/ 0 h 2912"/>
                  <a:gd name="T2" fmla="*/ 3366 w 5946"/>
                  <a:gd name="T3" fmla="*/ 83 h 2912"/>
                  <a:gd name="T4" fmla="*/ 5946 w 5946"/>
                  <a:gd name="T5" fmla="*/ 1575 h 2912"/>
                  <a:gd name="T6" fmla="*/ 2946 w 5946"/>
                  <a:gd name="T7" fmla="*/ 2912 h 2912"/>
                  <a:gd name="connsiteX0" fmla="*/ 0 w 10000"/>
                  <a:gd name="connsiteY0" fmla="*/ 59 h 9715"/>
                  <a:gd name="connsiteX1" fmla="*/ 5661 w 10000"/>
                  <a:gd name="connsiteY1" fmla="*/ 0 h 9715"/>
                  <a:gd name="connsiteX2" fmla="*/ 10000 w 10000"/>
                  <a:gd name="connsiteY2" fmla="*/ 5124 h 9715"/>
                  <a:gd name="connsiteX3" fmla="*/ 4955 w 10000"/>
                  <a:gd name="connsiteY3" fmla="*/ 9715 h 9715"/>
                </a:gdLst>
                <a:ahLst/>
                <a:cxnLst>
                  <a:cxn ang="0">
                    <a:pos x="connsiteX0" y="connsiteY0"/>
                  </a:cxn>
                  <a:cxn ang="0">
                    <a:pos x="connsiteX1" y="connsiteY1"/>
                  </a:cxn>
                  <a:cxn ang="0">
                    <a:pos x="connsiteX2" y="connsiteY2"/>
                  </a:cxn>
                  <a:cxn ang="0">
                    <a:pos x="connsiteX3" y="connsiteY3"/>
                  </a:cxn>
                </a:cxnLst>
                <a:rect l="l" t="t" r="r" b="b"/>
                <a:pathLst>
                  <a:path w="10000" h="9715">
                    <a:moveTo>
                      <a:pt x="0" y="59"/>
                    </a:moveTo>
                    <a:lnTo>
                      <a:pt x="5661" y="0"/>
                    </a:lnTo>
                    <a:lnTo>
                      <a:pt x="10000" y="5124"/>
                    </a:lnTo>
                    <a:lnTo>
                      <a:pt x="4955" y="9715"/>
                    </a:lnTo>
                  </a:path>
                </a:pathLst>
              </a:custGeom>
              <a:noFill/>
              <a:ln w="9525">
                <a:solidFill>
                  <a:schemeClr val="bg1">
                    <a:lumMod val="8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72" name="Line 128">
                <a:extLst>
                  <a:ext uri="{FF2B5EF4-FFF2-40B4-BE49-F238E27FC236}">
                    <a16:creationId xmlns:a16="http://schemas.microsoft.com/office/drawing/2014/main" id="{9FB38E50-F02A-3EDC-B07E-240374646809}"/>
                  </a:ext>
                </a:extLst>
              </p:cNvPr>
              <p:cNvSpPr>
                <a:spLocks noChangeShapeType="1"/>
              </p:cNvSpPr>
              <p:nvPr/>
            </p:nvSpPr>
            <p:spPr bwMode="auto">
              <a:xfrm flipV="1">
                <a:off x="7584719" y="3981080"/>
                <a:ext cx="587121" cy="1050123"/>
              </a:xfrm>
              <a:prstGeom prst="line">
                <a:avLst/>
              </a:prstGeom>
              <a:noFill/>
              <a:ln w="9525">
                <a:solidFill>
                  <a:schemeClr val="bg1">
                    <a:lumMod val="8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73" name="Line 129">
                <a:extLst>
                  <a:ext uri="{FF2B5EF4-FFF2-40B4-BE49-F238E27FC236}">
                    <a16:creationId xmlns:a16="http://schemas.microsoft.com/office/drawing/2014/main" id="{325A636D-B8CD-7540-1A3A-24C71836BB22}"/>
                  </a:ext>
                </a:extLst>
              </p:cNvPr>
              <p:cNvSpPr>
                <a:spLocks noChangeShapeType="1"/>
              </p:cNvSpPr>
              <p:nvPr/>
            </p:nvSpPr>
            <p:spPr bwMode="auto">
              <a:xfrm flipV="1">
                <a:off x="6685212" y="5027019"/>
                <a:ext cx="902297" cy="524364"/>
              </a:xfrm>
              <a:prstGeom prst="line">
                <a:avLst/>
              </a:prstGeom>
              <a:noFill/>
              <a:ln w="9525">
                <a:solidFill>
                  <a:schemeClr val="bg1">
                    <a:lumMod val="8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74" name="Line 130">
                <a:extLst>
                  <a:ext uri="{FF2B5EF4-FFF2-40B4-BE49-F238E27FC236}">
                    <a16:creationId xmlns:a16="http://schemas.microsoft.com/office/drawing/2014/main" id="{F8AAE1E7-DC57-613D-85E2-4A73FF8BF21F}"/>
                  </a:ext>
                </a:extLst>
              </p:cNvPr>
              <p:cNvSpPr>
                <a:spLocks noChangeShapeType="1"/>
              </p:cNvSpPr>
              <p:nvPr/>
            </p:nvSpPr>
            <p:spPr bwMode="auto">
              <a:xfrm>
                <a:off x="4607281" y="5033992"/>
                <a:ext cx="899508" cy="515996"/>
              </a:xfrm>
              <a:prstGeom prst="line">
                <a:avLst/>
              </a:prstGeom>
              <a:noFill/>
              <a:ln w="9525">
                <a:solidFill>
                  <a:schemeClr val="bg1">
                    <a:lumMod val="8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75" name="Line 131">
                <a:extLst>
                  <a:ext uri="{FF2B5EF4-FFF2-40B4-BE49-F238E27FC236}">
                    <a16:creationId xmlns:a16="http://schemas.microsoft.com/office/drawing/2014/main" id="{CB23C920-12CC-8FF2-2D39-5F2E9F368D03}"/>
                  </a:ext>
                </a:extLst>
              </p:cNvPr>
              <p:cNvSpPr>
                <a:spLocks noChangeShapeType="1"/>
              </p:cNvSpPr>
              <p:nvPr/>
            </p:nvSpPr>
            <p:spPr bwMode="auto">
              <a:xfrm>
                <a:off x="4022950" y="4013156"/>
                <a:ext cx="584331" cy="1040360"/>
              </a:xfrm>
              <a:prstGeom prst="line">
                <a:avLst/>
              </a:prstGeom>
              <a:noFill/>
              <a:ln w="9525">
                <a:solidFill>
                  <a:schemeClr val="bg1">
                    <a:lumMod val="8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76" name="Line 116">
                <a:extLst>
                  <a:ext uri="{FF2B5EF4-FFF2-40B4-BE49-F238E27FC236}">
                    <a16:creationId xmlns:a16="http://schemas.microsoft.com/office/drawing/2014/main" id="{7A9E675C-141D-2331-E393-8F5B3C9B273E}"/>
                  </a:ext>
                </a:extLst>
              </p:cNvPr>
              <p:cNvSpPr>
                <a:spLocks noChangeShapeType="1"/>
              </p:cNvSpPr>
              <p:nvPr/>
            </p:nvSpPr>
            <p:spPr bwMode="auto">
              <a:xfrm>
                <a:off x="5345015" y="3951793"/>
                <a:ext cx="583836" cy="309599"/>
              </a:xfrm>
              <a:prstGeom prst="line">
                <a:avLst/>
              </a:prstGeom>
              <a:noFill/>
              <a:ln w="9525">
                <a:solidFill>
                  <a:schemeClr val="bg1">
                    <a:lumMod val="8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grpSp>
        <p:grpSp>
          <p:nvGrpSpPr>
            <p:cNvPr id="6" name="Group 5">
              <a:extLst>
                <a:ext uri="{FF2B5EF4-FFF2-40B4-BE49-F238E27FC236}">
                  <a16:creationId xmlns:a16="http://schemas.microsoft.com/office/drawing/2014/main" id="{35E0C930-48C6-7F88-8B5C-83BF2C174D19}"/>
                </a:ext>
              </a:extLst>
            </p:cNvPr>
            <p:cNvGrpSpPr/>
            <p:nvPr/>
          </p:nvGrpSpPr>
          <p:grpSpPr>
            <a:xfrm>
              <a:off x="6926973" y="2073783"/>
              <a:ext cx="3434151" cy="3426815"/>
              <a:chOff x="3974139" y="1360656"/>
              <a:chExt cx="4243722" cy="4234656"/>
            </a:xfrm>
            <a:solidFill>
              <a:schemeClr val="tx1">
                <a:lumMod val="50000"/>
                <a:lumOff val="50000"/>
              </a:schemeClr>
            </a:solidFill>
          </p:grpSpPr>
          <p:sp>
            <p:nvSpPr>
              <p:cNvPr id="7" name="Freeform 133">
                <a:extLst>
                  <a:ext uri="{FF2B5EF4-FFF2-40B4-BE49-F238E27FC236}">
                    <a16:creationId xmlns:a16="http://schemas.microsoft.com/office/drawing/2014/main" id="{36567A55-BCFC-DB4F-03D4-F08DF7BF1478}"/>
                  </a:ext>
                </a:extLst>
              </p:cNvPr>
              <p:cNvSpPr>
                <a:spLocks/>
              </p:cNvSpPr>
              <p:nvPr/>
            </p:nvSpPr>
            <p:spPr bwMode="auto">
              <a:xfrm>
                <a:off x="7477336" y="3307496"/>
                <a:ext cx="94832" cy="94832"/>
              </a:xfrm>
              <a:custGeom>
                <a:avLst/>
                <a:gdLst>
                  <a:gd name="T0" fmla="*/ 272 w 272"/>
                  <a:gd name="T1" fmla="*/ 136 h 272"/>
                  <a:gd name="T2" fmla="*/ 271 w 272"/>
                  <a:gd name="T3" fmla="*/ 164 h 272"/>
                  <a:gd name="T4" fmla="*/ 250 w 272"/>
                  <a:gd name="T5" fmla="*/ 213 h 272"/>
                  <a:gd name="T6" fmla="*/ 213 w 272"/>
                  <a:gd name="T7" fmla="*/ 249 h 272"/>
                  <a:gd name="T8" fmla="*/ 165 w 272"/>
                  <a:gd name="T9" fmla="*/ 270 h 272"/>
                  <a:gd name="T10" fmla="*/ 136 w 272"/>
                  <a:gd name="T11" fmla="*/ 272 h 272"/>
                  <a:gd name="T12" fmla="*/ 109 w 272"/>
                  <a:gd name="T13" fmla="*/ 270 h 272"/>
                  <a:gd name="T14" fmla="*/ 60 w 272"/>
                  <a:gd name="T15" fmla="*/ 249 h 272"/>
                  <a:gd name="T16" fmla="*/ 24 w 272"/>
                  <a:gd name="T17" fmla="*/ 213 h 272"/>
                  <a:gd name="T18" fmla="*/ 3 w 272"/>
                  <a:gd name="T19" fmla="*/ 164 h 272"/>
                  <a:gd name="T20" fmla="*/ 0 w 272"/>
                  <a:gd name="T21" fmla="*/ 136 h 272"/>
                  <a:gd name="T22" fmla="*/ 3 w 272"/>
                  <a:gd name="T23" fmla="*/ 108 h 272"/>
                  <a:gd name="T24" fmla="*/ 24 w 272"/>
                  <a:gd name="T25" fmla="*/ 60 h 272"/>
                  <a:gd name="T26" fmla="*/ 60 w 272"/>
                  <a:gd name="T27" fmla="*/ 22 h 272"/>
                  <a:gd name="T28" fmla="*/ 109 w 272"/>
                  <a:gd name="T29" fmla="*/ 2 h 272"/>
                  <a:gd name="T30" fmla="*/ 136 w 272"/>
                  <a:gd name="T31" fmla="*/ 0 h 272"/>
                  <a:gd name="T32" fmla="*/ 165 w 272"/>
                  <a:gd name="T33" fmla="*/ 2 h 272"/>
                  <a:gd name="T34" fmla="*/ 213 w 272"/>
                  <a:gd name="T35" fmla="*/ 22 h 272"/>
                  <a:gd name="T36" fmla="*/ 250 w 272"/>
                  <a:gd name="T37" fmla="*/ 60 h 272"/>
                  <a:gd name="T38" fmla="*/ 271 w 272"/>
                  <a:gd name="T39" fmla="*/ 108 h 272"/>
                  <a:gd name="T40" fmla="*/ 272 w 272"/>
                  <a:gd name="T41" fmla="*/ 136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72" h="272">
                    <a:moveTo>
                      <a:pt x="272" y="136"/>
                    </a:moveTo>
                    <a:lnTo>
                      <a:pt x="271" y="164"/>
                    </a:lnTo>
                    <a:lnTo>
                      <a:pt x="250" y="213"/>
                    </a:lnTo>
                    <a:lnTo>
                      <a:pt x="213" y="249"/>
                    </a:lnTo>
                    <a:lnTo>
                      <a:pt x="165" y="270"/>
                    </a:lnTo>
                    <a:lnTo>
                      <a:pt x="136" y="272"/>
                    </a:lnTo>
                    <a:lnTo>
                      <a:pt x="109" y="270"/>
                    </a:lnTo>
                    <a:lnTo>
                      <a:pt x="60" y="249"/>
                    </a:lnTo>
                    <a:lnTo>
                      <a:pt x="24" y="213"/>
                    </a:lnTo>
                    <a:lnTo>
                      <a:pt x="3" y="164"/>
                    </a:lnTo>
                    <a:lnTo>
                      <a:pt x="0" y="136"/>
                    </a:lnTo>
                    <a:lnTo>
                      <a:pt x="3" y="108"/>
                    </a:lnTo>
                    <a:lnTo>
                      <a:pt x="24" y="60"/>
                    </a:lnTo>
                    <a:lnTo>
                      <a:pt x="60" y="22"/>
                    </a:lnTo>
                    <a:lnTo>
                      <a:pt x="109" y="2"/>
                    </a:lnTo>
                    <a:lnTo>
                      <a:pt x="136" y="0"/>
                    </a:lnTo>
                    <a:lnTo>
                      <a:pt x="165" y="2"/>
                    </a:lnTo>
                    <a:lnTo>
                      <a:pt x="213" y="22"/>
                    </a:lnTo>
                    <a:lnTo>
                      <a:pt x="250" y="60"/>
                    </a:lnTo>
                    <a:lnTo>
                      <a:pt x="271" y="108"/>
                    </a:lnTo>
                    <a:lnTo>
                      <a:pt x="272" y="136"/>
                    </a:lnTo>
                    <a:close/>
                  </a:path>
                </a:pathLst>
              </a:custGeom>
              <a:grpFill/>
              <a:ln w="9525">
                <a:solidFill>
                  <a:schemeClr val="bg1">
                    <a:lumMod val="85000"/>
                  </a:schemeClr>
                </a:solidFill>
                <a:round/>
                <a:headEnd/>
                <a:tailEnd/>
              </a:ln>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8" name="Freeform 134">
                <a:extLst>
                  <a:ext uri="{FF2B5EF4-FFF2-40B4-BE49-F238E27FC236}">
                    <a16:creationId xmlns:a16="http://schemas.microsoft.com/office/drawing/2014/main" id="{671B410D-57F3-3C13-2866-7FF9DACBF7FE}"/>
                  </a:ext>
                </a:extLst>
              </p:cNvPr>
              <p:cNvSpPr>
                <a:spLocks/>
              </p:cNvSpPr>
              <p:nvPr/>
            </p:nvSpPr>
            <p:spPr bwMode="auto">
              <a:xfrm>
                <a:off x="8123029" y="2926774"/>
                <a:ext cx="94832" cy="94832"/>
              </a:xfrm>
              <a:custGeom>
                <a:avLst/>
                <a:gdLst>
                  <a:gd name="T0" fmla="*/ 272 w 272"/>
                  <a:gd name="T1" fmla="*/ 136 h 272"/>
                  <a:gd name="T2" fmla="*/ 270 w 272"/>
                  <a:gd name="T3" fmla="*/ 165 h 272"/>
                  <a:gd name="T4" fmla="*/ 249 w 272"/>
                  <a:gd name="T5" fmla="*/ 213 h 272"/>
                  <a:gd name="T6" fmla="*/ 213 w 272"/>
                  <a:gd name="T7" fmla="*/ 250 h 272"/>
                  <a:gd name="T8" fmla="*/ 163 w 272"/>
                  <a:gd name="T9" fmla="*/ 271 h 272"/>
                  <a:gd name="T10" fmla="*/ 136 w 272"/>
                  <a:gd name="T11" fmla="*/ 272 h 272"/>
                  <a:gd name="T12" fmla="*/ 108 w 272"/>
                  <a:gd name="T13" fmla="*/ 271 h 272"/>
                  <a:gd name="T14" fmla="*/ 60 w 272"/>
                  <a:gd name="T15" fmla="*/ 250 h 272"/>
                  <a:gd name="T16" fmla="*/ 22 w 272"/>
                  <a:gd name="T17" fmla="*/ 213 h 272"/>
                  <a:gd name="T18" fmla="*/ 1 w 272"/>
                  <a:gd name="T19" fmla="*/ 165 h 272"/>
                  <a:gd name="T20" fmla="*/ 0 w 272"/>
                  <a:gd name="T21" fmla="*/ 136 h 272"/>
                  <a:gd name="T22" fmla="*/ 1 w 272"/>
                  <a:gd name="T23" fmla="*/ 109 h 272"/>
                  <a:gd name="T24" fmla="*/ 22 w 272"/>
                  <a:gd name="T25" fmla="*/ 60 h 272"/>
                  <a:gd name="T26" fmla="*/ 60 w 272"/>
                  <a:gd name="T27" fmla="*/ 23 h 272"/>
                  <a:gd name="T28" fmla="*/ 108 w 272"/>
                  <a:gd name="T29" fmla="*/ 3 h 272"/>
                  <a:gd name="T30" fmla="*/ 136 w 272"/>
                  <a:gd name="T31" fmla="*/ 0 h 272"/>
                  <a:gd name="T32" fmla="*/ 163 w 272"/>
                  <a:gd name="T33" fmla="*/ 3 h 272"/>
                  <a:gd name="T34" fmla="*/ 213 w 272"/>
                  <a:gd name="T35" fmla="*/ 23 h 272"/>
                  <a:gd name="T36" fmla="*/ 249 w 272"/>
                  <a:gd name="T37" fmla="*/ 60 h 272"/>
                  <a:gd name="T38" fmla="*/ 270 w 272"/>
                  <a:gd name="T39" fmla="*/ 109 h 272"/>
                  <a:gd name="T40" fmla="*/ 272 w 272"/>
                  <a:gd name="T41" fmla="*/ 136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72" h="272">
                    <a:moveTo>
                      <a:pt x="272" y="136"/>
                    </a:moveTo>
                    <a:lnTo>
                      <a:pt x="270" y="165"/>
                    </a:lnTo>
                    <a:lnTo>
                      <a:pt x="249" y="213"/>
                    </a:lnTo>
                    <a:lnTo>
                      <a:pt x="213" y="250"/>
                    </a:lnTo>
                    <a:lnTo>
                      <a:pt x="163" y="271"/>
                    </a:lnTo>
                    <a:lnTo>
                      <a:pt x="136" y="272"/>
                    </a:lnTo>
                    <a:lnTo>
                      <a:pt x="108" y="271"/>
                    </a:lnTo>
                    <a:lnTo>
                      <a:pt x="60" y="250"/>
                    </a:lnTo>
                    <a:lnTo>
                      <a:pt x="22" y="213"/>
                    </a:lnTo>
                    <a:lnTo>
                      <a:pt x="1" y="165"/>
                    </a:lnTo>
                    <a:lnTo>
                      <a:pt x="0" y="136"/>
                    </a:lnTo>
                    <a:lnTo>
                      <a:pt x="1" y="109"/>
                    </a:lnTo>
                    <a:lnTo>
                      <a:pt x="22" y="60"/>
                    </a:lnTo>
                    <a:lnTo>
                      <a:pt x="60" y="23"/>
                    </a:lnTo>
                    <a:lnTo>
                      <a:pt x="108" y="3"/>
                    </a:lnTo>
                    <a:lnTo>
                      <a:pt x="136" y="0"/>
                    </a:lnTo>
                    <a:lnTo>
                      <a:pt x="163" y="3"/>
                    </a:lnTo>
                    <a:lnTo>
                      <a:pt x="213" y="23"/>
                    </a:lnTo>
                    <a:lnTo>
                      <a:pt x="249" y="60"/>
                    </a:lnTo>
                    <a:lnTo>
                      <a:pt x="270" y="109"/>
                    </a:lnTo>
                    <a:lnTo>
                      <a:pt x="272" y="136"/>
                    </a:lnTo>
                    <a:close/>
                  </a:path>
                </a:pathLst>
              </a:custGeom>
              <a:grpFill/>
              <a:ln w="9525">
                <a:solidFill>
                  <a:schemeClr val="bg1">
                    <a:lumMod val="85000"/>
                  </a:schemeClr>
                </a:solidFill>
                <a:round/>
                <a:headEnd/>
                <a:tailEnd/>
              </a:ln>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9" name="Freeform 136">
                <a:extLst>
                  <a:ext uri="{FF2B5EF4-FFF2-40B4-BE49-F238E27FC236}">
                    <a16:creationId xmlns:a16="http://schemas.microsoft.com/office/drawing/2014/main" id="{EC304584-3B72-35BA-5A81-A7857FC45D4A}"/>
                  </a:ext>
                </a:extLst>
              </p:cNvPr>
              <p:cNvSpPr>
                <a:spLocks/>
              </p:cNvSpPr>
              <p:nvPr/>
            </p:nvSpPr>
            <p:spPr bwMode="auto">
              <a:xfrm>
                <a:off x="7718600" y="2501426"/>
                <a:ext cx="65546" cy="65546"/>
              </a:xfrm>
              <a:custGeom>
                <a:avLst/>
                <a:gdLst>
                  <a:gd name="T0" fmla="*/ 188 w 188"/>
                  <a:gd name="T1" fmla="*/ 93 h 188"/>
                  <a:gd name="T2" fmla="*/ 187 w 188"/>
                  <a:gd name="T3" fmla="*/ 113 h 188"/>
                  <a:gd name="T4" fmla="*/ 173 w 188"/>
                  <a:gd name="T5" fmla="*/ 146 h 188"/>
                  <a:gd name="T6" fmla="*/ 147 w 188"/>
                  <a:gd name="T7" fmla="*/ 172 h 188"/>
                  <a:gd name="T8" fmla="*/ 113 w 188"/>
                  <a:gd name="T9" fmla="*/ 187 h 188"/>
                  <a:gd name="T10" fmla="*/ 94 w 188"/>
                  <a:gd name="T11" fmla="*/ 188 h 188"/>
                  <a:gd name="T12" fmla="*/ 74 w 188"/>
                  <a:gd name="T13" fmla="*/ 187 h 188"/>
                  <a:gd name="T14" fmla="*/ 41 w 188"/>
                  <a:gd name="T15" fmla="*/ 172 h 188"/>
                  <a:gd name="T16" fmla="*/ 16 w 188"/>
                  <a:gd name="T17" fmla="*/ 146 h 188"/>
                  <a:gd name="T18" fmla="*/ 2 w 188"/>
                  <a:gd name="T19" fmla="*/ 113 h 188"/>
                  <a:gd name="T20" fmla="*/ 0 w 188"/>
                  <a:gd name="T21" fmla="*/ 93 h 188"/>
                  <a:gd name="T22" fmla="*/ 2 w 188"/>
                  <a:gd name="T23" fmla="*/ 75 h 188"/>
                  <a:gd name="T24" fmla="*/ 16 w 188"/>
                  <a:gd name="T25" fmla="*/ 40 h 188"/>
                  <a:gd name="T26" fmla="*/ 41 w 188"/>
                  <a:gd name="T27" fmla="*/ 16 h 188"/>
                  <a:gd name="T28" fmla="*/ 74 w 188"/>
                  <a:gd name="T29" fmla="*/ 1 h 188"/>
                  <a:gd name="T30" fmla="*/ 94 w 188"/>
                  <a:gd name="T31" fmla="*/ 0 h 188"/>
                  <a:gd name="T32" fmla="*/ 113 w 188"/>
                  <a:gd name="T33" fmla="*/ 1 h 188"/>
                  <a:gd name="T34" fmla="*/ 147 w 188"/>
                  <a:gd name="T35" fmla="*/ 16 h 188"/>
                  <a:gd name="T36" fmla="*/ 173 w 188"/>
                  <a:gd name="T37" fmla="*/ 40 h 188"/>
                  <a:gd name="T38" fmla="*/ 187 w 188"/>
                  <a:gd name="T39" fmla="*/ 75 h 188"/>
                  <a:gd name="T40" fmla="*/ 188 w 188"/>
                  <a:gd name="T41" fmla="*/ 93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8" h="188">
                    <a:moveTo>
                      <a:pt x="188" y="93"/>
                    </a:moveTo>
                    <a:lnTo>
                      <a:pt x="187" y="113"/>
                    </a:lnTo>
                    <a:lnTo>
                      <a:pt x="173" y="146"/>
                    </a:lnTo>
                    <a:lnTo>
                      <a:pt x="147" y="172"/>
                    </a:lnTo>
                    <a:lnTo>
                      <a:pt x="113" y="187"/>
                    </a:lnTo>
                    <a:lnTo>
                      <a:pt x="94" y="188"/>
                    </a:lnTo>
                    <a:lnTo>
                      <a:pt x="74" y="187"/>
                    </a:lnTo>
                    <a:lnTo>
                      <a:pt x="41" y="172"/>
                    </a:lnTo>
                    <a:lnTo>
                      <a:pt x="16" y="146"/>
                    </a:lnTo>
                    <a:lnTo>
                      <a:pt x="2" y="113"/>
                    </a:lnTo>
                    <a:lnTo>
                      <a:pt x="0" y="93"/>
                    </a:lnTo>
                    <a:lnTo>
                      <a:pt x="2" y="75"/>
                    </a:lnTo>
                    <a:lnTo>
                      <a:pt x="16" y="40"/>
                    </a:lnTo>
                    <a:lnTo>
                      <a:pt x="41" y="16"/>
                    </a:lnTo>
                    <a:lnTo>
                      <a:pt x="74" y="1"/>
                    </a:lnTo>
                    <a:lnTo>
                      <a:pt x="94" y="0"/>
                    </a:lnTo>
                    <a:lnTo>
                      <a:pt x="113" y="1"/>
                    </a:lnTo>
                    <a:lnTo>
                      <a:pt x="147" y="16"/>
                    </a:lnTo>
                    <a:lnTo>
                      <a:pt x="173" y="40"/>
                    </a:lnTo>
                    <a:lnTo>
                      <a:pt x="187" y="75"/>
                    </a:lnTo>
                    <a:lnTo>
                      <a:pt x="188" y="93"/>
                    </a:lnTo>
                    <a:close/>
                  </a:path>
                </a:pathLst>
              </a:custGeom>
              <a:grpFill/>
              <a:ln w="9525">
                <a:solidFill>
                  <a:schemeClr val="bg1">
                    <a:lumMod val="85000"/>
                  </a:schemeClr>
                </a:solidFill>
                <a:round/>
                <a:headEnd/>
                <a:tailEnd/>
              </a:ln>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10" name="Freeform 137">
                <a:extLst>
                  <a:ext uri="{FF2B5EF4-FFF2-40B4-BE49-F238E27FC236}">
                    <a16:creationId xmlns:a16="http://schemas.microsoft.com/office/drawing/2014/main" id="{71C5F94F-8017-1ED8-9F43-E75B6E244A2B}"/>
                  </a:ext>
                </a:extLst>
              </p:cNvPr>
              <p:cNvSpPr>
                <a:spLocks/>
              </p:cNvSpPr>
              <p:nvPr/>
            </p:nvSpPr>
            <p:spPr bwMode="auto">
              <a:xfrm>
                <a:off x="7241652" y="2024478"/>
                <a:ext cx="94832" cy="94832"/>
              </a:xfrm>
              <a:custGeom>
                <a:avLst/>
                <a:gdLst>
                  <a:gd name="T0" fmla="*/ 273 w 273"/>
                  <a:gd name="T1" fmla="*/ 136 h 272"/>
                  <a:gd name="T2" fmla="*/ 270 w 273"/>
                  <a:gd name="T3" fmla="*/ 163 h 272"/>
                  <a:gd name="T4" fmla="*/ 249 w 273"/>
                  <a:gd name="T5" fmla="*/ 212 h 272"/>
                  <a:gd name="T6" fmla="*/ 213 w 273"/>
                  <a:gd name="T7" fmla="*/ 248 h 272"/>
                  <a:gd name="T8" fmla="*/ 164 w 273"/>
                  <a:gd name="T9" fmla="*/ 269 h 272"/>
                  <a:gd name="T10" fmla="*/ 137 w 273"/>
                  <a:gd name="T11" fmla="*/ 272 h 272"/>
                  <a:gd name="T12" fmla="*/ 108 w 273"/>
                  <a:gd name="T13" fmla="*/ 269 h 272"/>
                  <a:gd name="T14" fmla="*/ 60 w 273"/>
                  <a:gd name="T15" fmla="*/ 248 h 272"/>
                  <a:gd name="T16" fmla="*/ 22 w 273"/>
                  <a:gd name="T17" fmla="*/ 212 h 272"/>
                  <a:gd name="T18" fmla="*/ 2 w 273"/>
                  <a:gd name="T19" fmla="*/ 163 h 272"/>
                  <a:gd name="T20" fmla="*/ 0 w 273"/>
                  <a:gd name="T21" fmla="*/ 136 h 272"/>
                  <a:gd name="T22" fmla="*/ 2 w 273"/>
                  <a:gd name="T23" fmla="*/ 108 h 272"/>
                  <a:gd name="T24" fmla="*/ 22 w 273"/>
                  <a:gd name="T25" fmla="*/ 59 h 272"/>
                  <a:gd name="T26" fmla="*/ 60 w 273"/>
                  <a:gd name="T27" fmla="*/ 22 h 272"/>
                  <a:gd name="T28" fmla="*/ 108 w 273"/>
                  <a:gd name="T29" fmla="*/ 1 h 272"/>
                  <a:gd name="T30" fmla="*/ 137 w 273"/>
                  <a:gd name="T31" fmla="*/ 0 h 272"/>
                  <a:gd name="T32" fmla="*/ 164 w 273"/>
                  <a:gd name="T33" fmla="*/ 1 h 272"/>
                  <a:gd name="T34" fmla="*/ 213 w 273"/>
                  <a:gd name="T35" fmla="*/ 22 h 272"/>
                  <a:gd name="T36" fmla="*/ 249 w 273"/>
                  <a:gd name="T37" fmla="*/ 59 h 272"/>
                  <a:gd name="T38" fmla="*/ 270 w 273"/>
                  <a:gd name="T39" fmla="*/ 108 h 272"/>
                  <a:gd name="T40" fmla="*/ 273 w 273"/>
                  <a:gd name="T41" fmla="*/ 136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73" h="272">
                    <a:moveTo>
                      <a:pt x="273" y="136"/>
                    </a:moveTo>
                    <a:lnTo>
                      <a:pt x="270" y="163"/>
                    </a:lnTo>
                    <a:lnTo>
                      <a:pt x="249" y="212"/>
                    </a:lnTo>
                    <a:lnTo>
                      <a:pt x="213" y="248"/>
                    </a:lnTo>
                    <a:lnTo>
                      <a:pt x="164" y="269"/>
                    </a:lnTo>
                    <a:lnTo>
                      <a:pt x="137" y="272"/>
                    </a:lnTo>
                    <a:lnTo>
                      <a:pt x="108" y="269"/>
                    </a:lnTo>
                    <a:lnTo>
                      <a:pt x="60" y="248"/>
                    </a:lnTo>
                    <a:lnTo>
                      <a:pt x="22" y="212"/>
                    </a:lnTo>
                    <a:lnTo>
                      <a:pt x="2" y="163"/>
                    </a:lnTo>
                    <a:lnTo>
                      <a:pt x="0" y="136"/>
                    </a:lnTo>
                    <a:lnTo>
                      <a:pt x="2" y="108"/>
                    </a:lnTo>
                    <a:lnTo>
                      <a:pt x="22" y="59"/>
                    </a:lnTo>
                    <a:lnTo>
                      <a:pt x="60" y="22"/>
                    </a:lnTo>
                    <a:lnTo>
                      <a:pt x="108" y="1"/>
                    </a:lnTo>
                    <a:lnTo>
                      <a:pt x="137" y="0"/>
                    </a:lnTo>
                    <a:lnTo>
                      <a:pt x="164" y="1"/>
                    </a:lnTo>
                    <a:lnTo>
                      <a:pt x="213" y="22"/>
                    </a:lnTo>
                    <a:lnTo>
                      <a:pt x="249" y="59"/>
                    </a:lnTo>
                    <a:lnTo>
                      <a:pt x="270" y="108"/>
                    </a:lnTo>
                    <a:lnTo>
                      <a:pt x="273" y="136"/>
                    </a:lnTo>
                    <a:close/>
                  </a:path>
                </a:pathLst>
              </a:custGeom>
              <a:grpFill/>
              <a:ln w="9525">
                <a:solidFill>
                  <a:schemeClr val="bg1">
                    <a:lumMod val="85000"/>
                  </a:schemeClr>
                </a:solidFill>
                <a:round/>
                <a:headEnd/>
                <a:tailEnd/>
              </a:ln>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11" name="Freeform 138">
                <a:extLst>
                  <a:ext uri="{FF2B5EF4-FFF2-40B4-BE49-F238E27FC236}">
                    <a16:creationId xmlns:a16="http://schemas.microsoft.com/office/drawing/2014/main" id="{F01BB757-B58D-FD8D-2F7B-F3CE46965940}"/>
                  </a:ext>
                </a:extLst>
              </p:cNvPr>
              <p:cNvSpPr>
                <a:spLocks/>
              </p:cNvSpPr>
              <p:nvPr/>
            </p:nvSpPr>
            <p:spPr bwMode="auto">
              <a:xfrm>
                <a:off x="7015729" y="5112089"/>
                <a:ext cx="94832" cy="94832"/>
              </a:xfrm>
              <a:custGeom>
                <a:avLst/>
                <a:gdLst>
                  <a:gd name="T0" fmla="*/ 272 w 272"/>
                  <a:gd name="T1" fmla="*/ 136 h 272"/>
                  <a:gd name="T2" fmla="*/ 270 w 272"/>
                  <a:gd name="T3" fmla="*/ 164 h 272"/>
                  <a:gd name="T4" fmla="*/ 250 w 272"/>
                  <a:gd name="T5" fmla="*/ 212 h 272"/>
                  <a:gd name="T6" fmla="*/ 213 w 272"/>
                  <a:gd name="T7" fmla="*/ 250 h 272"/>
                  <a:gd name="T8" fmla="*/ 163 w 272"/>
                  <a:gd name="T9" fmla="*/ 271 h 272"/>
                  <a:gd name="T10" fmla="*/ 136 w 272"/>
                  <a:gd name="T11" fmla="*/ 272 h 272"/>
                  <a:gd name="T12" fmla="*/ 109 w 272"/>
                  <a:gd name="T13" fmla="*/ 271 h 272"/>
                  <a:gd name="T14" fmla="*/ 60 w 272"/>
                  <a:gd name="T15" fmla="*/ 250 h 272"/>
                  <a:gd name="T16" fmla="*/ 22 w 272"/>
                  <a:gd name="T17" fmla="*/ 212 h 272"/>
                  <a:gd name="T18" fmla="*/ 1 w 272"/>
                  <a:gd name="T19" fmla="*/ 164 h 272"/>
                  <a:gd name="T20" fmla="*/ 0 w 272"/>
                  <a:gd name="T21" fmla="*/ 136 h 272"/>
                  <a:gd name="T22" fmla="*/ 1 w 272"/>
                  <a:gd name="T23" fmla="*/ 109 h 272"/>
                  <a:gd name="T24" fmla="*/ 22 w 272"/>
                  <a:gd name="T25" fmla="*/ 59 h 272"/>
                  <a:gd name="T26" fmla="*/ 60 w 272"/>
                  <a:gd name="T27" fmla="*/ 23 h 272"/>
                  <a:gd name="T28" fmla="*/ 109 w 272"/>
                  <a:gd name="T29" fmla="*/ 2 h 272"/>
                  <a:gd name="T30" fmla="*/ 136 w 272"/>
                  <a:gd name="T31" fmla="*/ 0 h 272"/>
                  <a:gd name="T32" fmla="*/ 163 w 272"/>
                  <a:gd name="T33" fmla="*/ 2 h 272"/>
                  <a:gd name="T34" fmla="*/ 213 w 272"/>
                  <a:gd name="T35" fmla="*/ 23 h 272"/>
                  <a:gd name="T36" fmla="*/ 250 w 272"/>
                  <a:gd name="T37" fmla="*/ 59 h 272"/>
                  <a:gd name="T38" fmla="*/ 270 w 272"/>
                  <a:gd name="T39" fmla="*/ 109 h 272"/>
                  <a:gd name="T40" fmla="*/ 272 w 272"/>
                  <a:gd name="T41" fmla="*/ 136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72" h="272">
                    <a:moveTo>
                      <a:pt x="272" y="136"/>
                    </a:moveTo>
                    <a:lnTo>
                      <a:pt x="270" y="164"/>
                    </a:lnTo>
                    <a:lnTo>
                      <a:pt x="250" y="212"/>
                    </a:lnTo>
                    <a:lnTo>
                      <a:pt x="213" y="250"/>
                    </a:lnTo>
                    <a:lnTo>
                      <a:pt x="163" y="271"/>
                    </a:lnTo>
                    <a:lnTo>
                      <a:pt x="136" y="272"/>
                    </a:lnTo>
                    <a:lnTo>
                      <a:pt x="109" y="271"/>
                    </a:lnTo>
                    <a:lnTo>
                      <a:pt x="60" y="250"/>
                    </a:lnTo>
                    <a:lnTo>
                      <a:pt x="22" y="212"/>
                    </a:lnTo>
                    <a:lnTo>
                      <a:pt x="1" y="164"/>
                    </a:lnTo>
                    <a:lnTo>
                      <a:pt x="0" y="136"/>
                    </a:lnTo>
                    <a:lnTo>
                      <a:pt x="1" y="109"/>
                    </a:lnTo>
                    <a:lnTo>
                      <a:pt x="22" y="59"/>
                    </a:lnTo>
                    <a:lnTo>
                      <a:pt x="60" y="23"/>
                    </a:lnTo>
                    <a:lnTo>
                      <a:pt x="109" y="2"/>
                    </a:lnTo>
                    <a:lnTo>
                      <a:pt x="136" y="0"/>
                    </a:lnTo>
                    <a:lnTo>
                      <a:pt x="163" y="2"/>
                    </a:lnTo>
                    <a:lnTo>
                      <a:pt x="213" y="23"/>
                    </a:lnTo>
                    <a:lnTo>
                      <a:pt x="250" y="59"/>
                    </a:lnTo>
                    <a:lnTo>
                      <a:pt x="270" y="109"/>
                    </a:lnTo>
                    <a:lnTo>
                      <a:pt x="272" y="136"/>
                    </a:lnTo>
                    <a:close/>
                  </a:path>
                </a:pathLst>
              </a:custGeom>
              <a:grpFill/>
              <a:ln w="9525">
                <a:solidFill>
                  <a:schemeClr val="bg1">
                    <a:lumMod val="85000"/>
                  </a:schemeClr>
                </a:solidFill>
                <a:round/>
                <a:headEnd/>
                <a:tailEnd/>
              </a:ln>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12" name="Freeform 139">
                <a:extLst>
                  <a:ext uri="{FF2B5EF4-FFF2-40B4-BE49-F238E27FC236}">
                    <a16:creationId xmlns:a16="http://schemas.microsoft.com/office/drawing/2014/main" id="{970444A3-761E-A183-E9FF-E6137174B36C}"/>
                  </a:ext>
                </a:extLst>
              </p:cNvPr>
              <p:cNvSpPr>
                <a:spLocks/>
              </p:cNvSpPr>
              <p:nvPr/>
            </p:nvSpPr>
            <p:spPr bwMode="auto">
              <a:xfrm>
                <a:off x="7534514" y="4983787"/>
                <a:ext cx="94832" cy="94832"/>
              </a:xfrm>
              <a:custGeom>
                <a:avLst/>
                <a:gdLst>
                  <a:gd name="T0" fmla="*/ 271 w 271"/>
                  <a:gd name="T1" fmla="*/ 136 h 272"/>
                  <a:gd name="T2" fmla="*/ 269 w 271"/>
                  <a:gd name="T3" fmla="*/ 165 h 272"/>
                  <a:gd name="T4" fmla="*/ 249 w 271"/>
                  <a:gd name="T5" fmla="*/ 213 h 272"/>
                  <a:gd name="T6" fmla="*/ 212 w 271"/>
                  <a:gd name="T7" fmla="*/ 250 h 272"/>
                  <a:gd name="T8" fmla="*/ 163 w 271"/>
                  <a:gd name="T9" fmla="*/ 271 h 272"/>
                  <a:gd name="T10" fmla="*/ 136 w 271"/>
                  <a:gd name="T11" fmla="*/ 272 h 272"/>
                  <a:gd name="T12" fmla="*/ 107 w 271"/>
                  <a:gd name="T13" fmla="*/ 271 h 272"/>
                  <a:gd name="T14" fmla="*/ 58 w 271"/>
                  <a:gd name="T15" fmla="*/ 250 h 272"/>
                  <a:gd name="T16" fmla="*/ 22 w 271"/>
                  <a:gd name="T17" fmla="*/ 213 h 272"/>
                  <a:gd name="T18" fmla="*/ 1 w 271"/>
                  <a:gd name="T19" fmla="*/ 165 h 272"/>
                  <a:gd name="T20" fmla="*/ 0 w 271"/>
                  <a:gd name="T21" fmla="*/ 136 h 272"/>
                  <a:gd name="T22" fmla="*/ 1 w 271"/>
                  <a:gd name="T23" fmla="*/ 109 h 272"/>
                  <a:gd name="T24" fmla="*/ 22 w 271"/>
                  <a:gd name="T25" fmla="*/ 60 h 272"/>
                  <a:gd name="T26" fmla="*/ 58 w 271"/>
                  <a:gd name="T27" fmla="*/ 24 h 272"/>
                  <a:gd name="T28" fmla="*/ 107 w 271"/>
                  <a:gd name="T29" fmla="*/ 3 h 272"/>
                  <a:gd name="T30" fmla="*/ 136 w 271"/>
                  <a:gd name="T31" fmla="*/ 0 h 272"/>
                  <a:gd name="T32" fmla="*/ 163 w 271"/>
                  <a:gd name="T33" fmla="*/ 3 h 272"/>
                  <a:gd name="T34" fmla="*/ 212 w 271"/>
                  <a:gd name="T35" fmla="*/ 24 h 272"/>
                  <a:gd name="T36" fmla="*/ 249 w 271"/>
                  <a:gd name="T37" fmla="*/ 60 h 272"/>
                  <a:gd name="T38" fmla="*/ 269 w 271"/>
                  <a:gd name="T39" fmla="*/ 109 h 272"/>
                  <a:gd name="T40" fmla="*/ 271 w 271"/>
                  <a:gd name="T41" fmla="*/ 136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71" h="272">
                    <a:moveTo>
                      <a:pt x="271" y="136"/>
                    </a:moveTo>
                    <a:lnTo>
                      <a:pt x="269" y="165"/>
                    </a:lnTo>
                    <a:lnTo>
                      <a:pt x="249" y="213"/>
                    </a:lnTo>
                    <a:lnTo>
                      <a:pt x="212" y="250"/>
                    </a:lnTo>
                    <a:lnTo>
                      <a:pt x="163" y="271"/>
                    </a:lnTo>
                    <a:lnTo>
                      <a:pt x="136" y="272"/>
                    </a:lnTo>
                    <a:lnTo>
                      <a:pt x="107" y="271"/>
                    </a:lnTo>
                    <a:lnTo>
                      <a:pt x="58" y="250"/>
                    </a:lnTo>
                    <a:lnTo>
                      <a:pt x="22" y="213"/>
                    </a:lnTo>
                    <a:lnTo>
                      <a:pt x="1" y="165"/>
                    </a:lnTo>
                    <a:lnTo>
                      <a:pt x="0" y="136"/>
                    </a:lnTo>
                    <a:lnTo>
                      <a:pt x="1" y="109"/>
                    </a:lnTo>
                    <a:lnTo>
                      <a:pt x="22" y="60"/>
                    </a:lnTo>
                    <a:lnTo>
                      <a:pt x="58" y="24"/>
                    </a:lnTo>
                    <a:lnTo>
                      <a:pt x="107" y="3"/>
                    </a:lnTo>
                    <a:lnTo>
                      <a:pt x="136" y="0"/>
                    </a:lnTo>
                    <a:lnTo>
                      <a:pt x="163" y="3"/>
                    </a:lnTo>
                    <a:lnTo>
                      <a:pt x="212" y="24"/>
                    </a:lnTo>
                    <a:lnTo>
                      <a:pt x="249" y="60"/>
                    </a:lnTo>
                    <a:lnTo>
                      <a:pt x="269" y="109"/>
                    </a:lnTo>
                    <a:lnTo>
                      <a:pt x="271" y="136"/>
                    </a:lnTo>
                    <a:close/>
                  </a:path>
                </a:pathLst>
              </a:custGeom>
              <a:grpFill/>
              <a:ln w="9525">
                <a:solidFill>
                  <a:schemeClr val="bg1">
                    <a:lumMod val="85000"/>
                  </a:schemeClr>
                </a:solidFill>
                <a:round/>
                <a:headEnd/>
                <a:tailEnd/>
              </a:ln>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13" name="Freeform 140">
                <a:extLst>
                  <a:ext uri="{FF2B5EF4-FFF2-40B4-BE49-F238E27FC236}">
                    <a16:creationId xmlns:a16="http://schemas.microsoft.com/office/drawing/2014/main" id="{F0C31FA3-B8A7-68C8-DC00-19A1954D3CA2}"/>
                  </a:ext>
                </a:extLst>
              </p:cNvPr>
              <p:cNvSpPr>
                <a:spLocks/>
              </p:cNvSpPr>
              <p:nvPr/>
            </p:nvSpPr>
            <p:spPr bwMode="auto">
              <a:xfrm>
                <a:off x="6894400" y="3445560"/>
                <a:ext cx="94832" cy="94832"/>
              </a:xfrm>
              <a:custGeom>
                <a:avLst/>
                <a:gdLst>
                  <a:gd name="T0" fmla="*/ 272 w 272"/>
                  <a:gd name="T1" fmla="*/ 136 h 272"/>
                  <a:gd name="T2" fmla="*/ 269 w 272"/>
                  <a:gd name="T3" fmla="*/ 164 h 272"/>
                  <a:gd name="T4" fmla="*/ 248 w 272"/>
                  <a:gd name="T5" fmla="*/ 213 h 272"/>
                  <a:gd name="T6" fmla="*/ 212 w 272"/>
                  <a:gd name="T7" fmla="*/ 250 h 272"/>
                  <a:gd name="T8" fmla="*/ 163 w 272"/>
                  <a:gd name="T9" fmla="*/ 271 h 272"/>
                  <a:gd name="T10" fmla="*/ 136 w 272"/>
                  <a:gd name="T11" fmla="*/ 272 h 272"/>
                  <a:gd name="T12" fmla="*/ 107 w 272"/>
                  <a:gd name="T13" fmla="*/ 271 h 272"/>
                  <a:gd name="T14" fmla="*/ 59 w 272"/>
                  <a:gd name="T15" fmla="*/ 250 h 272"/>
                  <a:gd name="T16" fmla="*/ 22 w 272"/>
                  <a:gd name="T17" fmla="*/ 213 h 272"/>
                  <a:gd name="T18" fmla="*/ 1 w 272"/>
                  <a:gd name="T19" fmla="*/ 164 h 272"/>
                  <a:gd name="T20" fmla="*/ 0 w 272"/>
                  <a:gd name="T21" fmla="*/ 136 h 272"/>
                  <a:gd name="T22" fmla="*/ 1 w 272"/>
                  <a:gd name="T23" fmla="*/ 109 h 272"/>
                  <a:gd name="T24" fmla="*/ 22 w 272"/>
                  <a:gd name="T25" fmla="*/ 60 h 272"/>
                  <a:gd name="T26" fmla="*/ 59 w 272"/>
                  <a:gd name="T27" fmla="*/ 24 h 272"/>
                  <a:gd name="T28" fmla="*/ 107 w 272"/>
                  <a:gd name="T29" fmla="*/ 3 h 272"/>
                  <a:gd name="T30" fmla="*/ 136 w 272"/>
                  <a:gd name="T31" fmla="*/ 0 h 272"/>
                  <a:gd name="T32" fmla="*/ 163 w 272"/>
                  <a:gd name="T33" fmla="*/ 3 h 272"/>
                  <a:gd name="T34" fmla="*/ 212 w 272"/>
                  <a:gd name="T35" fmla="*/ 24 h 272"/>
                  <a:gd name="T36" fmla="*/ 248 w 272"/>
                  <a:gd name="T37" fmla="*/ 60 h 272"/>
                  <a:gd name="T38" fmla="*/ 269 w 272"/>
                  <a:gd name="T39" fmla="*/ 109 h 272"/>
                  <a:gd name="T40" fmla="*/ 272 w 272"/>
                  <a:gd name="T41" fmla="*/ 136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72" h="272">
                    <a:moveTo>
                      <a:pt x="272" y="136"/>
                    </a:moveTo>
                    <a:lnTo>
                      <a:pt x="269" y="164"/>
                    </a:lnTo>
                    <a:lnTo>
                      <a:pt x="248" y="213"/>
                    </a:lnTo>
                    <a:lnTo>
                      <a:pt x="212" y="250"/>
                    </a:lnTo>
                    <a:lnTo>
                      <a:pt x="163" y="271"/>
                    </a:lnTo>
                    <a:lnTo>
                      <a:pt x="136" y="272"/>
                    </a:lnTo>
                    <a:lnTo>
                      <a:pt x="107" y="271"/>
                    </a:lnTo>
                    <a:lnTo>
                      <a:pt x="59" y="250"/>
                    </a:lnTo>
                    <a:lnTo>
                      <a:pt x="22" y="213"/>
                    </a:lnTo>
                    <a:lnTo>
                      <a:pt x="1" y="164"/>
                    </a:lnTo>
                    <a:lnTo>
                      <a:pt x="0" y="136"/>
                    </a:lnTo>
                    <a:lnTo>
                      <a:pt x="1" y="109"/>
                    </a:lnTo>
                    <a:lnTo>
                      <a:pt x="22" y="60"/>
                    </a:lnTo>
                    <a:lnTo>
                      <a:pt x="59" y="24"/>
                    </a:lnTo>
                    <a:lnTo>
                      <a:pt x="107" y="3"/>
                    </a:lnTo>
                    <a:lnTo>
                      <a:pt x="136" y="0"/>
                    </a:lnTo>
                    <a:lnTo>
                      <a:pt x="163" y="3"/>
                    </a:lnTo>
                    <a:lnTo>
                      <a:pt x="212" y="24"/>
                    </a:lnTo>
                    <a:lnTo>
                      <a:pt x="248" y="60"/>
                    </a:lnTo>
                    <a:lnTo>
                      <a:pt x="269" y="109"/>
                    </a:lnTo>
                    <a:lnTo>
                      <a:pt x="272" y="136"/>
                    </a:lnTo>
                    <a:close/>
                  </a:path>
                </a:pathLst>
              </a:custGeom>
              <a:grpFill/>
              <a:ln w="9525">
                <a:solidFill>
                  <a:schemeClr val="bg1">
                    <a:lumMod val="85000"/>
                  </a:schemeClr>
                </a:solidFill>
                <a:round/>
                <a:headEnd/>
                <a:tailEnd/>
              </a:ln>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14" name="Freeform 141">
                <a:extLst>
                  <a:ext uri="{FF2B5EF4-FFF2-40B4-BE49-F238E27FC236}">
                    <a16:creationId xmlns:a16="http://schemas.microsoft.com/office/drawing/2014/main" id="{E6BE4569-2334-4F2B-817E-CB4E1436C479}"/>
                  </a:ext>
                </a:extLst>
              </p:cNvPr>
              <p:cNvSpPr>
                <a:spLocks/>
              </p:cNvSpPr>
              <p:nvPr/>
            </p:nvSpPr>
            <p:spPr bwMode="auto">
              <a:xfrm>
                <a:off x="6194318" y="2731532"/>
                <a:ext cx="65546" cy="65546"/>
              </a:xfrm>
              <a:custGeom>
                <a:avLst/>
                <a:gdLst>
                  <a:gd name="T0" fmla="*/ 188 w 188"/>
                  <a:gd name="T1" fmla="*/ 95 h 189"/>
                  <a:gd name="T2" fmla="*/ 187 w 188"/>
                  <a:gd name="T3" fmla="*/ 114 h 189"/>
                  <a:gd name="T4" fmla="*/ 173 w 188"/>
                  <a:gd name="T5" fmla="*/ 148 h 189"/>
                  <a:gd name="T6" fmla="*/ 147 w 188"/>
                  <a:gd name="T7" fmla="*/ 174 h 189"/>
                  <a:gd name="T8" fmla="*/ 113 w 188"/>
                  <a:gd name="T9" fmla="*/ 188 h 189"/>
                  <a:gd name="T10" fmla="*/ 95 w 188"/>
                  <a:gd name="T11" fmla="*/ 189 h 189"/>
                  <a:gd name="T12" fmla="*/ 75 w 188"/>
                  <a:gd name="T13" fmla="*/ 188 h 189"/>
                  <a:gd name="T14" fmla="*/ 42 w 188"/>
                  <a:gd name="T15" fmla="*/ 174 h 189"/>
                  <a:gd name="T16" fmla="*/ 16 w 188"/>
                  <a:gd name="T17" fmla="*/ 148 h 189"/>
                  <a:gd name="T18" fmla="*/ 2 w 188"/>
                  <a:gd name="T19" fmla="*/ 114 h 189"/>
                  <a:gd name="T20" fmla="*/ 0 w 188"/>
                  <a:gd name="T21" fmla="*/ 95 h 189"/>
                  <a:gd name="T22" fmla="*/ 2 w 188"/>
                  <a:gd name="T23" fmla="*/ 75 h 189"/>
                  <a:gd name="T24" fmla="*/ 16 w 188"/>
                  <a:gd name="T25" fmla="*/ 41 h 189"/>
                  <a:gd name="T26" fmla="*/ 42 w 188"/>
                  <a:gd name="T27" fmla="*/ 16 h 189"/>
                  <a:gd name="T28" fmla="*/ 75 w 188"/>
                  <a:gd name="T29" fmla="*/ 1 h 189"/>
                  <a:gd name="T30" fmla="*/ 95 w 188"/>
                  <a:gd name="T31" fmla="*/ 0 h 189"/>
                  <a:gd name="T32" fmla="*/ 113 w 188"/>
                  <a:gd name="T33" fmla="*/ 1 h 189"/>
                  <a:gd name="T34" fmla="*/ 147 w 188"/>
                  <a:gd name="T35" fmla="*/ 16 h 189"/>
                  <a:gd name="T36" fmla="*/ 173 w 188"/>
                  <a:gd name="T37" fmla="*/ 41 h 189"/>
                  <a:gd name="T38" fmla="*/ 187 w 188"/>
                  <a:gd name="T39" fmla="*/ 75 h 189"/>
                  <a:gd name="T40" fmla="*/ 188 w 188"/>
                  <a:gd name="T41" fmla="*/ 95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8" h="189">
                    <a:moveTo>
                      <a:pt x="188" y="95"/>
                    </a:moveTo>
                    <a:lnTo>
                      <a:pt x="187" y="114"/>
                    </a:lnTo>
                    <a:lnTo>
                      <a:pt x="173" y="148"/>
                    </a:lnTo>
                    <a:lnTo>
                      <a:pt x="147" y="174"/>
                    </a:lnTo>
                    <a:lnTo>
                      <a:pt x="113" y="188"/>
                    </a:lnTo>
                    <a:lnTo>
                      <a:pt x="95" y="189"/>
                    </a:lnTo>
                    <a:lnTo>
                      <a:pt x="75" y="188"/>
                    </a:lnTo>
                    <a:lnTo>
                      <a:pt x="42" y="174"/>
                    </a:lnTo>
                    <a:lnTo>
                      <a:pt x="16" y="148"/>
                    </a:lnTo>
                    <a:lnTo>
                      <a:pt x="2" y="114"/>
                    </a:lnTo>
                    <a:lnTo>
                      <a:pt x="0" y="95"/>
                    </a:lnTo>
                    <a:lnTo>
                      <a:pt x="2" y="75"/>
                    </a:lnTo>
                    <a:lnTo>
                      <a:pt x="16" y="41"/>
                    </a:lnTo>
                    <a:lnTo>
                      <a:pt x="42" y="16"/>
                    </a:lnTo>
                    <a:lnTo>
                      <a:pt x="75" y="1"/>
                    </a:lnTo>
                    <a:lnTo>
                      <a:pt x="95" y="0"/>
                    </a:lnTo>
                    <a:lnTo>
                      <a:pt x="113" y="1"/>
                    </a:lnTo>
                    <a:lnTo>
                      <a:pt x="147" y="16"/>
                    </a:lnTo>
                    <a:lnTo>
                      <a:pt x="173" y="41"/>
                    </a:lnTo>
                    <a:lnTo>
                      <a:pt x="187" y="75"/>
                    </a:lnTo>
                    <a:lnTo>
                      <a:pt x="188" y="95"/>
                    </a:lnTo>
                    <a:close/>
                  </a:path>
                </a:pathLst>
              </a:custGeom>
              <a:grpFill/>
              <a:ln w="9525">
                <a:solidFill>
                  <a:schemeClr val="bg1">
                    <a:lumMod val="85000"/>
                  </a:schemeClr>
                </a:solidFill>
                <a:round/>
                <a:headEnd/>
                <a:tailEnd/>
              </a:ln>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15" name="Freeform 142">
                <a:extLst>
                  <a:ext uri="{FF2B5EF4-FFF2-40B4-BE49-F238E27FC236}">
                    <a16:creationId xmlns:a16="http://schemas.microsoft.com/office/drawing/2014/main" id="{74E5046A-4618-6CB2-BE70-447E2AEAE5DD}"/>
                  </a:ext>
                </a:extLst>
              </p:cNvPr>
              <p:cNvSpPr>
                <a:spLocks/>
              </p:cNvSpPr>
              <p:nvPr/>
            </p:nvSpPr>
            <p:spPr bwMode="auto">
              <a:xfrm>
                <a:off x="6466262" y="2698062"/>
                <a:ext cx="66940" cy="66940"/>
              </a:xfrm>
              <a:custGeom>
                <a:avLst/>
                <a:gdLst>
                  <a:gd name="T0" fmla="*/ 189 w 189"/>
                  <a:gd name="T1" fmla="*/ 95 h 190"/>
                  <a:gd name="T2" fmla="*/ 188 w 189"/>
                  <a:gd name="T3" fmla="*/ 114 h 190"/>
                  <a:gd name="T4" fmla="*/ 174 w 189"/>
                  <a:gd name="T5" fmla="*/ 148 h 190"/>
                  <a:gd name="T6" fmla="*/ 148 w 189"/>
                  <a:gd name="T7" fmla="*/ 174 h 190"/>
                  <a:gd name="T8" fmla="*/ 114 w 189"/>
                  <a:gd name="T9" fmla="*/ 188 h 190"/>
                  <a:gd name="T10" fmla="*/ 94 w 189"/>
                  <a:gd name="T11" fmla="*/ 190 h 190"/>
                  <a:gd name="T12" fmla="*/ 75 w 189"/>
                  <a:gd name="T13" fmla="*/ 188 h 190"/>
                  <a:gd name="T14" fmla="*/ 41 w 189"/>
                  <a:gd name="T15" fmla="*/ 174 h 190"/>
                  <a:gd name="T16" fmla="*/ 15 w 189"/>
                  <a:gd name="T17" fmla="*/ 148 h 190"/>
                  <a:gd name="T18" fmla="*/ 1 w 189"/>
                  <a:gd name="T19" fmla="*/ 114 h 190"/>
                  <a:gd name="T20" fmla="*/ 0 w 189"/>
                  <a:gd name="T21" fmla="*/ 95 h 190"/>
                  <a:gd name="T22" fmla="*/ 1 w 189"/>
                  <a:gd name="T23" fmla="*/ 76 h 190"/>
                  <a:gd name="T24" fmla="*/ 15 w 189"/>
                  <a:gd name="T25" fmla="*/ 42 h 190"/>
                  <a:gd name="T26" fmla="*/ 41 w 189"/>
                  <a:gd name="T27" fmla="*/ 16 h 190"/>
                  <a:gd name="T28" fmla="*/ 75 w 189"/>
                  <a:gd name="T29" fmla="*/ 2 h 190"/>
                  <a:gd name="T30" fmla="*/ 94 w 189"/>
                  <a:gd name="T31" fmla="*/ 0 h 190"/>
                  <a:gd name="T32" fmla="*/ 114 w 189"/>
                  <a:gd name="T33" fmla="*/ 2 h 190"/>
                  <a:gd name="T34" fmla="*/ 148 w 189"/>
                  <a:gd name="T35" fmla="*/ 16 h 190"/>
                  <a:gd name="T36" fmla="*/ 174 w 189"/>
                  <a:gd name="T37" fmla="*/ 42 h 190"/>
                  <a:gd name="T38" fmla="*/ 188 w 189"/>
                  <a:gd name="T39" fmla="*/ 76 h 190"/>
                  <a:gd name="T40" fmla="*/ 189 w 189"/>
                  <a:gd name="T41" fmla="*/ 95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9" h="190">
                    <a:moveTo>
                      <a:pt x="189" y="95"/>
                    </a:moveTo>
                    <a:lnTo>
                      <a:pt x="188" y="114"/>
                    </a:lnTo>
                    <a:lnTo>
                      <a:pt x="174" y="148"/>
                    </a:lnTo>
                    <a:lnTo>
                      <a:pt x="148" y="174"/>
                    </a:lnTo>
                    <a:lnTo>
                      <a:pt x="114" y="188"/>
                    </a:lnTo>
                    <a:lnTo>
                      <a:pt x="94" y="190"/>
                    </a:lnTo>
                    <a:lnTo>
                      <a:pt x="75" y="188"/>
                    </a:lnTo>
                    <a:lnTo>
                      <a:pt x="41" y="174"/>
                    </a:lnTo>
                    <a:lnTo>
                      <a:pt x="15" y="148"/>
                    </a:lnTo>
                    <a:lnTo>
                      <a:pt x="1" y="114"/>
                    </a:lnTo>
                    <a:lnTo>
                      <a:pt x="0" y="95"/>
                    </a:lnTo>
                    <a:lnTo>
                      <a:pt x="1" y="76"/>
                    </a:lnTo>
                    <a:lnTo>
                      <a:pt x="15" y="42"/>
                    </a:lnTo>
                    <a:lnTo>
                      <a:pt x="41" y="16"/>
                    </a:lnTo>
                    <a:lnTo>
                      <a:pt x="75" y="2"/>
                    </a:lnTo>
                    <a:lnTo>
                      <a:pt x="94" y="0"/>
                    </a:lnTo>
                    <a:lnTo>
                      <a:pt x="114" y="2"/>
                    </a:lnTo>
                    <a:lnTo>
                      <a:pt x="148" y="16"/>
                    </a:lnTo>
                    <a:lnTo>
                      <a:pt x="174" y="42"/>
                    </a:lnTo>
                    <a:lnTo>
                      <a:pt x="188" y="76"/>
                    </a:lnTo>
                    <a:lnTo>
                      <a:pt x="189" y="95"/>
                    </a:lnTo>
                    <a:close/>
                  </a:path>
                </a:pathLst>
              </a:custGeom>
              <a:grpFill/>
              <a:ln w="9525">
                <a:solidFill>
                  <a:schemeClr val="bg1">
                    <a:lumMod val="85000"/>
                  </a:schemeClr>
                </a:solidFill>
                <a:round/>
                <a:headEnd/>
                <a:tailEnd/>
              </a:ln>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16" name="Freeform 143">
                <a:extLst>
                  <a:ext uri="{FF2B5EF4-FFF2-40B4-BE49-F238E27FC236}">
                    <a16:creationId xmlns:a16="http://schemas.microsoft.com/office/drawing/2014/main" id="{ACDC20BF-019D-D32C-E4F5-602FD1B7BE42}"/>
                  </a:ext>
                </a:extLst>
              </p:cNvPr>
              <p:cNvSpPr>
                <a:spLocks/>
              </p:cNvSpPr>
              <p:nvPr/>
            </p:nvSpPr>
            <p:spPr bwMode="auto">
              <a:xfrm>
                <a:off x="6510889" y="2395438"/>
                <a:ext cx="52994" cy="54389"/>
              </a:xfrm>
              <a:custGeom>
                <a:avLst/>
                <a:gdLst>
                  <a:gd name="T0" fmla="*/ 154 w 154"/>
                  <a:gd name="T1" fmla="*/ 78 h 154"/>
                  <a:gd name="T2" fmla="*/ 153 w 154"/>
                  <a:gd name="T3" fmla="*/ 93 h 154"/>
                  <a:gd name="T4" fmla="*/ 141 w 154"/>
                  <a:gd name="T5" fmla="*/ 121 h 154"/>
                  <a:gd name="T6" fmla="*/ 120 w 154"/>
                  <a:gd name="T7" fmla="*/ 141 h 154"/>
                  <a:gd name="T8" fmla="*/ 92 w 154"/>
                  <a:gd name="T9" fmla="*/ 153 h 154"/>
                  <a:gd name="T10" fmla="*/ 76 w 154"/>
                  <a:gd name="T11" fmla="*/ 154 h 154"/>
                  <a:gd name="T12" fmla="*/ 60 w 154"/>
                  <a:gd name="T13" fmla="*/ 153 h 154"/>
                  <a:gd name="T14" fmla="*/ 33 w 154"/>
                  <a:gd name="T15" fmla="*/ 141 h 154"/>
                  <a:gd name="T16" fmla="*/ 13 w 154"/>
                  <a:gd name="T17" fmla="*/ 121 h 154"/>
                  <a:gd name="T18" fmla="*/ 1 w 154"/>
                  <a:gd name="T19" fmla="*/ 93 h 154"/>
                  <a:gd name="T20" fmla="*/ 0 w 154"/>
                  <a:gd name="T21" fmla="*/ 78 h 154"/>
                  <a:gd name="T22" fmla="*/ 1 w 154"/>
                  <a:gd name="T23" fmla="*/ 62 h 154"/>
                  <a:gd name="T24" fmla="*/ 13 w 154"/>
                  <a:gd name="T25" fmla="*/ 34 h 154"/>
                  <a:gd name="T26" fmla="*/ 33 w 154"/>
                  <a:gd name="T27" fmla="*/ 13 h 154"/>
                  <a:gd name="T28" fmla="*/ 60 w 154"/>
                  <a:gd name="T29" fmla="*/ 1 h 154"/>
                  <a:gd name="T30" fmla="*/ 76 w 154"/>
                  <a:gd name="T31" fmla="*/ 0 h 154"/>
                  <a:gd name="T32" fmla="*/ 92 w 154"/>
                  <a:gd name="T33" fmla="*/ 1 h 154"/>
                  <a:gd name="T34" fmla="*/ 120 w 154"/>
                  <a:gd name="T35" fmla="*/ 13 h 154"/>
                  <a:gd name="T36" fmla="*/ 141 w 154"/>
                  <a:gd name="T37" fmla="*/ 34 h 154"/>
                  <a:gd name="T38" fmla="*/ 153 w 154"/>
                  <a:gd name="T39" fmla="*/ 62 h 154"/>
                  <a:gd name="T40" fmla="*/ 154 w 154"/>
                  <a:gd name="T41" fmla="*/ 78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4" h="154">
                    <a:moveTo>
                      <a:pt x="154" y="78"/>
                    </a:moveTo>
                    <a:lnTo>
                      <a:pt x="153" y="93"/>
                    </a:lnTo>
                    <a:lnTo>
                      <a:pt x="141" y="121"/>
                    </a:lnTo>
                    <a:lnTo>
                      <a:pt x="120" y="141"/>
                    </a:lnTo>
                    <a:lnTo>
                      <a:pt x="92" y="153"/>
                    </a:lnTo>
                    <a:lnTo>
                      <a:pt x="76" y="154"/>
                    </a:lnTo>
                    <a:lnTo>
                      <a:pt x="60" y="153"/>
                    </a:lnTo>
                    <a:lnTo>
                      <a:pt x="33" y="141"/>
                    </a:lnTo>
                    <a:lnTo>
                      <a:pt x="13" y="121"/>
                    </a:lnTo>
                    <a:lnTo>
                      <a:pt x="1" y="93"/>
                    </a:lnTo>
                    <a:lnTo>
                      <a:pt x="0" y="78"/>
                    </a:lnTo>
                    <a:lnTo>
                      <a:pt x="1" y="62"/>
                    </a:lnTo>
                    <a:lnTo>
                      <a:pt x="13" y="34"/>
                    </a:lnTo>
                    <a:lnTo>
                      <a:pt x="33" y="13"/>
                    </a:lnTo>
                    <a:lnTo>
                      <a:pt x="60" y="1"/>
                    </a:lnTo>
                    <a:lnTo>
                      <a:pt x="76" y="0"/>
                    </a:lnTo>
                    <a:lnTo>
                      <a:pt x="92" y="1"/>
                    </a:lnTo>
                    <a:lnTo>
                      <a:pt x="120" y="13"/>
                    </a:lnTo>
                    <a:lnTo>
                      <a:pt x="141" y="34"/>
                    </a:lnTo>
                    <a:lnTo>
                      <a:pt x="153" y="62"/>
                    </a:lnTo>
                    <a:lnTo>
                      <a:pt x="154" y="78"/>
                    </a:lnTo>
                    <a:close/>
                  </a:path>
                </a:pathLst>
              </a:custGeom>
              <a:grpFill/>
              <a:ln w="9525">
                <a:solidFill>
                  <a:schemeClr val="bg1">
                    <a:lumMod val="85000"/>
                  </a:schemeClr>
                </a:solidFill>
                <a:round/>
                <a:headEnd/>
                <a:tailEnd/>
              </a:ln>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17" name="Freeform 144">
                <a:extLst>
                  <a:ext uri="{FF2B5EF4-FFF2-40B4-BE49-F238E27FC236}">
                    <a16:creationId xmlns:a16="http://schemas.microsoft.com/office/drawing/2014/main" id="{405E22BB-44A2-C318-08B9-5FDB554A522C}"/>
                  </a:ext>
                </a:extLst>
              </p:cNvPr>
              <p:cNvSpPr>
                <a:spLocks/>
              </p:cNvSpPr>
              <p:nvPr/>
            </p:nvSpPr>
            <p:spPr bwMode="auto">
              <a:xfrm>
                <a:off x="7368558" y="4798307"/>
                <a:ext cx="54389" cy="54389"/>
              </a:xfrm>
              <a:custGeom>
                <a:avLst/>
                <a:gdLst>
                  <a:gd name="T0" fmla="*/ 154 w 154"/>
                  <a:gd name="T1" fmla="*/ 76 h 154"/>
                  <a:gd name="T2" fmla="*/ 153 w 154"/>
                  <a:gd name="T3" fmla="*/ 92 h 154"/>
                  <a:gd name="T4" fmla="*/ 142 w 154"/>
                  <a:gd name="T5" fmla="*/ 120 h 154"/>
                  <a:gd name="T6" fmla="*/ 121 w 154"/>
                  <a:gd name="T7" fmla="*/ 141 h 154"/>
                  <a:gd name="T8" fmla="*/ 92 w 154"/>
                  <a:gd name="T9" fmla="*/ 152 h 154"/>
                  <a:gd name="T10" fmla="*/ 77 w 154"/>
                  <a:gd name="T11" fmla="*/ 154 h 154"/>
                  <a:gd name="T12" fmla="*/ 61 w 154"/>
                  <a:gd name="T13" fmla="*/ 152 h 154"/>
                  <a:gd name="T14" fmla="*/ 34 w 154"/>
                  <a:gd name="T15" fmla="*/ 141 h 154"/>
                  <a:gd name="T16" fmla="*/ 13 w 154"/>
                  <a:gd name="T17" fmla="*/ 120 h 154"/>
                  <a:gd name="T18" fmla="*/ 2 w 154"/>
                  <a:gd name="T19" fmla="*/ 92 h 154"/>
                  <a:gd name="T20" fmla="*/ 0 w 154"/>
                  <a:gd name="T21" fmla="*/ 76 h 154"/>
                  <a:gd name="T22" fmla="*/ 2 w 154"/>
                  <a:gd name="T23" fmla="*/ 60 h 154"/>
                  <a:gd name="T24" fmla="*/ 13 w 154"/>
                  <a:gd name="T25" fmla="*/ 33 h 154"/>
                  <a:gd name="T26" fmla="*/ 34 w 154"/>
                  <a:gd name="T27" fmla="*/ 12 h 154"/>
                  <a:gd name="T28" fmla="*/ 61 w 154"/>
                  <a:gd name="T29" fmla="*/ 1 h 154"/>
                  <a:gd name="T30" fmla="*/ 77 w 154"/>
                  <a:gd name="T31" fmla="*/ 0 h 154"/>
                  <a:gd name="T32" fmla="*/ 92 w 154"/>
                  <a:gd name="T33" fmla="*/ 1 h 154"/>
                  <a:gd name="T34" fmla="*/ 121 w 154"/>
                  <a:gd name="T35" fmla="*/ 12 h 154"/>
                  <a:gd name="T36" fmla="*/ 142 w 154"/>
                  <a:gd name="T37" fmla="*/ 33 h 154"/>
                  <a:gd name="T38" fmla="*/ 153 w 154"/>
                  <a:gd name="T39" fmla="*/ 60 h 154"/>
                  <a:gd name="T40" fmla="*/ 154 w 154"/>
                  <a:gd name="T41" fmla="*/ 76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4" h="154">
                    <a:moveTo>
                      <a:pt x="154" y="76"/>
                    </a:moveTo>
                    <a:lnTo>
                      <a:pt x="153" y="92"/>
                    </a:lnTo>
                    <a:lnTo>
                      <a:pt x="142" y="120"/>
                    </a:lnTo>
                    <a:lnTo>
                      <a:pt x="121" y="141"/>
                    </a:lnTo>
                    <a:lnTo>
                      <a:pt x="92" y="152"/>
                    </a:lnTo>
                    <a:lnTo>
                      <a:pt x="77" y="154"/>
                    </a:lnTo>
                    <a:lnTo>
                      <a:pt x="61" y="152"/>
                    </a:lnTo>
                    <a:lnTo>
                      <a:pt x="34" y="141"/>
                    </a:lnTo>
                    <a:lnTo>
                      <a:pt x="13" y="120"/>
                    </a:lnTo>
                    <a:lnTo>
                      <a:pt x="2" y="92"/>
                    </a:lnTo>
                    <a:lnTo>
                      <a:pt x="0" y="76"/>
                    </a:lnTo>
                    <a:lnTo>
                      <a:pt x="2" y="60"/>
                    </a:lnTo>
                    <a:lnTo>
                      <a:pt x="13" y="33"/>
                    </a:lnTo>
                    <a:lnTo>
                      <a:pt x="34" y="12"/>
                    </a:lnTo>
                    <a:lnTo>
                      <a:pt x="61" y="1"/>
                    </a:lnTo>
                    <a:lnTo>
                      <a:pt x="77" y="0"/>
                    </a:lnTo>
                    <a:lnTo>
                      <a:pt x="92" y="1"/>
                    </a:lnTo>
                    <a:lnTo>
                      <a:pt x="121" y="12"/>
                    </a:lnTo>
                    <a:lnTo>
                      <a:pt x="142" y="33"/>
                    </a:lnTo>
                    <a:lnTo>
                      <a:pt x="153" y="60"/>
                    </a:lnTo>
                    <a:lnTo>
                      <a:pt x="154" y="76"/>
                    </a:lnTo>
                    <a:close/>
                  </a:path>
                </a:pathLst>
              </a:custGeom>
              <a:grpFill/>
              <a:ln w="9525">
                <a:solidFill>
                  <a:schemeClr val="bg1">
                    <a:lumMod val="85000"/>
                  </a:schemeClr>
                </a:solidFill>
                <a:round/>
                <a:headEnd/>
                <a:tailEnd/>
              </a:ln>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18" name="Freeform 145">
                <a:extLst>
                  <a:ext uri="{FF2B5EF4-FFF2-40B4-BE49-F238E27FC236}">
                    <a16:creationId xmlns:a16="http://schemas.microsoft.com/office/drawing/2014/main" id="{6C37B482-B66B-E13F-9799-633E9AEFC4FE}"/>
                  </a:ext>
                </a:extLst>
              </p:cNvPr>
              <p:cNvSpPr>
                <a:spLocks/>
              </p:cNvSpPr>
              <p:nvPr/>
            </p:nvSpPr>
            <p:spPr bwMode="auto">
              <a:xfrm>
                <a:off x="5102359" y="5130218"/>
                <a:ext cx="52994" cy="52994"/>
              </a:xfrm>
              <a:custGeom>
                <a:avLst/>
                <a:gdLst>
                  <a:gd name="T0" fmla="*/ 154 w 154"/>
                  <a:gd name="T1" fmla="*/ 77 h 154"/>
                  <a:gd name="T2" fmla="*/ 152 w 154"/>
                  <a:gd name="T3" fmla="*/ 93 h 154"/>
                  <a:gd name="T4" fmla="*/ 141 w 154"/>
                  <a:gd name="T5" fmla="*/ 120 h 154"/>
                  <a:gd name="T6" fmla="*/ 120 w 154"/>
                  <a:gd name="T7" fmla="*/ 141 h 154"/>
                  <a:gd name="T8" fmla="*/ 93 w 154"/>
                  <a:gd name="T9" fmla="*/ 153 h 154"/>
                  <a:gd name="T10" fmla="*/ 77 w 154"/>
                  <a:gd name="T11" fmla="*/ 154 h 154"/>
                  <a:gd name="T12" fmla="*/ 62 w 154"/>
                  <a:gd name="T13" fmla="*/ 153 h 154"/>
                  <a:gd name="T14" fmla="*/ 33 w 154"/>
                  <a:gd name="T15" fmla="*/ 141 h 154"/>
                  <a:gd name="T16" fmla="*/ 13 w 154"/>
                  <a:gd name="T17" fmla="*/ 120 h 154"/>
                  <a:gd name="T18" fmla="*/ 1 w 154"/>
                  <a:gd name="T19" fmla="*/ 93 h 154"/>
                  <a:gd name="T20" fmla="*/ 0 w 154"/>
                  <a:gd name="T21" fmla="*/ 77 h 154"/>
                  <a:gd name="T22" fmla="*/ 1 w 154"/>
                  <a:gd name="T23" fmla="*/ 62 h 154"/>
                  <a:gd name="T24" fmla="*/ 13 w 154"/>
                  <a:gd name="T25" fmla="*/ 33 h 154"/>
                  <a:gd name="T26" fmla="*/ 33 w 154"/>
                  <a:gd name="T27" fmla="*/ 13 h 154"/>
                  <a:gd name="T28" fmla="*/ 62 w 154"/>
                  <a:gd name="T29" fmla="*/ 1 h 154"/>
                  <a:gd name="T30" fmla="*/ 77 w 154"/>
                  <a:gd name="T31" fmla="*/ 0 h 154"/>
                  <a:gd name="T32" fmla="*/ 93 w 154"/>
                  <a:gd name="T33" fmla="*/ 1 h 154"/>
                  <a:gd name="T34" fmla="*/ 120 w 154"/>
                  <a:gd name="T35" fmla="*/ 13 h 154"/>
                  <a:gd name="T36" fmla="*/ 141 w 154"/>
                  <a:gd name="T37" fmla="*/ 33 h 154"/>
                  <a:gd name="T38" fmla="*/ 152 w 154"/>
                  <a:gd name="T39" fmla="*/ 62 h 154"/>
                  <a:gd name="T40" fmla="*/ 154 w 154"/>
                  <a:gd name="T41" fmla="*/ 77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4" h="154">
                    <a:moveTo>
                      <a:pt x="154" y="77"/>
                    </a:moveTo>
                    <a:lnTo>
                      <a:pt x="152" y="93"/>
                    </a:lnTo>
                    <a:lnTo>
                      <a:pt x="141" y="120"/>
                    </a:lnTo>
                    <a:lnTo>
                      <a:pt x="120" y="141"/>
                    </a:lnTo>
                    <a:lnTo>
                      <a:pt x="93" y="153"/>
                    </a:lnTo>
                    <a:lnTo>
                      <a:pt x="77" y="154"/>
                    </a:lnTo>
                    <a:lnTo>
                      <a:pt x="62" y="153"/>
                    </a:lnTo>
                    <a:lnTo>
                      <a:pt x="33" y="141"/>
                    </a:lnTo>
                    <a:lnTo>
                      <a:pt x="13" y="120"/>
                    </a:lnTo>
                    <a:lnTo>
                      <a:pt x="1" y="93"/>
                    </a:lnTo>
                    <a:lnTo>
                      <a:pt x="0" y="77"/>
                    </a:lnTo>
                    <a:lnTo>
                      <a:pt x="1" y="62"/>
                    </a:lnTo>
                    <a:lnTo>
                      <a:pt x="13" y="33"/>
                    </a:lnTo>
                    <a:lnTo>
                      <a:pt x="33" y="13"/>
                    </a:lnTo>
                    <a:lnTo>
                      <a:pt x="62" y="1"/>
                    </a:lnTo>
                    <a:lnTo>
                      <a:pt x="77" y="0"/>
                    </a:lnTo>
                    <a:lnTo>
                      <a:pt x="93" y="1"/>
                    </a:lnTo>
                    <a:lnTo>
                      <a:pt x="120" y="13"/>
                    </a:lnTo>
                    <a:lnTo>
                      <a:pt x="141" y="33"/>
                    </a:lnTo>
                    <a:lnTo>
                      <a:pt x="152" y="62"/>
                    </a:lnTo>
                    <a:lnTo>
                      <a:pt x="154" y="77"/>
                    </a:lnTo>
                    <a:close/>
                  </a:path>
                </a:pathLst>
              </a:custGeom>
              <a:grpFill/>
              <a:ln w="9525">
                <a:solidFill>
                  <a:schemeClr val="bg1">
                    <a:lumMod val="85000"/>
                  </a:schemeClr>
                </a:solidFill>
                <a:round/>
                <a:headEnd/>
                <a:tailEnd/>
              </a:ln>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19" name="Freeform 146">
                <a:extLst>
                  <a:ext uri="{FF2B5EF4-FFF2-40B4-BE49-F238E27FC236}">
                    <a16:creationId xmlns:a16="http://schemas.microsoft.com/office/drawing/2014/main" id="{1B428D6B-2B7E-DE91-8774-C39EDC723689}"/>
                  </a:ext>
                </a:extLst>
              </p:cNvPr>
              <p:cNvSpPr>
                <a:spLocks/>
              </p:cNvSpPr>
              <p:nvPr/>
            </p:nvSpPr>
            <p:spPr bwMode="auto">
              <a:xfrm>
                <a:off x="4403671" y="2495848"/>
                <a:ext cx="79492" cy="79492"/>
              </a:xfrm>
              <a:custGeom>
                <a:avLst/>
                <a:gdLst>
                  <a:gd name="T0" fmla="*/ 228 w 228"/>
                  <a:gd name="T1" fmla="*/ 116 h 230"/>
                  <a:gd name="T2" fmla="*/ 227 w 228"/>
                  <a:gd name="T3" fmla="*/ 139 h 230"/>
                  <a:gd name="T4" fmla="*/ 210 w 228"/>
                  <a:gd name="T5" fmla="*/ 179 h 230"/>
                  <a:gd name="T6" fmla="*/ 179 w 228"/>
                  <a:gd name="T7" fmla="*/ 210 h 230"/>
                  <a:gd name="T8" fmla="*/ 137 w 228"/>
                  <a:gd name="T9" fmla="*/ 229 h 230"/>
                  <a:gd name="T10" fmla="*/ 114 w 228"/>
                  <a:gd name="T11" fmla="*/ 230 h 230"/>
                  <a:gd name="T12" fmla="*/ 91 w 228"/>
                  <a:gd name="T13" fmla="*/ 229 h 230"/>
                  <a:gd name="T14" fmla="*/ 49 w 228"/>
                  <a:gd name="T15" fmla="*/ 210 h 230"/>
                  <a:gd name="T16" fmla="*/ 18 w 228"/>
                  <a:gd name="T17" fmla="*/ 179 h 230"/>
                  <a:gd name="T18" fmla="*/ 1 w 228"/>
                  <a:gd name="T19" fmla="*/ 139 h 230"/>
                  <a:gd name="T20" fmla="*/ 0 w 228"/>
                  <a:gd name="T21" fmla="*/ 116 h 230"/>
                  <a:gd name="T22" fmla="*/ 1 w 228"/>
                  <a:gd name="T23" fmla="*/ 92 h 230"/>
                  <a:gd name="T24" fmla="*/ 18 w 228"/>
                  <a:gd name="T25" fmla="*/ 51 h 230"/>
                  <a:gd name="T26" fmla="*/ 49 w 228"/>
                  <a:gd name="T27" fmla="*/ 20 h 230"/>
                  <a:gd name="T28" fmla="*/ 91 w 228"/>
                  <a:gd name="T29" fmla="*/ 2 h 230"/>
                  <a:gd name="T30" fmla="*/ 114 w 228"/>
                  <a:gd name="T31" fmla="*/ 0 h 230"/>
                  <a:gd name="T32" fmla="*/ 137 w 228"/>
                  <a:gd name="T33" fmla="*/ 2 h 230"/>
                  <a:gd name="T34" fmla="*/ 179 w 228"/>
                  <a:gd name="T35" fmla="*/ 20 h 230"/>
                  <a:gd name="T36" fmla="*/ 210 w 228"/>
                  <a:gd name="T37" fmla="*/ 51 h 230"/>
                  <a:gd name="T38" fmla="*/ 227 w 228"/>
                  <a:gd name="T39" fmla="*/ 92 h 230"/>
                  <a:gd name="T40" fmla="*/ 228 w 228"/>
                  <a:gd name="T41" fmla="*/ 116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8" h="230">
                    <a:moveTo>
                      <a:pt x="228" y="116"/>
                    </a:moveTo>
                    <a:lnTo>
                      <a:pt x="227" y="139"/>
                    </a:lnTo>
                    <a:lnTo>
                      <a:pt x="210" y="179"/>
                    </a:lnTo>
                    <a:lnTo>
                      <a:pt x="179" y="210"/>
                    </a:lnTo>
                    <a:lnTo>
                      <a:pt x="137" y="229"/>
                    </a:lnTo>
                    <a:lnTo>
                      <a:pt x="114" y="230"/>
                    </a:lnTo>
                    <a:lnTo>
                      <a:pt x="91" y="229"/>
                    </a:lnTo>
                    <a:lnTo>
                      <a:pt x="49" y="210"/>
                    </a:lnTo>
                    <a:lnTo>
                      <a:pt x="18" y="179"/>
                    </a:lnTo>
                    <a:lnTo>
                      <a:pt x="1" y="139"/>
                    </a:lnTo>
                    <a:lnTo>
                      <a:pt x="0" y="116"/>
                    </a:lnTo>
                    <a:lnTo>
                      <a:pt x="1" y="92"/>
                    </a:lnTo>
                    <a:lnTo>
                      <a:pt x="18" y="51"/>
                    </a:lnTo>
                    <a:lnTo>
                      <a:pt x="49" y="20"/>
                    </a:lnTo>
                    <a:lnTo>
                      <a:pt x="91" y="2"/>
                    </a:lnTo>
                    <a:lnTo>
                      <a:pt x="114" y="0"/>
                    </a:lnTo>
                    <a:lnTo>
                      <a:pt x="137" y="2"/>
                    </a:lnTo>
                    <a:lnTo>
                      <a:pt x="179" y="20"/>
                    </a:lnTo>
                    <a:lnTo>
                      <a:pt x="210" y="51"/>
                    </a:lnTo>
                    <a:lnTo>
                      <a:pt x="227" y="92"/>
                    </a:lnTo>
                    <a:lnTo>
                      <a:pt x="228" y="116"/>
                    </a:lnTo>
                    <a:close/>
                  </a:path>
                </a:pathLst>
              </a:custGeom>
              <a:grpFill/>
              <a:ln w="9525">
                <a:solidFill>
                  <a:schemeClr val="bg1">
                    <a:lumMod val="85000"/>
                  </a:schemeClr>
                </a:solidFill>
                <a:round/>
                <a:headEnd/>
                <a:tailEnd/>
              </a:ln>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20" name="Freeform 147">
                <a:extLst>
                  <a:ext uri="{FF2B5EF4-FFF2-40B4-BE49-F238E27FC236}">
                    <a16:creationId xmlns:a16="http://schemas.microsoft.com/office/drawing/2014/main" id="{F3B6AC40-D621-8198-1EB1-41FCCB81612D}"/>
                  </a:ext>
                </a:extLst>
              </p:cNvPr>
              <p:cNvSpPr>
                <a:spLocks/>
              </p:cNvSpPr>
              <p:nvPr/>
            </p:nvSpPr>
            <p:spPr bwMode="auto">
              <a:xfrm>
                <a:off x="6919502" y="2790105"/>
                <a:ext cx="94832" cy="96227"/>
              </a:xfrm>
              <a:custGeom>
                <a:avLst/>
                <a:gdLst>
                  <a:gd name="T0" fmla="*/ 271 w 271"/>
                  <a:gd name="T1" fmla="*/ 136 h 272"/>
                  <a:gd name="T2" fmla="*/ 269 w 271"/>
                  <a:gd name="T3" fmla="*/ 163 h 272"/>
                  <a:gd name="T4" fmla="*/ 249 w 271"/>
                  <a:gd name="T5" fmla="*/ 212 h 272"/>
                  <a:gd name="T6" fmla="*/ 212 w 271"/>
                  <a:gd name="T7" fmla="*/ 249 h 272"/>
                  <a:gd name="T8" fmla="*/ 163 w 271"/>
                  <a:gd name="T9" fmla="*/ 269 h 272"/>
                  <a:gd name="T10" fmla="*/ 136 w 271"/>
                  <a:gd name="T11" fmla="*/ 272 h 272"/>
                  <a:gd name="T12" fmla="*/ 107 w 271"/>
                  <a:gd name="T13" fmla="*/ 269 h 272"/>
                  <a:gd name="T14" fmla="*/ 58 w 271"/>
                  <a:gd name="T15" fmla="*/ 249 h 272"/>
                  <a:gd name="T16" fmla="*/ 22 w 271"/>
                  <a:gd name="T17" fmla="*/ 212 h 272"/>
                  <a:gd name="T18" fmla="*/ 1 w 271"/>
                  <a:gd name="T19" fmla="*/ 163 h 272"/>
                  <a:gd name="T20" fmla="*/ 0 w 271"/>
                  <a:gd name="T21" fmla="*/ 136 h 272"/>
                  <a:gd name="T22" fmla="*/ 1 w 271"/>
                  <a:gd name="T23" fmla="*/ 107 h 272"/>
                  <a:gd name="T24" fmla="*/ 22 w 271"/>
                  <a:gd name="T25" fmla="*/ 59 h 272"/>
                  <a:gd name="T26" fmla="*/ 58 w 271"/>
                  <a:gd name="T27" fmla="*/ 22 h 272"/>
                  <a:gd name="T28" fmla="*/ 107 w 271"/>
                  <a:gd name="T29" fmla="*/ 1 h 272"/>
                  <a:gd name="T30" fmla="*/ 136 w 271"/>
                  <a:gd name="T31" fmla="*/ 0 h 272"/>
                  <a:gd name="T32" fmla="*/ 163 w 271"/>
                  <a:gd name="T33" fmla="*/ 1 h 272"/>
                  <a:gd name="T34" fmla="*/ 212 w 271"/>
                  <a:gd name="T35" fmla="*/ 22 h 272"/>
                  <a:gd name="T36" fmla="*/ 249 w 271"/>
                  <a:gd name="T37" fmla="*/ 59 h 272"/>
                  <a:gd name="T38" fmla="*/ 269 w 271"/>
                  <a:gd name="T39" fmla="*/ 107 h 272"/>
                  <a:gd name="T40" fmla="*/ 271 w 271"/>
                  <a:gd name="T41" fmla="*/ 136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71" h="272">
                    <a:moveTo>
                      <a:pt x="271" y="136"/>
                    </a:moveTo>
                    <a:lnTo>
                      <a:pt x="269" y="163"/>
                    </a:lnTo>
                    <a:lnTo>
                      <a:pt x="249" y="212"/>
                    </a:lnTo>
                    <a:lnTo>
                      <a:pt x="212" y="249"/>
                    </a:lnTo>
                    <a:lnTo>
                      <a:pt x="163" y="269"/>
                    </a:lnTo>
                    <a:lnTo>
                      <a:pt x="136" y="272"/>
                    </a:lnTo>
                    <a:lnTo>
                      <a:pt x="107" y="269"/>
                    </a:lnTo>
                    <a:lnTo>
                      <a:pt x="58" y="249"/>
                    </a:lnTo>
                    <a:lnTo>
                      <a:pt x="22" y="212"/>
                    </a:lnTo>
                    <a:lnTo>
                      <a:pt x="1" y="163"/>
                    </a:lnTo>
                    <a:lnTo>
                      <a:pt x="0" y="136"/>
                    </a:lnTo>
                    <a:lnTo>
                      <a:pt x="1" y="107"/>
                    </a:lnTo>
                    <a:lnTo>
                      <a:pt x="22" y="59"/>
                    </a:lnTo>
                    <a:lnTo>
                      <a:pt x="58" y="22"/>
                    </a:lnTo>
                    <a:lnTo>
                      <a:pt x="107" y="1"/>
                    </a:lnTo>
                    <a:lnTo>
                      <a:pt x="136" y="0"/>
                    </a:lnTo>
                    <a:lnTo>
                      <a:pt x="163" y="1"/>
                    </a:lnTo>
                    <a:lnTo>
                      <a:pt x="212" y="22"/>
                    </a:lnTo>
                    <a:lnTo>
                      <a:pt x="249" y="59"/>
                    </a:lnTo>
                    <a:lnTo>
                      <a:pt x="269" y="107"/>
                    </a:lnTo>
                    <a:lnTo>
                      <a:pt x="271" y="136"/>
                    </a:lnTo>
                    <a:close/>
                  </a:path>
                </a:pathLst>
              </a:custGeom>
              <a:grpFill/>
              <a:ln w="9525">
                <a:solidFill>
                  <a:schemeClr val="bg1">
                    <a:lumMod val="85000"/>
                  </a:schemeClr>
                </a:solidFill>
                <a:round/>
                <a:headEnd/>
                <a:tailEnd/>
              </a:ln>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21" name="Freeform 148">
                <a:extLst>
                  <a:ext uri="{FF2B5EF4-FFF2-40B4-BE49-F238E27FC236}">
                    <a16:creationId xmlns:a16="http://schemas.microsoft.com/office/drawing/2014/main" id="{5389FB14-8A9F-0C96-8E5D-0AF589FF0C6E}"/>
                  </a:ext>
                </a:extLst>
              </p:cNvPr>
              <p:cNvSpPr>
                <a:spLocks/>
              </p:cNvSpPr>
              <p:nvPr/>
            </p:nvSpPr>
            <p:spPr bwMode="auto">
              <a:xfrm>
                <a:off x="7286278" y="4039653"/>
                <a:ext cx="94832" cy="94832"/>
              </a:xfrm>
              <a:custGeom>
                <a:avLst/>
                <a:gdLst>
                  <a:gd name="T0" fmla="*/ 272 w 272"/>
                  <a:gd name="T1" fmla="*/ 136 h 272"/>
                  <a:gd name="T2" fmla="*/ 270 w 272"/>
                  <a:gd name="T3" fmla="*/ 163 h 272"/>
                  <a:gd name="T4" fmla="*/ 249 w 272"/>
                  <a:gd name="T5" fmla="*/ 213 h 272"/>
                  <a:gd name="T6" fmla="*/ 213 w 272"/>
                  <a:gd name="T7" fmla="*/ 249 h 272"/>
                  <a:gd name="T8" fmla="*/ 163 w 272"/>
                  <a:gd name="T9" fmla="*/ 270 h 272"/>
                  <a:gd name="T10" fmla="*/ 136 w 272"/>
                  <a:gd name="T11" fmla="*/ 272 h 272"/>
                  <a:gd name="T12" fmla="*/ 108 w 272"/>
                  <a:gd name="T13" fmla="*/ 270 h 272"/>
                  <a:gd name="T14" fmla="*/ 60 w 272"/>
                  <a:gd name="T15" fmla="*/ 249 h 272"/>
                  <a:gd name="T16" fmla="*/ 22 w 272"/>
                  <a:gd name="T17" fmla="*/ 213 h 272"/>
                  <a:gd name="T18" fmla="*/ 1 w 272"/>
                  <a:gd name="T19" fmla="*/ 163 h 272"/>
                  <a:gd name="T20" fmla="*/ 0 w 272"/>
                  <a:gd name="T21" fmla="*/ 136 h 272"/>
                  <a:gd name="T22" fmla="*/ 1 w 272"/>
                  <a:gd name="T23" fmla="*/ 108 h 272"/>
                  <a:gd name="T24" fmla="*/ 22 w 272"/>
                  <a:gd name="T25" fmla="*/ 60 h 272"/>
                  <a:gd name="T26" fmla="*/ 60 w 272"/>
                  <a:gd name="T27" fmla="*/ 22 h 272"/>
                  <a:gd name="T28" fmla="*/ 108 w 272"/>
                  <a:gd name="T29" fmla="*/ 1 h 272"/>
                  <a:gd name="T30" fmla="*/ 136 w 272"/>
                  <a:gd name="T31" fmla="*/ 0 h 272"/>
                  <a:gd name="T32" fmla="*/ 163 w 272"/>
                  <a:gd name="T33" fmla="*/ 1 h 272"/>
                  <a:gd name="T34" fmla="*/ 213 w 272"/>
                  <a:gd name="T35" fmla="*/ 22 h 272"/>
                  <a:gd name="T36" fmla="*/ 249 w 272"/>
                  <a:gd name="T37" fmla="*/ 60 h 272"/>
                  <a:gd name="T38" fmla="*/ 270 w 272"/>
                  <a:gd name="T39" fmla="*/ 108 h 272"/>
                  <a:gd name="T40" fmla="*/ 272 w 272"/>
                  <a:gd name="T41" fmla="*/ 136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72" h="272">
                    <a:moveTo>
                      <a:pt x="272" y="136"/>
                    </a:moveTo>
                    <a:lnTo>
                      <a:pt x="270" y="163"/>
                    </a:lnTo>
                    <a:lnTo>
                      <a:pt x="249" y="213"/>
                    </a:lnTo>
                    <a:lnTo>
                      <a:pt x="213" y="249"/>
                    </a:lnTo>
                    <a:lnTo>
                      <a:pt x="163" y="270"/>
                    </a:lnTo>
                    <a:lnTo>
                      <a:pt x="136" y="272"/>
                    </a:lnTo>
                    <a:lnTo>
                      <a:pt x="108" y="270"/>
                    </a:lnTo>
                    <a:lnTo>
                      <a:pt x="60" y="249"/>
                    </a:lnTo>
                    <a:lnTo>
                      <a:pt x="22" y="213"/>
                    </a:lnTo>
                    <a:lnTo>
                      <a:pt x="1" y="163"/>
                    </a:lnTo>
                    <a:lnTo>
                      <a:pt x="0" y="136"/>
                    </a:lnTo>
                    <a:lnTo>
                      <a:pt x="1" y="108"/>
                    </a:lnTo>
                    <a:lnTo>
                      <a:pt x="22" y="60"/>
                    </a:lnTo>
                    <a:lnTo>
                      <a:pt x="60" y="22"/>
                    </a:lnTo>
                    <a:lnTo>
                      <a:pt x="108" y="1"/>
                    </a:lnTo>
                    <a:lnTo>
                      <a:pt x="136" y="0"/>
                    </a:lnTo>
                    <a:lnTo>
                      <a:pt x="163" y="1"/>
                    </a:lnTo>
                    <a:lnTo>
                      <a:pt x="213" y="22"/>
                    </a:lnTo>
                    <a:lnTo>
                      <a:pt x="249" y="60"/>
                    </a:lnTo>
                    <a:lnTo>
                      <a:pt x="270" y="108"/>
                    </a:lnTo>
                    <a:lnTo>
                      <a:pt x="272" y="136"/>
                    </a:lnTo>
                    <a:close/>
                  </a:path>
                </a:pathLst>
              </a:custGeom>
              <a:grpFill/>
              <a:ln w="9525">
                <a:solidFill>
                  <a:schemeClr val="bg1">
                    <a:lumMod val="85000"/>
                  </a:schemeClr>
                </a:solidFill>
                <a:round/>
                <a:headEnd/>
                <a:tailEnd/>
              </a:ln>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22" name="Freeform 150">
                <a:extLst>
                  <a:ext uri="{FF2B5EF4-FFF2-40B4-BE49-F238E27FC236}">
                    <a16:creationId xmlns:a16="http://schemas.microsoft.com/office/drawing/2014/main" id="{5573D68C-B048-9C21-9F9C-E1E34137C13B}"/>
                  </a:ext>
                </a:extLst>
              </p:cNvPr>
              <p:cNvSpPr>
                <a:spLocks/>
              </p:cNvSpPr>
              <p:nvPr/>
            </p:nvSpPr>
            <p:spPr bwMode="auto">
              <a:xfrm>
                <a:off x="5961423" y="3106676"/>
                <a:ext cx="94832" cy="94832"/>
              </a:xfrm>
              <a:custGeom>
                <a:avLst/>
                <a:gdLst>
                  <a:gd name="T0" fmla="*/ 272 w 272"/>
                  <a:gd name="T1" fmla="*/ 136 h 272"/>
                  <a:gd name="T2" fmla="*/ 271 w 272"/>
                  <a:gd name="T3" fmla="*/ 163 h 272"/>
                  <a:gd name="T4" fmla="*/ 250 w 272"/>
                  <a:gd name="T5" fmla="*/ 212 h 272"/>
                  <a:gd name="T6" fmla="*/ 212 w 272"/>
                  <a:gd name="T7" fmla="*/ 248 h 272"/>
                  <a:gd name="T8" fmla="*/ 163 w 272"/>
                  <a:gd name="T9" fmla="*/ 269 h 272"/>
                  <a:gd name="T10" fmla="*/ 136 w 272"/>
                  <a:gd name="T11" fmla="*/ 272 h 272"/>
                  <a:gd name="T12" fmla="*/ 109 w 272"/>
                  <a:gd name="T13" fmla="*/ 269 h 272"/>
                  <a:gd name="T14" fmla="*/ 59 w 272"/>
                  <a:gd name="T15" fmla="*/ 248 h 272"/>
                  <a:gd name="T16" fmla="*/ 23 w 272"/>
                  <a:gd name="T17" fmla="*/ 212 h 272"/>
                  <a:gd name="T18" fmla="*/ 2 w 272"/>
                  <a:gd name="T19" fmla="*/ 163 h 272"/>
                  <a:gd name="T20" fmla="*/ 0 w 272"/>
                  <a:gd name="T21" fmla="*/ 136 h 272"/>
                  <a:gd name="T22" fmla="*/ 2 w 272"/>
                  <a:gd name="T23" fmla="*/ 107 h 272"/>
                  <a:gd name="T24" fmla="*/ 23 w 272"/>
                  <a:gd name="T25" fmla="*/ 59 h 272"/>
                  <a:gd name="T26" fmla="*/ 59 w 272"/>
                  <a:gd name="T27" fmla="*/ 22 h 272"/>
                  <a:gd name="T28" fmla="*/ 109 w 272"/>
                  <a:gd name="T29" fmla="*/ 1 h 272"/>
                  <a:gd name="T30" fmla="*/ 136 w 272"/>
                  <a:gd name="T31" fmla="*/ 0 h 272"/>
                  <a:gd name="T32" fmla="*/ 163 w 272"/>
                  <a:gd name="T33" fmla="*/ 1 h 272"/>
                  <a:gd name="T34" fmla="*/ 212 w 272"/>
                  <a:gd name="T35" fmla="*/ 22 h 272"/>
                  <a:gd name="T36" fmla="*/ 250 w 272"/>
                  <a:gd name="T37" fmla="*/ 59 h 272"/>
                  <a:gd name="T38" fmla="*/ 271 w 272"/>
                  <a:gd name="T39" fmla="*/ 107 h 272"/>
                  <a:gd name="T40" fmla="*/ 272 w 272"/>
                  <a:gd name="T41" fmla="*/ 136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72" h="272">
                    <a:moveTo>
                      <a:pt x="272" y="136"/>
                    </a:moveTo>
                    <a:lnTo>
                      <a:pt x="271" y="163"/>
                    </a:lnTo>
                    <a:lnTo>
                      <a:pt x="250" y="212"/>
                    </a:lnTo>
                    <a:lnTo>
                      <a:pt x="212" y="248"/>
                    </a:lnTo>
                    <a:lnTo>
                      <a:pt x="163" y="269"/>
                    </a:lnTo>
                    <a:lnTo>
                      <a:pt x="136" y="272"/>
                    </a:lnTo>
                    <a:lnTo>
                      <a:pt x="109" y="269"/>
                    </a:lnTo>
                    <a:lnTo>
                      <a:pt x="59" y="248"/>
                    </a:lnTo>
                    <a:lnTo>
                      <a:pt x="23" y="212"/>
                    </a:lnTo>
                    <a:lnTo>
                      <a:pt x="2" y="163"/>
                    </a:lnTo>
                    <a:lnTo>
                      <a:pt x="0" y="136"/>
                    </a:lnTo>
                    <a:lnTo>
                      <a:pt x="2" y="107"/>
                    </a:lnTo>
                    <a:lnTo>
                      <a:pt x="23" y="59"/>
                    </a:lnTo>
                    <a:lnTo>
                      <a:pt x="59" y="22"/>
                    </a:lnTo>
                    <a:lnTo>
                      <a:pt x="109" y="1"/>
                    </a:lnTo>
                    <a:lnTo>
                      <a:pt x="136" y="0"/>
                    </a:lnTo>
                    <a:lnTo>
                      <a:pt x="163" y="1"/>
                    </a:lnTo>
                    <a:lnTo>
                      <a:pt x="212" y="22"/>
                    </a:lnTo>
                    <a:lnTo>
                      <a:pt x="250" y="59"/>
                    </a:lnTo>
                    <a:lnTo>
                      <a:pt x="271" y="107"/>
                    </a:lnTo>
                    <a:lnTo>
                      <a:pt x="272" y="136"/>
                    </a:lnTo>
                    <a:close/>
                  </a:path>
                </a:pathLst>
              </a:custGeom>
              <a:grpFill/>
              <a:ln w="9525">
                <a:solidFill>
                  <a:schemeClr val="bg1">
                    <a:lumMod val="85000"/>
                  </a:schemeClr>
                </a:solidFill>
                <a:round/>
                <a:headEnd/>
                <a:tailEnd/>
              </a:ln>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23" name="Freeform 154">
                <a:extLst>
                  <a:ext uri="{FF2B5EF4-FFF2-40B4-BE49-F238E27FC236}">
                    <a16:creationId xmlns:a16="http://schemas.microsoft.com/office/drawing/2014/main" id="{953AE18B-311F-486E-6BE0-51E6899B799A}"/>
                  </a:ext>
                </a:extLst>
              </p:cNvPr>
              <p:cNvSpPr>
                <a:spLocks/>
              </p:cNvSpPr>
              <p:nvPr/>
            </p:nvSpPr>
            <p:spPr bwMode="auto">
              <a:xfrm>
                <a:off x="5071678" y="1790188"/>
                <a:ext cx="94832" cy="94832"/>
              </a:xfrm>
              <a:custGeom>
                <a:avLst/>
                <a:gdLst>
                  <a:gd name="T0" fmla="*/ 273 w 273"/>
                  <a:gd name="T1" fmla="*/ 137 h 273"/>
                  <a:gd name="T2" fmla="*/ 271 w 273"/>
                  <a:gd name="T3" fmla="*/ 165 h 273"/>
                  <a:gd name="T4" fmla="*/ 251 w 273"/>
                  <a:gd name="T5" fmla="*/ 213 h 273"/>
                  <a:gd name="T6" fmla="*/ 213 w 273"/>
                  <a:gd name="T7" fmla="*/ 251 h 273"/>
                  <a:gd name="T8" fmla="*/ 165 w 273"/>
                  <a:gd name="T9" fmla="*/ 271 h 273"/>
                  <a:gd name="T10" fmla="*/ 136 w 273"/>
                  <a:gd name="T11" fmla="*/ 273 h 273"/>
                  <a:gd name="T12" fmla="*/ 109 w 273"/>
                  <a:gd name="T13" fmla="*/ 271 h 273"/>
                  <a:gd name="T14" fmla="*/ 60 w 273"/>
                  <a:gd name="T15" fmla="*/ 251 h 273"/>
                  <a:gd name="T16" fmla="*/ 24 w 273"/>
                  <a:gd name="T17" fmla="*/ 213 h 273"/>
                  <a:gd name="T18" fmla="*/ 3 w 273"/>
                  <a:gd name="T19" fmla="*/ 165 h 273"/>
                  <a:gd name="T20" fmla="*/ 0 w 273"/>
                  <a:gd name="T21" fmla="*/ 137 h 273"/>
                  <a:gd name="T22" fmla="*/ 3 w 273"/>
                  <a:gd name="T23" fmla="*/ 109 h 273"/>
                  <a:gd name="T24" fmla="*/ 24 w 273"/>
                  <a:gd name="T25" fmla="*/ 60 h 273"/>
                  <a:gd name="T26" fmla="*/ 60 w 273"/>
                  <a:gd name="T27" fmla="*/ 24 h 273"/>
                  <a:gd name="T28" fmla="*/ 109 w 273"/>
                  <a:gd name="T29" fmla="*/ 3 h 273"/>
                  <a:gd name="T30" fmla="*/ 136 w 273"/>
                  <a:gd name="T31" fmla="*/ 0 h 273"/>
                  <a:gd name="T32" fmla="*/ 165 w 273"/>
                  <a:gd name="T33" fmla="*/ 3 h 273"/>
                  <a:gd name="T34" fmla="*/ 213 w 273"/>
                  <a:gd name="T35" fmla="*/ 24 h 273"/>
                  <a:gd name="T36" fmla="*/ 251 w 273"/>
                  <a:gd name="T37" fmla="*/ 60 h 273"/>
                  <a:gd name="T38" fmla="*/ 271 w 273"/>
                  <a:gd name="T39" fmla="*/ 109 h 273"/>
                  <a:gd name="T40" fmla="*/ 273 w 273"/>
                  <a:gd name="T41" fmla="*/ 137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73" h="273">
                    <a:moveTo>
                      <a:pt x="273" y="137"/>
                    </a:moveTo>
                    <a:lnTo>
                      <a:pt x="271" y="165"/>
                    </a:lnTo>
                    <a:lnTo>
                      <a:pt x="251" y="213"/>
                    </a:lnTo>
                    <a:lnTo>
                      <a:pt x="213" y="251"/>
                    </a:lnTo>
                    <a:lnTo>
                      <a:pt x="165" y="271"/>
                    </a:lnTo>
                    <a:lnTo>
                      <a:pt x="136" y="273"/>
                    </a:lnTo>
                    <a:lnTo>
                      <a:pt x="109" y="271"/>
                    </a:lnTo>
                    <a:lnTo>
                      <a:pt x="60" y="251"/>
                    </a:lnTo>
                    <a:lnTo>
                      <a:pt x="24" y="213"/>
                    </a:lnTo>
                    <a:lnTo>
                      <a:pt x="3" y="165"/>
                    </a:lnTo>
                    <a:lnTo>
                      <a:pt x="0" y="137"/>
                    </a:lnTo>
                    <a:lnTo>
                      <a:pt x="3" y="109"/>
                    </a:lnTo>
                    <a:lnTo>
                      <a:pt x="24" y="60"/>
                    </a:lnTo>
                    <a:lnTo>
                      <a:pt x="60" y="24"/>
                    </a:lnTo>
                    <a:lnTo>
                      <a:pt x="109" y="3"/>
                    </a:lnTo>
                    <a:lnTo>
                      <a:pt x="136" y="0"/>
                    </a:lnTo>
                    <a:lnTo>
                      <a:pt x="165" y="3"/>
                    </a:lnTo>
                    <a:lnTo>
                      <a:pt x="213" y="24"/>
                    </a:lnTo>
                    <a:lnTo>
                      <a:pt x="251" y="60"/>
                    </a:lnTo>
                    <a:lnTo>
                      <a:pt x="271" y="109"/>
                    </a:lnTo>
                    <a:lnTo>
                      <a:pt x="273" y="137"/>
                    </a:lnTo>
                    <a:close/>
                  </a:path>
                </a:pathLst>
              </a:custGeom>
              <a:grpFill/>
              <a:ln w="9525">
                <a:solidFill>
                  <a:schemeClr val="bg1">
                    <a:lumMod val="85000"/>
                  </a:schemeClr>
                </a:solidFill>
                <a:round/>
                <a:headEnd/>
                <a:tailEnd/>
              </a:ln>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24" name="Freeform 155">
                <a:extLst>
                  <a:ext uri="{FF2B5EF4-FFF2-40B4-BE49-F238E27FC236}">
                    <a16:creationId xmlns:a16="http://schemas.microsoft.com/office/drawing/2014/main" id="{60400208-3D41-363F-707C-8461E13BBD4F}"/>
                  </a:ext>
                </a:extLst>
              </p:cNvPr>
              <p:cNvSpPr>
                <a:spLocks/>
              </p:cNvSpPr>
              <p:nvPr/>
            </p:nvSpPr>
            <p:spPr bwMode="auto">
              <a:xfrm>
                <a:off x="6052070" y="1526611"/>
                <a:ext cx="94832" cy="96227"/>
              </a:xfrm>
              <a:custGeom>
                <a:avLst/>
                <a:gdLst>
                  <a:gd name="T0" fmla="*/ 272 w 272"/>
                  <a:gd name="T1" fmla="*/ 136 h 272"/>
                  <a:gd name="T2" fmla="*/ 271 w 272"/>
                  <a:gd name="T3" fmla="*/ 163 h 272"/>
                  <a:gd name="T4" fmla="*/ 250 w 272"/>
                  <a:gd name="T5" fmla="*/ 212 h 272"/>
                  <a:gd name="T6" fmla="*/ 213 w 272"/>
                  <a:gd name="T7" fmla="*/ 249 h 272"/>
                  <a:gd name="T8" fmla="*/ 165 w 272"/>
                  <a:gd name="T9" fmla="*/ 269 h 272"/>
                  <a:gd name="T10" fmla="*/ 136 w 272"/>
                  <a:gd name="T11" fmla="*/ 272 h 272"/>
                  <a:gd name="T12" fmla="*/ 109 w 272"/>
                  <a:gd name="T13" fmla="*/ 269 h 272"/>
                  <a:gd name="T14" fmla="*/ 60 w 272"/>
                  <a:gd name="T15" fmla="*/ 249 h 272"/>
                  <a:gd name="T16" fmla="*/ 23 w 272"/>
                  <a:gd name="T17" fmla="*/ 212 h 272"/>
                  <a:gd name="T18" fmla="*/ 3 w 272"/>
                  <a:gd name="T19" fmla="*/ 163 h 272"/>
                  <a:gd name="T20" fmla="*/ 0 w 272"/>
                  <a:gd name="T21" fmla="*/ 136 h 272"/>
                  <a:gd name="T22" fmla="*/ 3 w 272"/>
                  <a:gd name="T23" fmla="*/ 107 h 272"/>
                  <a:gd name="T24" fmla="*/ 23 w 272"/>
                  <a:gd name="T25" fmla="*/ 59 h 272"/>
                  <a:gd name="T26" fmla="*/ 60 w 272"/>
                  <a:gd name="T27" fmla="*/ 22 h 272"/>
                  <a:gd name="T28" fmla="*/ 109 w 272"/>
                  <a:gd name="T29" fmla="*/ 1 h 272"/>
                  <a:gd name="T30" fmla="*/ 136 w 272"/>
                  <a:gd name="T31" fmla="*/ 0 h 272"/>
                  <a:gd name="T32" fmla="*/ 165 w 272"/>
                  <a:gd name="T33" fmla="*/ 1 h 272"/>
                  <a:gd name="T34" fmla="*/ 213 w 272"/>
                  <a:gd name="T35" fmla="*/ 22 h 272"/>
                  <a:gd name="T36" fmla="*/ 250 w 272"/>
                  <a:gd name="T37" fmla="*/ 59 h 272"/>
                  <a:gd name="T38" fmla="*/ 271 w 272"/>
                  <a:gd name="T39" fmla="*/ 107 h 272"/>
                  <a:gd name="T40" fmla="*/ 272 w 272"/>
                  <a:gd name="T41" fmla="*/ 136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72" h="272">
                    <a:moveTo>
                      <a:pt x="272" y="136"/>
                    </a:moveTo>
                    <a:lnTo>
                      <a:pt x="271" y="163"/>
                    </a:lnTo>
                    <a:lnTo>
                      <a:pt x="250" y="212"/>
                    </a:lnTo>
                    <a:lnTo>
                      <a:pt x="213" y="249"/>
                    </a:lnTo>
                    <a:lnTo>
                      <a:pt x="165" y="269"/>
                    </a:lnTo>
                    <a:lnTo>
                      <a:pt x="136" y="272"/>
                    </a:lnTo>
                    <a:lnTo>
                      <a:pt x="109" y="269"/>
                    </a:lnTo>
                    <a:lnTo>
                      <a:pt x="60" y="249"/>
                    </a:lnTo>
                    <a:lnTo>
                      <a:pt x="23" y="212"/>
                    </a:lnTo>
                    <a:lnTo>
                      <a:pt x="3" y="163"/>
                    </a:lnTo>
                    <a:lnTo>
                      <a:pt x="0" y="136"/>
                    </a:lnTo>
                    <a:lnTo>
                      <a:pt x="3" y="107"/>
                    </a:lnTo>
                    <a:lnTo>
                      <a:pt x="23" y="59"/>
                    </a:lnTo>
                    <a:lnTo>
                      <a:pt x="60" y="22"/>
                    </a:lnTo>
                    <a:lnTo>
                      <a:pt x="109" y="1"/>
                    </a:lnTo>
                    <a:lnTo>
                      <a:pt x="136" y="0"/>
                    </a:lnTo>
                    <a:lnTo>
                      <a:pt x="165" y="1"/>
                    </a:lnTo>
                    <a:lnTo>
                      <a:pt x="213" y="22"/>
                    </a:lnTo>
                    <a:lnTo>
                      <a:pt x="250" y="59"/>
                    </a:lnTo>
                    <a:lnTo>
                      <a:pt x="271" y="107"/>
                    </a:lnTo>
                    <a:lnTo>
                      <a:pt x="272" y="136"/>
                    </a:lnTo>
                    <a:close/>
                  </a:path>
                </a:pathLst>
              </a:custGeom>
              <a:grpFill/>
              <a:ln w="9525">
                <a:solidFill>
                  <a:schemeClr val="bg1">
                    <a:lumMod val="85000"/>
                  </a:schemeClr>
                </a:solidFill>
                <a:round/>
                <a:headEnd/>
                <a:tailEnd/>
              </a:ln>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25" name="Freeform 156">
                <a:extLst>
                  <a:ext uri="{FF2B5EF4-FFF2-40B4-BE49-F238E27FC236}">
                    <a16:creationId xmlns:a16="http://schemas.microsoft.com/office/drawing/2014/main" id="{B8F1E4E6-C8BF-43A8-A73C-6CBFD42D6FB4}"/>
                  </a:ext>
                </a:extLst>
              </p:cNvPr>
              <p:cNvSpPr>
                <a:spLocks/>
              </p:cNvSpPr>
              <p:nvPr/>
            </p:nvSpPr>
            <p:spPr bwMode="auto">
              <a:xfrm>
                <a:off x="5647641" y="2611598"/>
                <a:ext cx="94832" cy="94832"/>
              </a:xfrm>
              <a:custGeom>
                <a:avLst/>
                <a:gdLst>
                  <a:gd name="T0" fmla="*/ 272 w 272"/>
                  <a:gd name="T1" fmla="*/ 136 h 270"/>
                  <a:gd name="T2" fmla="*/ 270 w 272"/>
                  <a:gd name="T3" fmla="*/ 163 h 270"/>
                  <a:gd name="T4" fmla="*/ 250 w 272"/>
                  <a:gd name="T5" fmla="*/ 212 h 270"/>
                  <a:gd name="T6" fmla="*/ 212 w 272"/>
                  <a:gd name="T7" fmla="*/ 248 h 270"/>
                  <a:gd name="T8" fmla="*/ 164 w 272"/>
                  <a:gd name="T9" fmla="*/ 269 h 270"/>
                  <a:gd name="T10" fmla="*/ 136 w 272"/>
                  <a:gd name="T11" fmla="*/ 270 h 270"/>
                  <a:gd name="T12" fmla="*/ 108 w 272"/>
                  <a:gd name="T13" fmla="*/ 269 h 270"/>
                  <a:gd name="T14" fmla="*/ 59 w 272"/>
                  <a:gd name="T15" fmla="*/ 248 h 270"/>
                  <a:gd name="T16" fmla="*/ 23 w 272"/>
                  <a:gd name="T17" fmla="*/ 212 h 270"/>
                  <a:gd name="T18" fmla="*/ 2 w 272"/>
                  <a:gd name="T19" fmla="*/ 163 h 270"/>
                  <a:gd name="T20" fmla="*/ 0 w 272"/>
                  <a:gd name="T21" fmla="*/ 136 h 270"/>
                  <a:gd name="T22" fmla="*/ 2 w 272"/>
                  <a:gd name="T23" fmla="*/ 107 h 270"/>
                  <a:gd name="T24" fmla="*/ 23 w 272"/>
                  <a:gd name="T25" fmla="*/ 58 h 270"/>
                  <a:gd name="T26" fmla="*/ 59 w 272"/>
                  <a:gd name="T27" fmla="*/ 22 h 270"/>
                  <a:gd name="T28" fmla="*/ 108 w 272"/>
                  <a:gd name="T29" fmla="*/ 1 h 270"/>
                  <a:gd name="T30" fmla="*/ 136 w 272"/>
                  <a:gd name="T31" fmla="*/ 0 h 270"/>
                  <a:gd name="T32" fmla="*/ 164 w 272"/>
                  <a:gd name="T33" fmla="*/ 1 h 270"/>
                  <a:gd name="T34" fmla="*/ 212 w 272"/>
                  <a:gd name="T35" fmla="*/ 22 h 270"/>
                  <a:gd name="T36" fmla="*/ 250 w 272"/>
                  <a:gd name="T37" fmla="*/ 58 h 270"/>
                  <a:gd name="T38" fmla="*/ 270 w 272"/>
                  <a:gd name="T39" fmla="*/ 107 h 270"/>
                  <a:gd name="T40" fmla="*/ 272 w 272"/>
                  <a:gd name="T41" fmla="*/ 136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72" h="270">
                    <a:moveTo>
                      <a:pt x="272" y="136"/>
                    </a:moveTo>
                    <a:lnTo>
                      <a:pt x="270" y="163"/>
                    </a:lnTo>
                    <a:lnTo>
                      <a:pt x="250" y="212"/>
                    </a:lnTo>
                    <a:lnTo>
                      <a:pt x="212" y="248"/>
                    </a:lnTo>
                    <a:lnTo>
                      <a:pt x="164" y="269"/>
                    </a:lnTo>
                    <a:lnTo>
                      <a:pt x="136" y="270"/>
                    </a:lnTo>
                    <a:lnTo>
                      <a:pt x="108" y="269"/>
                    </a:lnTo>
                    <a:lnTo>
                      <a:pt x="59" y="248"/>
                    </a:lnTo>
                    <a:lnTo>
                      <a:pt x="23" y="212"/>
                    </a:lnTo>
                    <a:lnTo>
                      <a:pt x="2" y="163"/>
                    </a:lnTo>
                    <a:lnTo>
                      <a:pt x="0" y="136"/>
                    </a:lnTo>
                    <a:lnTo>
                      <a:pt x="2" y="107"/>
                    </a:lnTo>
                    <a:lnTo>
                      <a:pt x="23" y="58"/>
                    </a:lnTo>
                    <a:lnTo>
                      <a:pt x="59" y="22"/>
                    </a:lnTo>
                    <a:lnTo>
                      <a:pt x="108" y="1"/>
                    </a:lnTo>
                    <a:lnTo>
                      <a:pt x="136" y="0"/>
                    </a:lnTo>
                    <a:lnTo>
                      <a:pt x="164" y="1"/>
                    </a:lnTo>
                    <a:lnTo>
                      <a:pt x="212" y="22"/>
                    </a:lnTo>
                    <a:lnTo>
                      <a:pt x="250" y="58"/>
                    </a:lnTo>
                    <a:lnTo>
                      <a:pt x="270" y="107"/>
                    </a:lnTo>
                    <a:lnTo>
                      <a:pt x="272" y="136"/>
                    </a:lnTo>
                    <a:close/>
                  </a:path>
                </a:pathLst>
              </a:custGeom>
              <a:grpFill/>
              <a:ln w="9525">
                <a:solidFill>
                  <a:schemeClr val="bg1">
                    <a:lumMod val="85000"/>
                  </a:schemeClr>
                </a:solidFill>
                <a:round/>
                <a:headEnd/>
                <a:tailEnd/>
              </a:ln>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26" name="Freeform 157">
                <a:extLst>
                  <a:ext uri="{FF2B5EF4-FFF2-40B4-BE49-F238E27FC236}">
                    <a16:creationId xmlns:a16="http://schemas.microsoft.com/office/drawing/2014/main" id="{E37B5DAF-7324-F146-A534-DE5DB9E1220D}"/>
                  </a:ext>
                </a:extLst>
              </p:cNvPr>
              <p:cNvSpPr>
                <a:spLocks/>
              </p:cNvSpPr>
              <p:nvPr/>
            </p:nvSpPr>
            <p:spPr bwMode="auto">
              <a:xfrm>
                <a:off x="6100881" y="2027268"/>
                <a:ext cx="94832" cy="94832"/>
              </a:xfrm>
              <a:custGeom>
                <a:avLst/>
                <a:gdLst>
                  <a:gd name="T0" fmla="*/ 272 w 272"/>
                  <a:gd name="T1" fmla="*/ 136 h 272"/>
                  <a:gd name="T2" fmla="*/ 270 w 272"/>
                  <a:gd name="T3" fmla="*/ 163 h 272"/>
                  <a:gd name="T4" fmla="*/ 250 w 272"/>
                  <a:gd name="T5" fmla="*/ 213 h 272"/>
                  <a:gd name="T6" fmla="*/ 212 w 272"/>
                  <a:gd name="T7" fmla="*/ 249 h 272"/>
                  <a:gd name="T8" fmla="*/ 163 w 272"/>
                  <a:gd name="T9" fmla="*/ 270 h 272"/>
                  <a:gd name="T10" fmla="*/ 136 w 272"/>
                  <a:gd name="T11" fmla="*/ 272 h 272"/>
                  <a:gd name="T12" fmla="*/ 108 w 272"/>
                  <a:gd name="T13" fmla="*/ 270 h 272"/>
                  <a:gd name="T14" fmla="*/ 59 w 272"/>
                  <a:gd name="T15" fmla="*/ 249 h 272"/>
                  <a:gd name="T16" fmla="*/ 23 w 272"/>
                  <a:gd name="T17" fmla="*/ 213 h 272"/>
                  <a:gd name="T18" fmla="*/ 2 w 272"/>
                  <a:gd name="T19" fmla="*/ 163 h 272"/>
                  <a:gd name="T20" fmla="*/ 0 w 272"/>
                  <a:gd name="T21" fmla="*/ 136 h 272"/>
                  <a:gd name="T22" fmla="*/ 2 w 272"/>
                  <a:gd name="T23" fmla="*/ 108 h 272"/>
                  <a:gd name="T24" fmla="*/ 23 w 272"/>
                  <a:gd name="T25" fmla="*/ 60 h 272"/>
                  <a:gd name="T26" fmla="*/ 59 w 272"/>
                  <a:gd name="T27" fmla="*/ 22 h 272"/>
                  <a:gd name="T28" fmla="*/ 108 w 272"/>
                  <a:gd name="T29" fmla="*/ 1 h 272"/>
                  <a:gd name="T30" fmla="*/ 136 w 272"/>
                  <a:gd name="T31" fmla="*/ 0 h 272"/>
                  <a:gd name="T32" fmla="*/ 163 w 272"/>
                  <a:gd name="T33" fmla="*/ 1 h 272"/>
                  <a:gd name="T34" fmla="*/ 212 w 272"/>
                  <a:gd name="T35" fmla="*/ 22 h 272"/>
                  <a:gd name="T36" fmla="*/ 250 w 272"/>
                  <a:gd name="T37" fmla="*/ 60 h 272"/>
                  <a:gd name="T38" fmla="*/ 270 w 272"/>
                  <a:gd name="T39" fmla="*/ 108 h 272"/>
                  <a:gd name="T40" fmla="*/ 272 w 272"/>
                  <a:gd name="T41" fmla="*/ 136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72" h="272">
                    <a:moveTo>
                      <a:pt x="272" y="136"/>
                    </a:moveTo>
                    <a:lnTo>
                      <a:pt x="270" y="163"/>
                    </a:lnTo>
                    <a:lnTo>
                      <a:pt x="250" y="213"/>
                    </a:lnTo>
                    <a:lnTo>
                      <a:pt x="212" y="249"/>
                    </a:lnTo>
                    <a:lnTo>
                      <a:pt x="163" y="270"/>
                    </a:lnTo>
                    <a:lnTo>
                      <a:pt x="136" y="272"/>
                    </a:lnTo>
                    <a:lnTo>
                      <a:pt x="108" y="270"/>
                    </a:lnTo>
                    <a:lnTo>
                      <a:pt x="59" y="249"/>
                    </a:lnTo>
                    <a:lnTo>
                      <a:pt x="23" y="213"/>
                    </a:lnTo>
                    <a:lnTo>
                      <a:pt x="2" y="163"/>
                    </a:lnTo>
                    <a:lnTo>
                      <a:pt x="0" y="136"/>
                    </a:lnTo>
                    <a:lnTo>
                      <a:pt x="2" y="108"/>
                    </a:lnTo>
                    <a:lnTo>
                      <a:pt x="23" y="60"/>
                    </a:lnTo>
                    <a:lnTo>
                      <a:pt x="59" y="22"/>
                    </a:lnTo>
                    <a:lnTo>
                      <a:pt x="108" y="1"/>
                    </a:lnTo>
                    <a:lnTo>
                      <a:pt x="136" y="0"/>
                    </a:lnTo>
                    <a:lnTo>
                      <a:pt x="163" y="1"/>
                    </a:lnTo>
                    <a:lnTo>
                      <a:pt x="212" y="22"/>
                    </a:lnTo>
                    <a:lnTo>
                      <a:pt x="250" y="60"/>
                    </a:lnTo>
                    <a:lnTo>
                      <a:pt x="270" y="108"/>
                    </a:lnTo>
                    <a:lnTo>
                      <a:pt x="272" y="136"/>
                    </a:lnTo>
                    <a:close/>
                  </a:path>
                </a:pathLst>
              </a:custGeom>
              <a:grpFill/>
              <a:ln w="9525">
                <a:solidFill>
                  <a:schemeClr val="bg1">
                    <a:lumMod val="85000"/>
                  </a:schemeClr>
                </a:solidFill>
                <a:round/>
                <a:headEnd/>
                <a:tailEnd/>
              </a:ln>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27" name="Freeform 158">
                <a:extLst>
                  <a:ext uri="{FF2B5EF4-FFF2-40B4-BE49-F238E27FC236}">
                    <a16:creationId xmlns:a16="http://schemas.microsoft.com/office/drawing/2014/main" id="{877CFDE8-BFD0-0724-7C78-0D27CF858CF9}"/>
                  </a:ext>
                </a:extLst>
              </p:cNvPr>
              <p:cNvSpPr>
                <a:spLocks/>
              </p:cNvSpPr>
              <p:nvPr/>
            </p:nvSpPr>
            <p:spPr bwMode="auto">
              <a:xfrm>
                <a:off x="5007527" y="2698062"/>
                <a:ext cx="65546" cy="66940"/>
              </a:xfrm>
              <a:custGeom>
                <a:avLst/>
                <a:gdLst>
                  <a:gd name="T0" fmla="*/ 188 w 188"/>
                  <a:gd name="T1" fmla="*/ 95 h 190"/>
                  <a:gd name="T2" fmla="*/ 186 w 188"/>
                  <a:gd name="T3" fmla="*/ 114 h 190"/>
                  <a:gd name="T4" fmla="*/ 172 w 188"/>
                  <a:gd name="T5" fmla="*/ 148 h 190"/>
                  <a:gd name="T6" fmla="*/ 147 w 188"/>
                  <a:gd name="T7" fmla="*/ 174 h 190"/>
                  <a:gd name="T8" fmla="*/ 112 w 188"/>
                  <a:gd name="T9" fmla="*/ 188 h 190"/>
                  <a:gd name="T10" fmla="*/ 94 w 188"/>
                  <a:gd name="T11" fmla="*/ 190 h 190"/>
                  <a:gd name="T12" fmla="*/ 75 w 188"/>
                  <a:gd name="T13" fmla="*/ 188 h 190"/>
                  <a:gd name="T14" fmla="*/ 41 w 188"/>
                  <a:gd name="T15" fmla="*/ 174 h 190"/>
                  <a:gd name="T16" fmla="*/ 15 w 188"/>
                  <a:gd name="T17" fmla="*/ 148 h 190"/>
                  <a:gd name="T18" fmla="*/ 1 w 188"/>
                  <a:gd name="T19" fmla="*/ 114 h 190"/>
                  <a:gd name="T20" fmla="*/ 0 w 188"/>
                  <a:gd name="T21" fmla="*/ 95 h 190"/>
                  <a:gd name="T22" fmla="*/ 1 w 188"/>
                  <a:gd name="T23" fmla="*/ 76 h 190"/>
                  <a:gd name="T24" fmla="*/ 15 w 188"/>
                  <a:gd name="T25" fmla="*/ 42 h 190"/>
                  <a:gd name="T26" fmla="*/ 41 w 188"/>
                  <a:gd name="T27" fmla="*/ 16 h 190"/>
                  <a:gd name="T28" fmla="*/ 75 w 188"/>
                  <a:gd name="T29" fmla="*/ 2 h 190"/>
                  <a:gd name="T30" fmla="*/ 94 w 188"/>
                  <a:gd name="T31" fmla="*/ 0 h 190"/>
                  <a:gd name="T32" fmla="*/ 112 w 188"/>
                  <a:gd name="T33" fmla="*/ 2 h 190"/>
                  <a:gd name="T34" fmla="*/ 147 w 188"/>
                  <a:gd name="T35" fmla="*/ 16 h 190"/>
                  <a:gd name="T36" fmla="*/ 172 w 188"/>
                  <a:gd name="T37" fmla="*/ 42 h 190"/>
                  <a:gd name="T38" fmla="*/ 186 w 188"/>
                  <a:gd name="T39" fmla="*/ 76 h 190"/>
                  <a:gd name="T40" fmla="*/ 188 w 188"/>
                  <a:gd name="T41" fmla="*/ 95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8" h="190">
                    <a:moveTo>
                      <a:pt x="188" y="95"/>
                    </a:moveTo>
                    <a:lnTo>
                      <a:pt x="186" y="114"/>
                    </a:lnTo>
                    <a:lnTo>
                      <a:pt x="172" y="148"/>
                    </a:lnTo>
                    <a:lnTo>
                      <a:pt x="147" y="174"/>
                    </a:lnTo>
                    <a:lnTo>
                      <a:pt x="112" y="188"/>
                    </a:lnTo>
                    <a:lnTo>
                      <a:pt x="94" y="190"/>
                    </a:lnTo>
                    <a:lnTo>
                      <a:pt x="75" y="188"/>
                    </a:lnTo>
                    <a:lnTo>
                      <a:pt x="41" y="174"/>
                    </a:lnTo>
                    <a:lnTo>
                      <a:pt x="15" y="148"/>
                    </a:lnTo>
                    <a:lnTo>
                      <a:pt x="1" y="114"/>
                    </a:lnTo>
                    <a:lnTo>
                      <a:pt x="0" y="95"/>
                    </a:lnTo>
                    <a:lnTo>
                      <a:pt x="1" y="76"/>
                    </a:lnTo>
                    <a:lnTo>
                      <a:pt x="15" y="42"/>
                    </a:lnTo>
                    <a:lnTo>
                      <a:pt x="41" y="16"/>
                    </a:lnTo>
                    <a:lnTo>
                      <a:pt x="75" y="2"/>
                    </a:lnTo>
                    <a:lnTo>
                      <a:pt x="94" y="0"/>
                    </a:lnTo>
                    <a:lnTo>
                      <a:pt x="112" y="2"/>
                    </a:lnTo>
                    <a:lnTo>
                      <a:pt x="147" y="16"/>
                    </a:lnTo>
                    <a:lnTo>
                      <a:pt x="172" y="42"/>
                    </a:lnTo>
                    <a:lnTo>
                      <a:pt x="186" y="76"/>
                    </a:lnTo>
                    <a:lnTo>
                      <a:pt x="188" y="95"/>
                    </a:lnTo>
                    <a:close/>
                  </a:path>
                </a:pathLst>
              </a:custGeom>
              <a:grpFill/>
              <a:ln w="9525">
                <a:solidFill>
                  <a:schemeClr val="bg1">
                    <a:lumMod val="85000"/>
                  </a:schemeClr>
                </a:solidFill>
                <a:round/>
                <a:headEnd/>
                <a:tailEnd/>
              </a:ln>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28" name="Freeform 159">
                <a:extLst>
                  <a:ext uri="{FF2B5EF4-FFF2-40B4-BE49-F238E27FC236}">
                    <a16:creationId xmlns:a16="http://schemas.microsoft.com/office/drawing/2014/main" id="{1AF85B9C-FF7B-548F-28F4-1E6193237A83}"/>
                  </a:ext>
                </a:extLst>
              </p:cNvPr>
              <p:cNvSpPr>
                <a:spLocks/>
              </p:cNvSpPr>
              <p:nvPr/>
            </p:nvSpPr>
            <p:spPr bwMode="auto">
              <a:xfrm>
                <a:off x="5163720" y="2303395"/>
                <a:ext cx="65546" cy="65546"/>
              </a:xfrm>
              <a:custGeom>
                <a:avLst/>
                <a:gdLst>
                  <a:gd name="T0" fmla="*/ 188 w 188"/>
                  <a:gd name="T1" fmla="*/ 95 h 188"/>
                  <a:gd name="T2" fmla="*/ 187 w 188"/>
                  <a:gd name="T3" fmla="*/ 113 h 188"/>
                  <a:gd name="T4" fmla="*/ 173 w 188"/>
                  <a:gd name="T5" fmla="*/ 148 h 188"/>
                  <a:gd name="T6" fmla="*/ 147 w 188"/>
                  <a:gd name="T7" fmla="*/ 173 h 188"/>
                  <a:gd name="T8" fmla="*/ 113 w 188"/>
                  <a:gd name="T9" fmla="*/ 187 h 188"/>
                  <a:gd name="T10" fmla="*/ 94 w 188"/>
                  <a:gd name="T11" fmla="*/ 188 h 188"/>
                  <a:gd name="T12" fmla="*/ 74 w 188"/>
                  <a:gd name="T13" fmla="*/ 187 h 188"/>
                  <a:gd name="T14" fmla="*/ 41 w 188"/>
                  <a:gd name="T15" fmla="*/ 173 h 188"/>
                  <a:gd name="T16" fmla="*/ 16 w 188"/>
                  <a:gd name="T17" fmla="*/ 148 h 188"/>
                  <a:gd name="T18" fmla="*/ 2 w 188"/>
                  <a:gd name="T19" fmla="*/ 113 h 188"/>
                  <a:gd name="T20" fmla="*/ 0 w 188"/>
                  <a:gd name="T21" fmla="*/ 95 h 188"/>
                  <a:gd name="T22" fmla="*/ 2 w 188"/>
                  <a:gd name="T23" fmla="*/ 75 h 188"/>
                  <a:gd name="T24" fmla="*/ 16 w 188"/>
                  <a:gd name="T25" fmla="*/ 42 h 188"/>
                  <a:gd name="T26" fmla="*/ 41 w 188"/>
                  <a:gd name="T27" fmla="*/ 16 h 188"/>
                  <a:gd name="T28" fmla="*/ 74 w 188"/>
                  <a:gd name="T29" fmla="*/ 2 h 188"/>
                  <a:gd name="T30" fmla="*/ 94 w 188"/>
                  <a:gd name="T31" fmla="*/ 0 h 188"/>
                  <a:gd name="T32" fmla="*/ 113 w 188"/>
                  <a:gd name="T33" fmla="*/ 2 h 188"/>
                  <a:gd name="T34" fmla="*/ 147 w 188"/>
                  <a:gd name="T35" fmla="*/ 16 h 188"/>
                  <a:gd name="T36" fmla="*/ 173 w 188"/>
                  <a:gd name="T37" fmla="*/ 42 h 188"/>
                  <a:gd name="T38" fmla="*/ 187 w 188"/>
                  <a:gd name="T39" fmla="*/ 75 h 188"/>
                  <a:gd name="T40" fmla="*/ 188 w 188"/>
                  <a:gd name="T41" fmla="*/ 95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8" h="188">
                    <a:moveTo>
                      <a:pt x="188" y="95"/>
                    </a:moveTo>
                    <a:lnTo>
                      <a:pt x="187" y="113"/>
                    </a:lnTo>
                    <a:lnTo>
                      <a:pt x="173" y="148"/>
                    </a:lnTo>
                    <a:lnTo>
                      <a:pt x="147" y="173"/>
                    </a:lnTo>
                    <a:lnTo>
                      <a:pt x="113" y="187"/>
                    </a:lnTo>
                    <a:lnTo>
                      <a:pt x="94" y="188"/>
                    </a:lnTo>
                    <a:lnTo>
                      <a:pt x="74" y="187"/>
                    </a:lnTo>
                    <a:lnTo>
                      <a:pt x="41" y="173"/>
                    </a:lnTo>
                    <a:lnTo>
                      <a:pt x="16" y="148"/>
                    </a:lnTo>
                    <a:lnTo>
                      <a:pt x="2" y="113"/>
                    </a:lnTo>
                    <a:lnTo>
                      <a:pt x="0" y="95"/>
                    </a:lnTo>
                    <a:lnTo>
                      <a:pt x="2" y="75"/>
                    </a:lnTo>
                    <a:lnTo>
                      <a:pt x="16" y="42"/>
                    </a:lnTo>
                    <a:lnTo>
                      <a:pt x="41" y="16"/>
                    </a:lnTo>
                    <a:lnTo>
                      <a:pt x="74" y="2"/>
                    </a:lnTo>
                    <a:lnTo>
                      <a:pt x="94" y="0"/>
                    </a:lnTo>
                    <a:lnTo>
                      <a:pt x="113" y="2"/>
                    </a:lnTo>
                    <a:lnTo>
                      <a:pt x="147" y="16"/>
                    </a:lnTo>
                    <a:lnTo>
                      <a:pt x="173" y="42"/>
                    </a:lnTo>
                    <a:lnTo>
                      <a:pt x="187" y="75"/>
                    </a:lnTo>
                    <a:lnTo>
                      <a:pt x="188" y="95"/>
                    </a:lnTo>
                    <a:close/>
                  </a:path>
                </a:pathLst>
              </a:custGeom>
              <a:grpFill/>
              <a:ln w="9525">
                <a:solidFill>
                  <a:schemeClr val="bg1">
                    <a:lumMod val="85000"/>
                  </a:schemeClr>
                </a:solidFill>
                <a:round/>
                <a:headEnd/>
                <a:tailEnd/>
              </a:ln>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29" name="Freeform 160">
                <a:extLst>
                  <a:ext uri="{FF2B5EF4-FFF2-40B4-BE49-F238E27FC236}">
                    <a16:creationId xmlns:a16="http://schemas.microsoft.com/office/drawing/2014/main" id="{0645599B-5338-E0AC-EC85-3ACDC2877B22}"/>
                  </a:ext>
                </a:extLst>
              </p:cNvPr>
              <p:cNvSpPr>
                <a:spLocks/>
              </p:cNvSpPr>
              <p:nvPr/>
            </p:nvSpPr>
            <p:spPr bwMode="auto">
              <a:xfrm>
                <a:off x="6639191" y="1381574"/>
                <a:ext cx="94832" cy="94832"/>
              </a:xfrm>
              <a:custGeom>
                <a:avLst/>
                <a:gdLst>
                  <a:gd name="T0" fmla="*/ 271 w 271"/>
                  <a:gd name="T1" fmla="*/ 137 h 273"/>
                  <a:gd name="T2" fmla="*/ 270 w 271"/>
                  <a:gd name="T3" fmla="*/ 164 h 273"/>
                  <a:gd name="T4" fmla="*/ 249 w 271"/>
                  <a:gd name="T5" fmla="*/ 213 h 273"/>
                  <a:gd name="T6" fmla="*/ 213 w 271"/>
                  <a:gd name="T7" fmla="*/ 249 h 273"/>
                  <a:gd name="T8" fmla="*/ 164 w 271"/>
                  <a:gd name="T9" fmla="*/ 270 h 273"/>
                  <a:gd name="T10" fmla="*/ 136 w 271"/>
                  <a:gd name="T11" fmla="*/ 273 h 273"/>
                  <a:gd name="T12" fmla="*/ 108 w 271"/>
                  <a:gd name="T13" fmla="*/ 270 h 273"/>
                  <a:gd name="T14" fmla="*/ 59 w 271"/>
                  <a:gd name="T15" fmla="*/ 249 h 273"/>
                  <a:gd name="T16" fmla="*/ 22 w 271"/>
                  <a:gd name="T17" fmla="*/ 213 h 273"/>
                  <a:gd name="T18" fmla="*/ 2 w 271"/>
                  <a:gd name="T19" fmla="*/ 164 h 273"/>
                  <a:gd name="T20" fmla="*/ 0 w 271"/>
                  <a:gd name="T21" fmla="*/ 137 h 273"/>
                  <a:gd name="T22" fmla="*/ 2 w 271"/>
                  <a:gd name="T23" fmla="*/ 108 h 273"/>
                  <a:gd name="T24" fmla="*/ 22 w 271"/>
                  <a:gd name="T25" fmla="*/ 60 h 273"/>
                  <a:gd name="T26" fmla="*/ 59 w 271"/>
                  <a:gd name="T27" fmla="*/ 23 h 273"/>
                  <a:gd name="T28" fmla="*/ 108 w 271"/>
                  <a:gd name="T29" fmla="*/ 2 h 273"/>
                  <a:gd name="T30" fmla="*/ 136 w 271"/>
                  <a:gd name="T31" fmla="*/ 0 h 273"/>
                  <a:gd name="T32" fmla="*/ 164 w 271"/>
                  <a:gd name="T33" fmla="*/ 2 h 273"/>
                  <a:gd name="T34" fmla="*/ 213 w 271"/>
                  <a:gd name="T35" fmla="*/ 23 h 273"/>
                  <a:gd name="T36" fmla="*/ 249 w 271"/>
                  <a:gd name="T37" fmla="*/ 60 h 273"/>
                  <a:gd name="T38" fmla="*/ 270 w 271"/>
                  <a:gd name="T39" fmla="*/ 108 h 273"/>
                  <a:gd name="T40" fmla="*/ 271 w 271"/>
                  <a:gd name="T41" fmla="*/ 137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71" h="273">
                    <a:moveTo>
                      <a:pt x="271" y="137"/>
                    </a:moveTo>
                    <a:lnTo>
                      <a:pt x="270" y="164"/>
                    </a:lnTo>
                    <a:lnTo>
                      <a:pt x="249" y="213"/>
                    </a:lnTo>
                    <a:lnTo>
                      <a:pt x="213" y="249"/>
                    </a:lnTo>
                    <a:lnTo>
                      <a:pt x="164" y="270"/>
                    </a:lnTo>
                    <a:lnTo>
                      <a:pt x="136" y="273"/>
                    </a:lnTo>
                    <a:lnTo>
                      <a:pt x="108" y="270"/>
                    </a:lnTo>
                    <a:lnTo>
                      <a:pt x="59" y="249"/>
                    </a:lnTo>
                    <a:lnTo>
                      <a:pt x="22" y="213"/>
                    </a:lnTo>
                    <a:lnTo>
                      <a:pt x="2" y="164"/>
                    </a:lnTo>
                    <a:lnTo>
                      <a:pt x="0" y="137"/>
                    </a:lnTo>
                    <a:lnTo>
                      <a:pt x="2" y="108"/>
                    </a:lnTo>
                    <a:lnTo>
                      <a:pt x="22" y="60"/>
                    </a:lnTo>
                    <a:lnTo>
                      <a:pt x="59" y="23"/>
                    </a:lnTo>
                    <a:lnTo>
                      <a:pt x="108" y="2"/>
                    </a:lnTo>
                    <a:lnTo>
                      <a:pt x="136" y="0"/>
                    </a:lnTo>
                    <a:lnTo>
                      <a:pt x="164" y="2"/>
                    </a:lnTo>
                    <a:lnTo>
                      <a:pt x="213" y="23"/>
                    </a:lnTo>
                    <a:lnTo>
                      <a:pt x="249" y="60"/>
                    </a:lnTo>
                    <a:lnTo>
                      <a:pt x="270" y="108"/>
                    </a:lnTo>
                    <a:lnTo>
                      <a:pt x="271" y="137"/>
                    </a:lnTo>
                    <a:close/>
                  </a:path>
                </a:pathLst>
              </a:custGeom>
              <a:grpFill/>
              <a:ln w="9525">
                <a:solidFill>
                  <a:schemeClr val="bg1">
                    <a:lumMod val="85000"/>
                  </a:schemeClr>
                </a:solidFill>
                <a:round/>
                <a:headEnd/>
                <a:tailEnd/>
              </a:ln>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30" name="Freeform 162">
                <a:extLst>
                  <a:ext uri="{FF2B5EF4-FFF2-40B4-BE49-F238E27FC236}">
                    <a16:creationId xmlns:a16="http://schemas.microsoft.com/office/drawing/2014/main" id="{16DD9F26-800C-9373-CC6C-C4DC94049389}"/>
                  </a:ext>
                </a:extLst>
              </p:cNvPr>
              <p:cNvSpPr>
                <a:spLocks/>
              </p:cNvSpPr>
              <p:nvPr/>
            </p:nvSpPr>
            <p:spPr bwMode="auto">
              <a:xfrm>
                <a:off x="4562654" y="1900360"/>
                <a:ext cx="94832" cy="94832"/>
              </a:xfrm>
              <a:custGeom>
                <a:avLst/>
                <a:gdLst>
                  <a:gd name="T0" fmla="*/ 272 w 272"/>
                  <a:gd name="T1" fmla="*/ 137 h 273"/>
                  <a:gd name="T2" fmla="*/ 271 w 272"/>
                  <a:gd name="T3" fmla="*/ 165 h 273"/>
                  <a:gd name="T4" fmla="*/ 250 w 272"/>
                  <a:gd name="T5" fmla="*/ 213 h 273"/>
                  <a:gd name="T6" fmla="*/ 213 w 272"/>
                  <a:gd name="T7" fmla="*/ 251 h 273"/>
                  <a:gd name="T8" fmla="*/ 165 w 272"/>
                  <a:gd name="T9" fmla="*/ 271 h 273"/>
                  <a:gd name="T10" fmla="*/ 136 w 272"/>
                  <a:gd name="T11" fmla="*/ 273 h 273"/>
                  <a:gd name="T12" fmla="*/ 109 w 272"/>
                  <a:gd name="T13" fmla="*/ 271 h 273"/>
                  <a:gd name="T14" fmla="*/ 60 w 272"/>
                  <a:gd name="T15" fmla="*/ 251 h 273"/>
                  <a:gd name="T16" fmla="*/ 24 w 272"/>
                  <a:gd name="T17" fmla="*/ 213 h 273"/>
                  <a:gd name="T18" fmla="*/ 3 w 272"/>
                  <a:gd name="T19" fmla="*/ 165 h 273"/>
                  <a:gd name="T20" fmla="*/ 0 w 272"/>
                  <a:gd name="T21" fmla="*/ 137 h 273"/>
                  <a:gd name="T22" fmla="*/ 3 w 272"/>
                  <a:gd name="T23" fmla="*/ 109 h 273"/>
                  <a:gd name="T24" fmla="*/ 24 w 272"/>
                  <a:gd name="T25" fmla="*/ 60 h 273"/>
                  <a:gd name="T26" fmla="*/ 60 w 272"/>
                  <a:gd name="T27" fmla="*/ 24 h 273"/>
                  <a:gd name="T28" fmla="*/ 109 w 272"/>
                  <a:gd name="T29" fmla="*/ 3 h 273"/>
                  <a:gd name="T30" fmla="*/ 136 w 272"/>
                  <a:gd name="T31" fmla="*/ 0 h 273"/>
                  <a:gd name="T32" fmla="*/ 165 w 272"/>
                  <a:gd name="T33" fmla="*/ 3 h 273"/>
                  <a:gd name="T34" fmla="*/ 213 w 272"/>
                  <a:gd name="T35" fmla="*/ 24 h 273"/>
                  <a:gd name="T36" fmla="*/ 250 w 272"/>
                  <a:gd name="T37" fmla="*/ 60 h 273"/>
                  <a:gd name="T38" fmla="*/ 271 w 272"/>
                  <a:gd name="T39" fmla="*/ 109 h 273"/>
                  <a:gd name="T40" fmla="*/ 272 w 272"/>
                  <a:gd name="T41" fmla="*/ 137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72" h="273">
                    <a:moveTo>
                      <a:pt x="272" y="137"/>
                    </a:moveTo>
                    <a:lnTo>
                      <a:pt x="271" y="165"/>
                    </a:lnTo>
                    <a:lnTo>
                      <a:pt x="250" y="213"/>
                    </a:lnTo>
                    <a:lnTo>
                      <a:pt x="213" y="251"/>
                    </a:lnTo>
                    <a:lnTo>
                      <a:pt x="165" y="271"/>
                    </a:lnTo>
                    <a:lnTo>
                      <a:pt x="136" y="273"/>
                    </a:lnTo>
                    <a:lnTo>
                      <a:pt x="109" y="271"/>
                    </a:lnTo>
                    <a:lnTo>
                      <a:pt x="60" y="251"/>
                    </a:lnTo>
                    <a:lnTo>
                      <a:pt x="24" y="213"/>
                    </a:lnTo>
                    <a:lnTo>
                      <a:pt x="3" y="165"/>
                    </a:lnTo>
                    <a:lnTo>
                      <a:pt x="0" y="137"/>
                    </a:lnTo>
                    <a:lnTo>
                      <a:pt x="3" y="109"/>
                    </a:lnTo>
                    <a:lnTo>
                      <a:pt x="24" y="60"/>
                    </a:lnTo>
                    <a:lnTo>
                      <a:pt x="60" y="24"/>
                    </a:lnTo>
                    <a:lnTo>
                      <a:pt x="109" y="3"/>
                    </a:lnTo>
                    <a:lnTo>
                      <a:pt x="136" y="0"/>
                    </a:lnTo>
                    <a:lnTo>
                      <a:pt x="165" y="3"/>
                    </a:lnTo>
                    <a:lnTo>
                      <a:pt x="213" y="24"/>
                    </a:lnTo>
                    <a:lnTo>
                      <a:pt x="250" y="60"/>
                    </a:lnTo>
                    <a:lnTo>
                      <a:pt x="271" y="109"/>
                    </a:lnTo>
                    <a:lnTo>
                      <a:pt x="272" y="137"/>
                    </a:lnTo>
                    <a:close/>
                  </a:path>
                </a:pathLst>
              </a:custGeom>
              <a:grpFill/>
              <a:ln w="9525">
                <a:solidFill>
                  <a:schemeClr val="bg1">
                    <a:lumMod val="85000"/>
                  </a:schemeClr>
                </a:solidFill>
                <a:round/>
                <a:headEnd/>
                <a:tailEnd/>
              </a:ln>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31" name="Freeform 163">
                <a:extLst>
                  <a:ext uri="{FF2B5EF4-FFF2-40B4-BE49-F238E27FC236}">
                    <a16:creationId xmlns:a16="http://schemas.microsoft.com/office/drawing/2014/main" id="{F777A04C-42E4-BBE7-7E54-1E1574BF0B2E}"/>
                  </a:ext>
                </a:extLst>
              </p:cNvPr>
              <p:cNvSpPr>
                <a:spLocks/>
              </p:cNvSpPr>
              <p:nvPr/>
            </p:nvSpPr>
            <p:spPr bwMode="auto">
              <a:xfrm>
                <a:off x="5463556" y="2836127"/>
                <a:ext cx="94832" cy="94832"/>
              </a:xfrm>
              <a:custGeom>
                <a:avLst/>
                <a:gdLst>
                  <a:gd name="T0" fmla="*/ 273 w 273"/>
                  <a:gd name="T1" fmla="*/ 137 h 273"/>
                  <a:gd name="T2" fmla="*/ 270 w 273"/>
                  <a:gd name="T3" fmla="*/ 164 h 273"/>
                  <a:gd name="T4" fmla="*/ 249 w 273"/>
                  <a:gd name="T5" fmla="*/ 213 h 273"/>
                  <a:gd name="T6" fmla="*/ 213 w 273"/>
                  <a:gd name="T7" fmla="*/ 251 h 273"/>
                  <a:gd name="T8" fmla="*/ 164 w 273"/>
                  <a:gd name="T9" fmla="*/ 270 h 273"/>
                  <a:gd name="T10" fmla="*/ 137 w 273"/>
                  <a:gd name="T11" fmla="*/ 273 h 273"/>
                  <a:gd name="T12" fmla="*/ 108 w 273"/>
                  <a:gd name="T13" fmla="*/ 270 h 273"/>
                  <a:gd name="T14" fmla="*/ 60 w 273"/>
                  <a:gd name="T15" fmla="*/ 251 h 273"/>
                  <a:gd name="T16" fmla="*/ 22 w 273"/>
                  <a:gd name="T17" fmla="*/ 213 h 273"/>
                  <a:gd name="T18" fmla="*/ 2 w 273"/>
                  <a:gd name="T19" fmla="*/ 164 h 273"/>
                  <a:gd name="T20" fmla="*/ 0 w 273"/>
                  <a:gd name="T21" fmla="*/ 137 h 273"/>
                  <a:gd name="T22" fmla="*/ 2 w 273"/>
                  <a:gd name="T23" fmla="*/ 109 h 273"/>
                  <a:gd name="T24" fmla="*/ 22 w 273"/>
                  <a:gd name="T25" fmla="*/ 60 h 273"/>
                  <a:gd name="T26" fmla="*/ 60 w 273"/>
                  <a:gd name="T27" fmla="*/ 22 h 273"/>
                  <a:gd name="T28" fmla="*/ 108 w 273"/>
                  <a:gd name="T29" fmla="*/ 3 h 273"/>
                  <a:gd name="T30" fmla="*/ 137 w 273"/>
                  <a:gd name="T31" fmla="*/ 0 h 273"/>
                  <a:gd name="T32" fmla="*/ 164 w 273"/>
                  <a:gd name="T33" fmla="*/ 3 h 273"/>
                  <a:gd name="T34" fmla="*/ 213 w 273"/>
                  <a:gd name="T35" fmla="*/ 22 h 273"/>
                  <a:gd name="T36" fmla="*/ 249 w 273"/>
                  <a:gd name="T37" fmla="*/ 60 h 273"/>
                  <a:gd name="T38" fmla="*/ 270 w 273"/>
                  <a:gd name="T39" fmla="*/ 109 h 273"/>
                  <a:gd name="T40" fmla="*/ 273 w 273"/>
                  <a:gd name="T41" fmla="*/ 137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73" h="273">
                    <a:moveTo>
                      <a:pt x="273" y="137"/>
                    </a:moveTo>
                    <a:lnTo>
                      <a:pt x="270" y="164"/>
                    </a:lnTo>
                    <a:lnTo>
                      <a:pt x="249" y="213"/>
                    </a:lnTo>
                    <a:lnTo>
                      <a:pt x="213" y="251"/>
                    </a:lnTo>
                    <a:lnTo>
                      <a:pt x="164" y="270"/>
                    </a:lnTo>
                    <a:lnTo>
                      <a:pt x="137" y="273"/>
                    </a:lnTo>
                    <a:lnTo>
                      <a:pt x="108" y="270"/>
                    </a:lnTo>
                    <a:lnTo>
                      <a:pt x="60" y="251"/>
                    </a:lnTo>
                    <a:lnTo>
                      <a:pt x="22" y="213"/>
                    </a:lnTo>
                    <a:lnTo>
                      <a:pt x="2" y="164"/>
                    </a:lnTo>
                    <a:lnTo>
                      <a:pt x="0" y="137"/>
                    </a:lnTo>
                    <a:lnTo>
                      <a:pt x="2" y="109"/>
                    </a:lnTo>
                    <a:lnTo>
                      <a:pt x="22" y="60"/>
                    </a:lnTo>
                    <a:lnTo>
                      <a:pt x="60" y="22"/>
                    </a:lnTo>
                    <a:lnTo>
                      <a:pt x="108" y="3"/>
                    </a:lnTo>
                    <a:lnTo>
                      <a:pt x="137" y="0"/>
                    </a:lnTo>
                    <a:lnTo>
                      <a:pt x="164" y="3"/>
                    </a:lnTo>
                    <a:lnTo>
                      <a:pt x="213" y="22"/>
                    </a:lnTo>
                    <a:lnTo>
                      <a:pt x="249" y="60"/>
                    </a:lnTo>
                    <a:lnTo>
                      <a:pt x="270" y="109"/>
                    </a:lnTo>
                    <a:lnTo>
                      <a:pt x="273" y="137"/>
                    </a:lnTo>
                    <a:close/>
                  </a:path>
                </a:pathLst>
              </a:custGeom>
              <a:grpFill/>
              <a:ln w="9525">
                <a:solidFill>
                  <a:schemeClr val="bg1">
                    <a:lumMod val="85000"/>
                  </a:schemeClr>
                </a:solidFill>
                <a:round/>
                <a:headEnd/>
                <a:tailEnd/>
              </a:ln>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32" name="Freeform 164">
                <a:extLst>
                  <a:ext uri="{FF2B5EF4-FFF2-40B4-BE49-F238E27FC236}">
                    <a16:creationId xmlns:a16="http://schemas.microsoft.com/office/drawing/2014/main" id="{37807F22-8A75-46A2-C107-3434671D1AD3}"/>
                  </a:ext>
                </a:extLst>
              </p:cNvPr>
              <p:cNvSpPr>
                <a:spLocks/>
              </p:cNvSpPr>
              <p:nvPr/>
            </p:nvSpPr>
            <p:spPr bwMode="auto">
              <a:xfrm>
                <a:off x="4280948" y="2894699"/>
                <a:ext cx="94832" cy="94832"/>
              </a:xfrm>
              <a:custGeom>
                <a:avLst/>
                <a:gdLst>
                  <a:gd name="T0" fmla="*/ 272 w 272"/>
                  <a:gd name="T1" fmla="*/ 136 h 272"/>
                  <a:gd name="T2" fmla="*/ 270 w 272"/>
                  <a:gd name="T3" fmla="*/ 164 h 272"/>
                  <a:gd name="T4" fmla="*/ 249 w 272"/>
                  <a:gd name="T5" fmla="*/ 213 h 272"/>
                  <a:gd name="T6" fmla="*/ 213 w 272"/>
                  <a:gd name="T7" fmla="*/ 250 h 272"/>
                  <a:gd name="T8" fmla="*/ 163 w 272"/>
                  <a:gd name="T9" fmla="*/ 270 h 272"/>
                  <a:gd name="T10" fmla="*/ 136 w 272"/>
                  <a:gd name="T11" fmla="*/ 272 h 272"/>
                  <a:gd name="T12" fmla="*/ 108 w 272"/>
                  <a:gd name="T13" fmla="*/ 270 h 272"/>
                  <a:gd name="T14" fmla="*/ 60 w 272"/>
                  <a:gd name="T15" fmla="*/ 250 h 272"/>
                  <a:gd name="T16" fmla="*/ 22 w 272"/>
                  <a:gd name="T17" fmla="*/ 213 h 272"/>
                  <a:gd name="T18" fmla="*/ 1 w 272"/>
                  <a:gd name="T19" fmla="*/ 164 h 272"/>
                  <a:gd name="T20" fmla="*/ 0 w 272"/>
                  <a:gd name="T21" fmla="*/ 136 h 272"/>
                  <a:gd name="T22" fmla="*/ 1 w 272"/>
                  <a:gd name="T23" fmla="*/ 109 h 272"/>
                  <a:gd name="T24" fmla="*/ 22 w 272"/>
                  <a:gd name="T25" fmla="*/ 60 h 272"/>
                  <a:gd name="T26" fmla="*/ 60 w 272"/>
                  <a:gd name="T27" fmla="*/ 22 h 272"/>
                  <a:gd name="T28" fmla="*/ 108 w 272"/>
                  <a:gd name="T29" fmla="*/ 2 h 272"/>
                  <a:gd name="T30" fmla="*/ 136 w 272"/>
                  <a:gd name="T31" fmla="*/ 0 h 272"/>
                  <a:gd name="T32" fmla="*/ 163 w 272"/>
                  <a:gd name="T33" fmla="*/ 2 h 272"/>
                  <a:gd name="T34" fmla="*/ 213 w 272"/>
                  <a:gd name="T35" fmla="*/ 22 h 272"/>
                  <a:gd name="T36" fmla="*/ 249 w 272"/>
                  <a:gd name="T37" fmla="*/ 60 h 272"/>
                  <a:gd name="T38" fmla="*/ 270 w 272"/>
                  <a:gd name="T39" fmla="*/ 109 h 272"/>
                  <a:gd name="T40" fmla="*/ 272 w 272"/>
                  <a:gd name="T41" fmla="*/ 136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72" h="272">
                    <a:moveTo>
                      <a:pt x="272" y="136"/>
                    </a:moveTo>
                    <a:lnTo>
                      <a:pt x="270" y="164"/>
                    </a:lnTo>
                    <a:lnTo>
                      <a:pt x="249" y="213"/>
                    </a:lnTo>
                    <a:lnTo>
                      <a:pt x="213" y="250"/>
                    </a:lnTo>
                    <a:lnTo>
                      <a:pt x="163" y="270"/>
                    </a:lnTo>
                    <a:lnTo>
                      <a:pt x="136" y="272"/>
                    </a:lnTo>
                    <a:lnTo>
                      <a:pt x="108" y="270"/>
                    </a:lnTo>
                    <a:lnTo>
                      <a:pt x="60" y="250"/>
                    </a:lnTo>
                    <a:lnTo>
                      <a:pt x="22" y="213"/>
                    </a:lnTo>
                    <a:lnTo>
                      <a:pt x="1" y="164"/>
                    </a:lnTo>
                    <a:lnTo>
                      <a:pt x="0" y="136"/>
                    </a:lnTo>
                    <a:lnTo>
                      <a:pt x="1" y="109"/>
                    </a:lnTo>
                    <a:lnTo>
                      <a:pt x="22" y="60"/>
                    </a:lnTo>
                    <a:lnTo>
                      <a:pt x="60" y="22"/>
                    </a:lnTo>
                    <a:lnTo>
                      <a:pt x="108" y="2"/>
                    </a:lnTo>
                    <a:lnTo>
                      <a:pt x="136" y="0"/>
                    </a:lnTo>
                    <a:lnTo>
                      <a:pt x="163" y="2"/>
                    </a:lnTo>
                    <a:lnTo>
                      <a:pt x="213" y="22"/>
                    </a:lnTo>
                    <a:lnTo>
                      <a:pt x="249" y="60"/>
                    </a:lnTo>
                    <a:lnTo>
                      <a:pt x="270" y="109"/>
                    </a:lnTo>
                    <a:lnTo>
                      <a:pt x="272" y="136"/>
                    </a:lnTo>
                    <a:close/>
                  </a:path>
                </a:pathLst>
              </a:custGeom>
              <a:grpFill/>
              <a:ln w="9525">
                <a:solidFill>
                  <a:schemeClr val="bg1">
                    <a:lumMod val="85000"/>
                  </a:schemeClr>
                </a:solidFill>
                <a:round/>
                <a:headEnd/>
                <a:tailEnd/>
              </a:ln>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33" name="Freeform 165">
                <a:extLst>
                  <a:ext uri="{FF2B5EF4-FFF2-40B4-BE49-F238E27FC236}">
                    <a16:creationId xmlns:a16="http://schemas.microsoft.com/office/drawing/2014/main" id="{6D61A1B1-3538-0CD7-9A34-111CD8EEC649}"/>
                  </a:ext>
                </a:extLst>
              </p:cNvPr>
              <p:cNvSpPr>
                <a:spLocks/>
              </p:cNvSpPr>
              <p:nvPr/>
            </p:nvSpPr>
            <p:spPr bwMode="auto">
              <a:xfrm>
                <a:off x="4123360" y="3398144"/>
                <a:ext cx="94832" cy="94832"/>
              </a:xfrm>
              <a:custGeom>
                <a:avLst/>
                <a:gdLst>
                  <a:gd name="T0" fmla="*/ 273 w 273"/>
                  <a:gd name="T1" fmla="*/ 136 h 272"/>
                  <a:gd name="T2" fmla="*/ 271 w 273"/>
                  <a:gd name="T3" fmla="*/ 164 h 272"/>
                  <a:gd name="T4" fmla="*/ 251 w 273"/>
                  <a:gd name="T5" fmla="*/ 212 h 272"/>
                  <a:gd name="T6" fmla="*/ 213 w 273"/>
                  <a:gd name="T7" fmla="*/ 250 h 272"/>
                  <a:gd name="T8" fmla="*/ 165 w 273"/>
                  <a:gd name="T9" fmla="*/ 270 h 272"/>
                  <a:gd name="T10" fmla="*/ 137 w 273"/>
                  <a:gd name="T11" fmla="*/ 272 h 272"/>
                  <a:gd name="T12" fmla="*/ 109 w 273"/>
                  <a:gd name="T13" fmla="*/ 270 h 272"/>
                  <a:gd name="T14" fmla="*/ 60 w 273"/>
                  <a:gd name="T15" fmla="*/ 250 h 272"/>
                  <a:gd name="T16" fmla="*/ 24 w 273"/>
                  <a:gd name="T17" fmla="*/ 212 h 272"/>
                  <a:gd name="T18" fmla="*/ 3 w 273"/>
                  <a:gd name="T19" fmla="*/ 164 h 272"/>
                  <a:gd name="T20" fmla="*/ 0 w 273"/>
                  <a:gd name="T21" fmla="*/ 136 h 272"/>
                  <a:gd name="T22" fmla="*/ 3 w 273"/>
                  <a:gd name="T23" fmla="*/ 108 h 272"/>
                  <a:gd name="T24" fmla="*/ 24 w 273"/>
                  <a:gd name="T25" fmla="*/ 59 h 272"/>
                  <a:gd name="T26" fmla="*/ 60 w 273"/>
                  <a:gd name="T27" fmla="*/ 23 h 272"/>
                  <a:gd name="T28" fmla="*/ 109 w 273"/>
                  <a:gd name="T29" fmla="*/ 2 h 272"/>
                  <a:gd name="T30" fmla="*/ 137 w 273"/>
                  <a:gd name="T31" fmla="*/ 0 h 272"/>
                  <a:gd name="T32" fmla="*/ 165 w 273"/>
                  <a:gd name="T33" fmla="*/ 2 h 272"/>
                  <a:gd name="T34" fmla="*/ 213 w 273"/>
                  <a:gd name="T35" fmla="*/ 23 h 272"/>
                  <a:gd name="T36" fmla="*/ 251 w 273"/>
                  <a:gd name="T37" fmla="*/ 59 h 272"/>
                  <a:gd name="T38" fmla="*/ 271 w 273"/>
                  <a:gd name="T39" fmla="*/ 108 h 272"/>
                  <a:gd name="T40" fmla="*/ 273 w 273"/>
                  <a:gd name="T41" fmla="*/ 136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73" h="272">
                    <a:moveTo>
                      <a:pt x="273" y="136"/>
                    </a:moveTo>
                    <a:lnTo>
                      <a:pt x="271" y="164"/>
                    </a:lnTo>
                    <a:lnTo>
                      <a:pt x="251" y="212"/>
                    </a:lnTo>
                    <a:lnTo>
                      <a:pt x="213" y="250"/>
                    </a:lnTo>
                    <a:lnTo>
                      <a:pt x="165" y="270"/>
                    </a:lnTo>
                    <a:lnTo>
                      <a:pt x="137" y="272"/>
                    </a:lnTo>
                    <a:lnTo>
                      <a:pt x="109" y="270"/>
                    </a:lnTo>
                    <a:lnTo>
                      <a:pt x="60" y="250"/>
                    </a:lnTo>
                    <a:lnTo>
                      <a:pt x="24" y="212"/>
                    </a:lnTo>
                    <a:lnTo>
                      <a:pt x="3" y="164"/>
                    </a:lnTo>
                    <a:lnTo>
                      <a:pt x="0" y="136"/>
                    </a:lnTo>
                    <a:lnTo>
                      <a:pt x="3" y="108"/>
                    </a:lnTo>
                    <a:lnTo>
                      <a:pt x="24" y="59"/>
                    </a:lnTo>
                    <a:lnTo>
                      <a:pt x="60" y="23"/>
                    </a:lnTo>
                    <a:lnTo>
                      <a:pt x="109" y="2"/>
                    </a:lnTo>
                    <a:lnTo>
                      <a:pt x="137" y="0"/>
                    </a:lnTo>
                    <a:lnTo>
                      <a:pt x="165" y="2"/>
                    </a:lnTo>
                    <a:lnTo>
                      <a:pt x="213" y="23"/>
                    </a:lnTo>
                    <a:lnTo>
                      <a:pt x="251" y="59"/>
                    </a:lnTo>
                    <a:lnTo>
                      <a:pt x="271" y="108"/>
                    </a:lnTo>
                    <a:lnTo>
                      <a:pt x="273" y="136"/>
                    </a:lnTo>
                    <a:close/>
                  </a:path>
                </a:pathLst>
              </a:custGeom>
              <a:grpFill/>
              <a:ln w="9525">
                <a:solidFill>
                  <a:schemeClr val="bg1">
                    <a:lumMod val="85000"/>
                  </a:schemeClr>
                </a:solidFill>
                <a:round/>
                <a:headEnd/>
                <a:tailEnd/>
              </a:ln>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34" name="Freeform 166">
                <a:extLst>
                  <a:ext uri="{FF2B5EF4-FFF2-40B4-BE49-F238E27FC236}">
                    <a16:creationId xmlns:a16="http://schemas.microsoft.com/office/drawing/2014/main" id="{5C1C0FEC-A9A2-1BAF-DD4D-7F5C8DC29997}"/>
                  </a:ext>
                </a:extLst>
              </p:cNvPr>
              <p:cNvSpPr>
                <a:spLocks/>
              </p:cNvSpPr>
              <p:nvPr/>
            </p:nvSpPr>
            <p:spPr bwMode="auto">
              <a:xfrm>
                <a:off x="5227871" y="4279521"/>
                <a:ext cx="94832" cy="94832"/>
              </a:xfrm>
              <a:custGeom>
                <a:avLst/>
                <a:gdLst>
                  <a:gd name="T0" fmla="*/ 272 w 272"/>
                  <a:gd name="T1" fmla="*/ 136 h 272"/>
                  <a:gd name="T2" fmla="*/ 270 w 272"/>
                  <a:gd name="T3" fmla="*/ 163 h 272"/>
                  <a:gd name="T4" fmla="*/ 249 w 272"/>
                  <a:gd name="T5" fmla="*/ 212 h 272"/>
                  <a:gd name="T6" fmla="*/ 213 w 272"/>
                  <a:gd name="T7" fmla="*/ 248 h 272"/>
                  <a:gd name="T8" fmla="*/ 163 w 272"/>
                  <a:gd name="T9" fmla="*/ 269 h 272"/>
                  <a:gd name="T10" fmla="*/ 136 w 272"/>
                  <a:gd name="T11" fmla="*/ 272 h 272"/>
                  <a:gd name="T12" fmla="*/ 108 w 272"/>
                  <a:gd name="T13" fmla="*/ 269 h 272"/>
                  <a:gd name="T14" fmla="*/ 60 w 272"/>
                  <a:gd name="T15" fmla="*/ 248 h 272"/>
                  <a:gd name="T16" fmla="*/ 22 w 272"/>
                  <a:gd name="T17" fmla="*/ 212 h 272"/>
                  <a:gd name="T18" fmla="*/ 1 w 272"/>
                  <a:gd name="T19" fmla="*/ 163 h 272"/>
                  <a:gd name="T20" fmla="*/ 0 w 272"/>
                  <a:gd name="T21" fmla="*/ 136 h 272"/>
                  <a:gd name="T22" fmla="*/ 1 w 272"/>
                  <a:gd name="T23" fmla="*/ 107 h 272"/>
                  <a:gd name="T24" fmla="*/ 22 w 272"/>
                  <a:gd name="T25" fmla="*/ 58 h 272"/>
                  <a:gd name="T26" fmla="*/ 60 w 272"/>
                  <a:gd name="T27" fmla="*/ 22 h 272"/>
                  <a:gd name="T28" fmla="*/ 108 w 272"/>
                  <a:gd name="T29" fmla="*/ 1 h 272"/>
                  <a:gd name="T30" fmla="*/ 136 w 272"/>
                  <a:gd name="T31" fmla="*/ 0 h 272"/>
                  <a:gd name="T32" fmla="*/ 163 w 272"/>
                  <a:gd name="T33" fmla="*/ 1 h 272"/>
                  <a:gd name="T34" fmla="*/ 213 w 272"/>
                  <a:gd name="T35" fmla="*/ 22 h 272"/>
                  <a:gd name="T36" fmla="*/ 249 w 272"/>
                  <a:gd name="T37" fmla="*/ 58 h 272"/>
                  <a:gd name="T38" fmla="*/ 270 w 272"/>
                  <a:gd name="T39" fmla="*/ 107 h 272"/>
                  <a:gd name="T40" fmla="*/ 272 w 272"/>
                  <a:gd name="T41" fmla="*/ 136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72" h="272">
                    <a:moveTo>
                      <a:pt x="272" y="136"/>
                    </a:moveTo>
                    <a:lnTo>
                      <a:pt x="270" y="163"/>
                    </a:lnTo>
                    <a:lnTo>
                      <a:pt x="249" y="212"/>
                    </a:lnTo>
                    <a:lnTo>
                      <a:pt x="213" y="248"/>
                    </a:lnTo>
                    <a:lnTo>
                      <a:pt x="163" y="269"/>
                    </a:lnTo>
                    <a:lnTo>
                      <a:pt x="136" y="272"/>
                    </a:lnTo>
                    <a:lnTo>
                      <a:pt x="108" y="269"/>
                    </a:lnTo>
                    <a:lnTo>
                      <a:pt x="60" y="248"/>
                    </a:lnTo>
                    <a:lnTo>
                      <a:pt x="22" y="212"/>
                    </a:lnTo>
                    <a:lnTo>
                      <a:pt x="1" y="163"/>
                    </a:lnTo>
                    <a:lnTo>
                      <a:pt x="0" y="136"/>
                    </a:lnTo>
                    <a:lnTo>
                      <a:pt x="1" y="107"/>
                    </a:lnTo>
                    <a:lnTo>
                      <a:pt x="22" y="58"/>
                    </a:lnTo>
                    <a:lnTo>
                      <a:pt x="60" y="22"/>
                    </a:lnTo>
                    <a:lnTo>
                      <a:pt x="108" y="1"/>
                    </a:lnTo>
                    <a:lnTo>
                      <a:pt x="136" y="0"/>
                    </a:lnTo>
                    <a:lnTo>
                      <a:pt x="163" y="1"/>
                    </a:lnTo>
                    <a:lnTo>
                      <a:pt x="213" y="22"/>
                    </a:lnTo>
                    <a:lnTo>
                      <a:pt x="249" y="58"/>
                    </a:lnTo>
                    <a:lnTo>
                      <a:pt x="270" y="107"/>
                    </a:lnTo>
                    <a:lnTo>
                      <a:pt x="272" y="136"/>
                    </a:lnTo>
                    <a:close/>
                  </a:path>
                </a:pathLst>
              </a:custGeom>
              <a:grpFill/>
              <a:ln w="9525">
                <a:solidFill>
                  <a:schemeClr val="bg1">
                    <a:lumMod val="85000"/>
                  </a:schemeClr>
                </a:solidFill>
                <a:round/>
                <a:headEnd/>
                <a:tailEnd/>
              </a:ln>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35" name="Freeform 167">
                <a:extLst>
                  <a:ext uri="{FF2B5EF4-FFF2-40B4-BE49-F238E27FC236}">
                    <a16:creationId xmlns:a16="http://schemas.microsoft.com/office/drawing/2014/main" id="{0F6ABEDD-8BEC-5033-4193-CD8DA7AD840D}"/>
                  </a:ext>
                </a:extLst>
              </p:cNvPr>
              <p:cNvSpPr>
                <a:spLocks/>
              </p:cNvSpPr>
              <p:nvPr/>
            </p:nvSpPr>
            <p:spPr bwMode="auto">
              <a:xfrm>
                <a:off x="5650430" y="4607249"/>
                <a:ext cx="94832" cy="94832"/>
              </a:xfrm>
              <a:custGeom>
                <a:avLst/>
                <a:gdLst>
                  <a:gd name="T0" fmla="*/ 272 w 272"/>
                  <a:gd name="T1" fmla="*/ 136 h 272"/>
                  <a:gd name="T2" fmla="*/ 271 w 272"/>
                  <a:gd name="T3" fmla="*/ 164 h 272"/>
                  <a:gd name="T4" fmla="*/ 250 w 272"/>
                  <a:gd name="T5" fmla="*/ 212 h 272"/>
                  <a:gd name="T6" fmla="*/ 213 w 272"/>
                  <a:gd name="T7" fmla="*/ 250 h 272"/>
                  <a:gd name="T8" fmla="*/ 165 w 272"/>
                  <a:gd name="T9" fmla="*/ 270 h 272"/>
                  <a:gd name="T10" fmla="*/ 136 w 272"/>
                  <a:gd name="T11" fmla="*/ 272 h 272"/>
                  <a:gd name="T12" fmla="*/ 109 w 272"/>
                  <a:gd name="T13" fmla="*/ 270 h 272"/>
                  <a:gd name="T14" fmla="*/ 60 w 272"/>
                  <a:gd name="T15" fmla="*/ 250 h 272"/>
                  <a:gd name="T16" fmla="*/ 23 w 272"/>
                  <a:gd name="T17" fmla="*/ 212 h 272"/>
                  <a:gd name="T18" fmla="*/ 3 w 272"/>
                  <a:gd name="T19" fmla="*/ 164 h 272"/>
                  <a:gd name="T20" fmla="*/ 0 w 272"/>
                  <a:gd name="T21" fmla="*/ 136 h 272"/>
                  <a:gd name="T22" fmla="*/ 3 w 272"/>
                  <a:gd name="T23" fmla="*/ 108 h 272"/>
                  <a:gd name="T24" fmla="*/ 23 w 272"/>
                  <a:gd name="T25" fmla="*/ 59 h 272"/>
                  <a:gd name="T26" fmla="*/ 60 w 272"/>
                  <a:gd name="T27" fmla="*/ 23 h 272"/>
                  <a:gd name="T28" fmla="*/ 109 w 272"/>
                  <a:gd name="T29" fmla="*/ 2 h 272"/>
                  <a:gd name="T30" fmla="*/ 136 w 272"/>
                  <a:gd name="T31" fmla="*/ 0 h 272"/>
                  <a:gd name="T32" fmla="*/ 165 w 272"/>
                  <a:gd name="T33" fmla="*/ 2 h 272"/>
                  <a:gd name="T34" fmla="*/ 213 w 272"/>
                  <a:gd name="T35" fmla="*/ 23 h 272"/>
                  <a:gd name="T36" fmla="*/ 250 w 272"/>
                  <a:gd name="T37" fmla="*/ 59 h 272"/>
                  <a:gd name="T38" fmla="*/ 271 w 272"/>
                  <a:gd name="T39" fmla="*/ 108 h 272"/>
                  <a:gd name="T40" fmla="*/ 272 w 272"/>
                  <a:gd name="T41" fmla="*/ 136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72" h="272">
                    <a:moveTo>
                      <a:pt x="272" y="136"/>
                    </a:moveTo>
                    <a:lnTo>
                      <a:pt x="271" y="164"/>
                    </a:lnTo>
                    <a:lnTo>
                      <a:pt x="250" y="212"/>
                    </a:lnTo>
                    <a:lnTo>
                      <a:pt x="213" y="250"/>
                    </a:lnTo>
                    <a:lnTo>
                      <a:pt x="165" y="270"/>
                    </a:lnTo>
                    <a:lnTo>
                      <a:pt x="136" y="272"/>
                    </a:lnTo>
                    <a:lnTo>
                      <a:pt x="109" y="270"/>
                    </a:lnTo>
                    <a:lnTo>
                      <a:pt x="60" y="250"/>
                    </a:lnTo>
                    <a:lnTo>
                      <a:pt x="23" y="212"/>
                    </a:lnTo>
                    <a:lnTo>
                      <a:pt x="3" y="164"/>
                    </a:lnTo>
                    <a:lnTo>
                      <a:pt x="0" y="136"/>
                    </a:lnTo>
                    <a:lnTo>
                      <a:pt x="3" y="108"/>
                    </a:lnTo>
                    <a:lnTo>
                      <a:pt x="23" y="59"/>
                    </a:lnTo>
                    <a:lnTo>
                      <a:pt x="60" y="23"/>
                    </a:lnTo>
                    <a:lnTo>
                      <a:pt x="109" y="2"/>
                    </a:lnTo>
                    <a:lnTo>
                      <a:pt x="136" y="0"/>
                    </a:lnTo>
                    <a:lnTo>
                      <a:pt x="165" y="2"/>
                    </a:lnTo>
                    <a:lnTo>
                      <a:pt x="213" y="23"/>
                    </a:lnTo>
                    <a:lnTo>
                      <a:pt x="250" y="59"/>
                    </a:lnTo>
                    <a:lnTo>
                      <a:pt x="271" y="108"/>
                    </a:lnTo>
                    <a:lnTo>
                      <a:pt x="272" y="136"/>
                    </a:lnTo>
                    <a:close/>
                  </a:path>
                </a:pathLst>
              </a:custGeom>
              <a:grpFill/>
              <a:ln w="9525">
                <a:solidFill>
                  <a:schemeClr val="bg1">
                    <a:lumMod val="85000"/>
                  </a:schemeClr>
                </a:solidFill>
                <a:round/>
                <a:headEnd/>
                <a:tailEnd/>
              </a:ln>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36" name="Freeform 168">
                <a:extLst>
                  <a:ext uri="{FF2B5EF4-FFF2-40B4-BE49-F238E27FC236}">
                    <a16:creationId xmlns:a16="http://schemas.microsoft.com/office/drawing/2014/main" id="{6319B760-075A-D21B-E32A-F5748B27266F}"/>
                  </a:ext>
                </a:extLst>
              </p:cNvPr>
              <p:cNvSpPr>
                <a:spLocks/>
              </p:cNvSpPr>
              <p:nvPr/>
            </p:nvSpPr>
            <p:spPr bwMode="auto">
              <a:xfrm>
                <a:off x="4414828" y="4393877"/>
                <a:ext cx="94832" cy="94832"/>
              </a:xfrm>
              <a:custGeom>
                <a:avLst/>
                <a:gdLst>
                  <a:gd name="T0" fmla="*/ 272 w 272"/>
                  <a:gd name="T1" fmla="*/ 136 h 272"/>
                  <a:gd name="T2" fmla="*/ 270 w 272"/>
                  <a:gd name="T3" fmla="*/ 165 h 272"/>
                  <a:gd name="T4" fmla="*/ 249 w 272"/>
                  <a:gd name="T5" fmla="*/ 213 h 272"/>
                  <a:gd name="T6" fmla="*/ 213 w 272"/>
                  <a:gd name="T7" fmla="*/ 250 h 272"/>
                  <a:gd name="T8" fmla="*/ 163 w 272"/>
                  <a:gd name="T9" fmla="*/ 271 h 272"/>
                  <a:gd name="T10" fmla="*/ 136 w 272"/>
                  <a:gd name="T11" fmla="*/ 272 h 272"/>
                  <a:gd name="T12" fmla="*/ 108 w 272"/>
                  <a:gd name="T13" fmla="*/ 271 h 272"/>
                  <a:gd name="T14" fmla="*/ 60 w 272"/>
                  <a:gd name="T15" fmla="*/ 250 h 272"/>
                  <a:gd name="T16" fmla="*/ 22 w 272"/>
                  <a:gd name="T17" fmla="*/ 213 h 272"/>
                  <a:gd name="T18" fmla="*/ 1 w 272"/>
                  <a:gd name="T19" fmla="*/ 165 h 272"/>
                  <a:gd name="T20" fmla="*/ 0 w 272"/>
                  <a:gd name="T21" fmla="*/ 136 h 272"/>
                  <a:gd name="T22" fmla="*/ 1 w 272"/>
                  <a:gd name="T23" fmla="*/ 109 h 272"/>
                  <a:gd name="T24" fmla="*/ 22 w 272"/>
                  <a:gd name="T25" fmla="*/ 60 h 272"/>
                  <a:gd name="T26" fmla="*/ 60 w 272"/>
                  <a:gd name="T27" fmla="*/ 24 h 272"/>
                  <a:gd name="T28" fmla="*/ 108 w 272"/>
                  <a:gd name="T29" fmla="*/ 3 h 272"/>
                  <a:gd name="T30" fmla="*/ 136 w 272"/>
                  <a:gd name="T31" fmla="*/ 0 h 272"/>
                  <a:gd name="T32" fmla="*/ 163 w 272"/>
                  <a:gd name="T33" fmla="*/ 3 h 272"/>
                  <a:gd name="T34" fmla="*/ 213 w 272"/>
                  <a:gd name="T35" fmla="*/ 24 h 272"/>
                  <a:gd name="T36" fmla="*/ 249 w 272"/>
                  <a:gd name="T37" fmla="*/ 60 h 272"/>
                  <a:gd name="T38" fmla="*/ 270 w 272"/>
                  <a:gd name="T39" fmla="*/ 109 h 272"/>
                  <a:gd name="T40" fmla="*/ 272 w 272"/>
                  <a:gd name="T41" fmla="*/ 136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72" h="272">
                    <a:moveTo>
                      <a:pt x="272" y="136"/>
                    </a:moveTo>
                    <a:lnTo>
                      <a:pt x="270" y="165"/>
                    </a:lnTo>
                    <a:lnTo>
                      <a:pt x="249" y="213"/>
                    </a:lnTo>
                    <a:lnTo>
                      <a:pt x="213" y="250"/>
                    </a:lnTo>
                    <a:lnTo>
                      <a:pt x="163" y="271"/>
                    </a:lnTo>
                    <a:lnTo>
                      <a:pt x="136" y="272"/>
                    </a:lnTo>
                    <a:lnTo>
                      <a:pt x="108" y="271"/>
                    </a:lnTo>
                    <a:lnTo>
                      <a:pt x="60" y="250"/>
                    </a:lnTo>
                    <a:lnTo>
                      <a:pt x="22" y="213"/>
                    </a:lnTo>
                    <a:lnTo>
                      <a:pt x="1" y="165"/>
                    </a:lnTo>
                    <a:lnTo>
                      <a:pt x="0" y="136"/>
                    </a:lnTo>
                    <a:lnTo>
                      <a:pt x="1" y="109"/>
                    </a:lnTo>
                    <a:lnTo>
                      <a:pt x="22" y="60"/>
                    </a:lnTo>
                    <a:lnTo>
                      <a:pt x="60" y="24"/>
                    </a:lnTo>
                    <a:lnTo>
                      <a:pt x="108" y="3"/>
                    </a:lnTo>
                    <a:lnTo>
                      <a:pt x="136" y="0"/>
                    </a:lnTo>
                    <a:lnTo>
                      <a:pt x="163" y="3"/>
                    </a:lnTo>
                    <a:lnTo>
                      <a:pt x="213" y="24"/>
                    </a:lnTo>
                    <a:lnTo>
                      <a:pt x="249" y="60"/>
                    </a:lnTo>
                    <a:lnTo>
                      <a:pt x="270" y="109"/>
                    </a:lnTo>
                    <a:lnTo>
                      <a:pt x="272" y="136"/>
                    </a:lnTo>
                    <a:close/>
                  </a:path>
                </a:pathLst>
              </a:custGeom>
              <a:grpFill/>
              <a:ln w="9525">
                <a:solidFill>
                  <a:schemeClr val="bg1">
                    <a:lumMod val="85000"/>
                  </a:schemeClr>
                </a:solidFill>
                <a:round/>
                <a:headEnd/>
                <a:tailEnd/>
              </a:ln>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37" name="Freeform 169">
                <a:extLst>
                  <a:ext uri="{FF2B5EF4-FFF2-40B4-BE49-F238E27FC236}">
                    <a16:creationId xmlns:a16="http://schemas.microsoft.com/office/drawing/2014/main" id="{B6CBFEFC-7385-35CA-E0F0-59184A558C22}"/>
                  </a:ext>
                </a:extLst>
              </p:cNvPr>
              <p:cNvSpPr>
                <a:spLocks/>
              </p:cNvSpPr>
              <p:nvPr/>
            </p:nvSpPr>
            <p:spPr bwMode="auto">
              <a:xfrm>
                <a:off x="5866591" y="4194452"/>
                <a:ext cx="132486" cy="131091"/>
              </a:xfrm>
              <a:custGeom>
                <a:avLst/>
                <a:gdLst>
                  <a:gd name="T0" fmla="*/ 377 w 377"/>
                  <a:gd name="T1" fmla="*/ 190 h 379"/>
                  <a:gd name="T2" fmla="*/ 377 w 377"/>
                  <a:gd name="T3" fmla="*/ 209 h 379"/>
                  <a:gd name="T4" fmla="*/ 369 w 377"/>
                  <a:gd name="T5" fmla="*/ 245 h 379"/>
                  <a:gd name="T6" fmla="*/ 355 w 377"/>
                  <a:gd name="T7" fmla="*/ 279 h 379"/>
                  <a:gd name="T8" fmla="*/ 334 w 377"/>
                  <a:gd name="T9" fmla="*/ 310 h 379"/>
                  <a:gd name="T10" fmla="*/ 308 w 377"/>
                  <a:gd name="T11" fmla="*/ 335 h 379"/>
                  <a:gd name="T12" fmla="*/ 279 w 377"/>
                  <a:gd name="T13" fmla="*/ 355 h 379"/>
                  <a:gd name="T14" fmla="*/ 245 w 377"/>
                  <a:gd name="T15" fmla="*/ 370 h 379"/>
                  <a:gd name="T16" fmla="*/ 207 w 377"/>
                  <a:gd name="T17" fmla="*/ 377 h 379"/>
                  <a:gd name="T18" fmla="*/ 188 w 377"/>
                  <a:gd name="T19" fmla="*/ 379 h 379"/>
                  <a:gd name="T20" fmla="*/ 168 w 377"/>
                  <a:gd name="T21" fmla="*/ 377 h 379"/>
                  <a:gd name="T22" fmla="*/ 132 w 377"/>
                  <a:gd name="T23" fmla="*/ 370 h 379"/>
                  <a:gd name="T24" fmla="*/ 98 w 377"/>
                  <a:gd name="T25" fmla="*/ 355 h 379"/>
                  <a:gd name="T26" fmla="*/ 69 w 377"/>
                  <a:gd name="T27" fmla="*/ 335 h 379"/>
                  <a:gd name="T28" fmla="*/ 43 w 377"/>
                  <a:gd name="T29" fmla="*/ 310 h 379"/>
                  <a:gd name="T30" fmla="*/ 22 w 377"/>
                  <a:gd name="T31" fmla="*/ 279 h 379"/>
                  <a:gd name="T32" fmla="*/ 8 w 377"/>
                  <a:gd name="T33" fmla="*/ 245 h 379"/>
                  <a:gd name="T34" fmla="*/ 0 w 377"/>
                  <a:gd name="T35" fmla="*/ 209 h 379"/>
                  <a:gd name="T36" fmla="*/ 0 w 377"/>
                  <a:gd name="T37" fmla="*/ 190 h 379"/>
                  <a:gd name="T38" fmla="*/ 0 w 377"/>
                  <a:gd name="T39" fmla="*/ 170 h 379"/>
                  <a:gd name="T40" fmla="*/ 8 w 377"/>
                  <a:gd name="T41" fmla="*/ 133 h 379"/>
                  <a:gd name="T42" fmla="*/ 22 w 377"/>
                  <a:gd name="T43" fmla="*/ 99 h 379"/>
                  <a:gd name="T44" fmla="*/ 43 w 377"/>
                  <a:gd name="T45" fmla="*/ 69 h 379"/>
                  <a:gd name="T46" fmla="*/ 69 w 377"/>
                  <a:gd name="T47" fmla="*/ 43 h 379"/>
                  <a:gd name="T48" fmla="*/ 98 w 377"/>
                  <a:gd name="T49" fmla="*/ 24 h 379"/>
                  <a:gd name="T50" fmla="*/ 132 w 377"/>
                  <a:gd name="T51" fmla="*/ 8 h 379"/>
                  <a:gd name="T52" fmla="*/ 168 w 377"/>
                  <a:gd name="T53" fmla="*/ 2 h 379"/>
                  <a:gd name="T54" fmla="*/ 188 w 377"/>
                  <a:gd name="T55" fmla="*/ 0 h 379"/>
                  <a:gd name="T56" fmla="*/ 207 w 377"/>
                  <a:gd name="T57" fmla="*/ 2 h 379"/>
                  <a:gd name="T58" fmla="*/ 245 w 377"/>
                  <a:gd name="T59" fmla="*/ 8 h 379"/>
                  <a:gd name="T60" fmla="*/ 279 w 377"/>
                  <a:gd name="T61" fmla="*/ 24 h 379"/>
                  <a:gd name="T62" fmla="*/ 308 w 377"/>
                  <a:gd name="T63" fmla="*/ 43 h 379"/>
                  <a:gd name="T64" fmla="*/ 334 w 377"/>
                  <a:gd name="T65" fmla="*/ 69 h 379"/>
                  <a:gd name="T66" fmla="*/ 355 w 377"/>
                  <a:gd name="T67" fmla="*/ 99 h 379"/>
                  <a:gd name="T68" fmla="*/ 369 w 377"/>
                  <a:gd name="T69" fmla="*/ 133 h 379"/>
                  <a:gd name="T70" fmla="*/ 377 w 377"/>
                  <a:gd name="T71" fmla="*/ 170 h 379"/>
                  <a:gd name="T72" fmla="*/ 377 w 377"/>
                  <a:gd name="T73" fmla="*/ 190 h 3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77" h="379">
                    <a:moveTo>
                      <a:pt x="377" y="190"/>
                    </a:moveTo>
                    <a:lnTo>
                      <a:pt x="377" y="209"/>
                    </a:lnTo>
                    <a:lnTo>
                      <a:pt x="369" y="245"/>
                    </a:lnTo>
                    <a:lnTo>
                      <a:pt x="355" y="279"/>
                    </a:lnTo>
                    <a:lnTo>
                      <a:pt x="334" y="310"/>
                    </a:lnTo>
                    <a:lnTo>
                      <a:pt x="308" y="335"/>
                    </a:lnTo>
                    <a:lnTo>
                      <a:pt x="279" y="355"/>
                    </a:lnTo>
                    <a:lnTo>
                      <a:pt x="245" y="370"/>
                    </a:lnTo>
                    <a:lnTo>
                      <a:pt x="207" y="377"/>
                    </a:lnTo>
                    <a:lnTo>
                      <a:pt x="188" y="379"/>
                    </a:lnTo>
                    <a:lnTo>
                      <a:pt x="168" y="377"/>
                    </a:lnTo>
                    <a:lnTo>
                      <a:pt x="132" y="370"/>
                    </a:lnTo>
                    <a:lnTo>
                      <a:pt x="98" y="355"/>
                    </a:lnTo>
                    <a:lnTo>
                      <a:pt x="69" y="335"/>
                    </a:lnTo>
                    <a:lnTo>
                      <a:pt x="43" y="310"/>
                    </a:lnTo>
                    <a:lnTo>
                      <a:pt x="22" y="279"/>
                    </a:lnTo>
                    <a:lnTo>
                      <a:pt x="8" y="245"/>
                    </a:lnTo>
                    <a:lnTo>
                      <a:pt x="0" y="209"/>
                    </a:lnTo>
                    <a:lnTo>
                      <a:pt x="0" y="190"/>
                    </a:lnTo>
                    <a:lnTo>
                      <a:pt x="0" y="170"/>
                    </a:lnTo>
                    <a:lnTo>
                      <a:pt x="8" y="133"/>
                    </a:lnTo>
                    <a:lnTo>
                      <a:pt x="22" y="99"/>
                    </a:lnTo>
                    <a:lnTo>
                      <a:pt x="43" y="69"/>
                    </a:lnTo>
                    <a:lnTo>
                      <a:pt x="69" y="43"/>
                    </a:lnTo>
                    <a:lnTo>
                      <a:pt x="98" y="24"/>
                    </a:lnTo>
                    <a:lnTo>
                      <a:pt x="132" y="8"/>
                    </a:lnTo>
                    <a:lnTo>
                      <a:pt x="168" y="2"/>
                    </a:lnTo>
                    <a:lnTo>
                      <a:pt x="188" y="0"/>
                    </a:lnTo>
                    <a:lnTo>
                      <a:pt x="207" y="2"/>
                    </a:lnTo>
                    <a:lnTo>
                      <a:pt x="245" y="8"/>
                    </a:lnTo>
                    <a:lnTo>
                      <a:pt x="279" y="24"/>
                    </a:lnTo>
                    <a:lnTo>
                      <a:pt x="308" y="43"/>
                    </a:lnTo>
                    <a:lnTo>
                      <a:pt x="334" y="69"/>
                    </a:lnTo>
                    <a:lnTo>
                      <a:pt x="355" y="99"/>
                    </a:lnTo>
                    <a:lnTo>
                      <a:pt x="369" y="133"/>
                    </a:lnTo>
                    <a:lnTo>
                      <a:pt x="377" y="170"/>
                    </a:lnTo>
                    <a:lnTo>
                      <a:pt x="377" y="190"/>
                    </a:lnTo>
                    <a:close/>
                  </a:path>
                </a:pathLst>
              </a:custGeom>
              <a:grpFill/>
              <a:ln w="9525">
                <a:solidFill>
                  <a:schemeClr val="bg1">
                    <a:lumMod val="85000"/>
                  </a:schemeClr>
                </a:solidFill>
                <a:round/>
                <a:headEnd/>
                <a:tailEnd/>
              </a:ln>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38" name="Freeform 170">
                <a:extLst>
                  <a:ext uri="{FF2B5EF4-FFF2-40B4-BE49-F238E27FC236}">
                    <a16:creationId xmlns:a16="http://schemas.microsoft.com/office/drawing/2014/main" id="{9B715D7A-35F3-E201-E7A7-40FD5A120285}"/>
                  </a:ext>
                </a:extLst>
              </p:cNvPr>
              <p:cNvSpPr>
                <a:spLocks/>
              </p:cNvSpPr>
              <p:nvPr/>
            </p:nvSpPr>
            <p:spPr bwMode="auto">
              <a:xfrm>
                <a:off x="4670037" y="3671483"/>
                <a:ext cx="65546" cy="65546"/>
              </a:xfrm>
              <a:custGeom>
                <a:avLst/>
                <a:gdLst>
                  <a:gd name="T0" fmla="*/ 189 w 189"/>
                  <a:gd name="T1" fmla="*/ 94 h 188"/>
                  <a:gd name="T2" fmla="*/ 188 w 189"/>
                  <a:gd name="T3" fmla="*/ 114 h 188"/>
                  <a:gd name="T4" fmla="*/ 174 w 189"/>
                  <a:gd name="T5" fmla="*/ 147 h 188"/>
                  <a:gd name="T6" fmla="*/ 148 w 189"/>
                  <a:gd name="T7" fmla="*/ 172 h 188"/>
                  <a:gd name="T8" fmla="*/ 114 w 189"/>
                  <a:gd name="T9" fmla="*/ 186 h 188"/>
                  <a:gd name="T10" fmla="*/ 95 w 189"/>
                  <a:gd name="T11" fmla="*/ 188 h 188"/>
                  <a:gd name="T12" fmla="*/ 75 w 189"/>
                  <a:gd name="T13" fmla="*/ 186 h 188"/>
                  <a:gd name="T14" fmla="*/ 42 w 189"/>
                  <a:gd name="T15" fmla="*/ 172 h 188"/>
                  <a:gd name="T16" fmla="*/ 16 w 189"/>
                  <a:gd name="T17" fmla="*/ 147 h 188"/>
                  <a:gd name="T18" fmla="*/ 1 w 189"/>
                  <a:gd name="T19" fmla="*/ 114 h 188"/>
                  <a:gd name="T20" fmla="*/ 0 w 189"/>
                  <a:gd name="T21" fmla="*/ 94 h 188"/>
                  <a:gd name="T22" fmla="*/ 1 w 189"/>
                  <a:gd name="T23" fmla="*/ 75 h 188"/>
                  <a:gd name="T24" fmla="*/ 16 w 189"/>
                  <a:gd name="T25" fmla="*/ 41 h 188"/>
                  <a:gd name="T26" fmla="*/ 42 w 189"/>
                  <a:gd name="T27" fmla="*/ 15 h 188"/>
                  <a:gd name="T28" fmla="*/ 75 w 189"/>
                  <a:gd name="T29" fmla="*/ 1 h 188"/>
                  <a:gd name="T30" fmla="*/ 95 w 189"/>
                  <a:gd name="T31" fmla="*/ 0 h 188"/>
                  <a:gd name="T32" fmla="*/ 114 w 189"/>
                  <a:gd name="T33" fmla="*/ 1 h 188"/>
                  <a:gd name="T34" fmla="*/ 148 w 189"/>
                  <a:gd name="T35" fmla="*/ 15 h 188"/>
                  <a:gd name="T36" fmla="*/ 174 w 189"/>
                  <a:gd name="T37" fmla="*/ 41 h 188"/>
                  <a:gd name="T38" fmla="*/ 188 w 189"/>
                  <a:gd name="T39" fmla="*/ 75 h 188"/>
                  <a:gd name="T40" fmla="*/ 189 w 189"/>
                  <a:gd name="T41" fmla="*/ 9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9" h="188">
                    <a:moveTo>
                      <a:pt x="189" y="94"/>
                    </a:moveTo>
                    <a:lnTo>
                      <a:pt x="188" y="114"/>
                    </a:lnTo>
                    <a:lnTo>
                      <a:pt x="174" y="147"/>
                    </a:lnTo>
                    <a:lnTo>
                      <a:pt x="148" y="172"/>
                    </a:lnTo>
                    <a:lnTo>
                      <a:pt x="114" y="186"/>
                    </a:lnTo>
                    <a:lnTo>
                      <a:pt x="95" y="188"/>
                    </a:lnTo>
                    <a:lnTo>
                      <a:pt x="75" y="186"/>
                    </a:lnTo>
                    <a:lnTo>
                      <a:pt x="42" y="172"/>
                    </a:lnTo>
                    <a:lnTo>
                      <a:pt x="16" y="147"/>
                    </a:lnTo>
                    <a:lnTo>
                      <a:pt x="1" y="114"/>
                    </a:lnTo>
                    <a:lnTo>
                      <a:pt x="0" y="94"/>
                    </a:lnTo>
                    <a:lnTo>
                      <a:pt x="1" y="75"/>
                    </a:lnTo>
                    <a:lnTo>
                      <a:pt x="16" y="41"/>
                    </a:lnTo>
                    <a:lnTo>
                      <a:pt x="42" y="15"/>
                    </a:lnTo>
                    <a:lnTo>
                      <a:pt x="75" y="1"/>
                    </a:lnTo>
                    <a:lnTo>
                      <a:pt x="95" y="0"/>
                    </a:lnTo>
                    <a:lnTo>
                      <a:pt x="114" y="1"/>
                    </a:lnTo>
                    <a:lnTo>
                      <a:pt x="148" y="15"/>
                    </a:lnTo>
                    <a:lnTo>
                      <a:pt x="174" y="41"/>
                    </a:lnTo>
                    <a:lnTo>
                      <a:pt x="188" y="75"/>
                    </a:lnTo>
                    <a:lnTo>
                      <a:pt x="189" y="94"/>
                    </a:lnTo>
                    <a:close/>
                  </a:path>
                </a:pathLst>
              </a:custGeom>
              <a:grpFill/>
              <a:ln w="9525">
                <a:solidFill>
                  <a:schemeClr val="bg1">
                    <a:lumMod val="85000"/>
                  </a:schemeClr>
                </a:solidFill>
                <a:round/>
                <a:headEnd/>
                <a:tailEnd/>
              </a:ln>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39" name="Freeform 171">
                <a:extLst>
                  <a:ext uri="{FF2B5EF4-FFF2-40B4-BE49-F238E27FC236}">
                    <a16:creationId xmlns:a16="http://schemas.microsoft.com/office/drawing/2014/main" id="{5153FC13-C99A-09DC-E2EC-79B1AE4886A3}"/>
                  </a:ext>
                </a:extLst>
              </p:cNvPr>
              <p:cNvSpPr>
                <a:spLocks/>
              </p:cNvSpPr>
              <p:nvPr/>
            </p:nvSpPr>
            <p:spPr bwMode="auto">
              <a:xfrm>
                <a:off x="4767658" y="3382804"/>
                <a:ext cx="65546" cy="65546"/>
              </a:xfrm>
              <a:custGeom>
                <a:avLst/>
                <a:gdLst>
                  <a:gd name="T0" fmla="*/ 188 w 188"/>
                  <a:gd name="T1" fmla="*/ 94 h 188"/>
                  <a:gd name="T2" fmla="*/ 187 w 188"/>
                  <a:gd name="T3" fmla="*/ 113 h 188"/>
                  <a:gd name="T4" fmla="*/ 172 w 188"/>
                  <a:gd name="T5" fmla="*/ 146 h 188"/>
                  <a:gd name="T6" fmla="*/ 148 w 188"/>
                  <a:gd name="T7" fmla="*/ 172 h 188"/>
                  <a:gd name="T8" fmla="*/ 114 w 188"/>
                  <a:gd name="T9" fmla="*/ 186 h 188"/>
                  <a:gd name="T10" fmla="*/ 95 w 188"/>
                  <a:gd name="T11" fmla="*/ 188 h 188"/>
                  <a:gd name="T12" fmla="*/ 75 w 188"/>
                  <a:gd name="T13" fmla="*/ 186 h 188"/>
                  <a:gd name="T14" fmla="*/ 41 w 188"/>
                  <a:gd name="T15" fmla="*/ 172 h 188"/>
                  <a:gd name="T16" fmla="*/ 16 w 188"/>
                  <a:gd name="T17" fmla="*/ 146 h 188"/>
                  <a:gd name="T18" fmla="*/ 1 w 188"/>
                  <a:gd name="T19" fmla="*/ 113 h 188"/>
                  <a:gd name="T20" fmla="*/ 0 w 188"/>
                  <a:gd name="T21" fmla="*/ 94 h 188"/>
                  <a:gd name="T22" fmla="*/ 1 w 188"/>
                  <a:gd name="T23" fmla="*/ 75 h 188"/>
                  <a:gd name="T24" fmla="*/ 16 w 188"/>
                  <a:gd name="T25" fmla="*/ 41 h 188"/>
                  <a:gd name="T26" fmla="*/ 41 w 188"/>
                  <a:gd name="T27" fmla="*/ 15 h 188"/>
                  <a:gd name="T28" fmla="*/ 75 w 188"/>
                  <a:gd name="T29" fmla="*/ 1 h 188"/>
                  <a:gd name="T30" fmla="*/ 95 w 188"/>
                  <a:gd name="T31" fmla="*/ 0 h 188"/>
                  <a:gd name="T32" fmla="*/ 114 w 188"/>
                  <a:gd name="T33" fmla="*/ 1 h 188"/>
                  <a:gd name="T34" fmla="*/ 148 w 188"/>
                  <a:gd name="T35" fmla="*/ 15 h 188"/>
                  <a:gd name="T36" fmla="*/ 172 w 188"/>
                  <a:gd name="T37" fmla="*/ 41 h 188"/>
                  <a:gd name="T38" fmla="*/ 187 w 188"/>
                  <a:gd name="T39" fmla="*/ 75 h 188"/>
                  <a:gd name="T40" fmla="*/ 188 w 188"/>
                  <a:gd name="T41" fmla="*/ 9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8" h="188">
                    <a:moveTo>
                      <a:pt x="188" y="94"/>
                    </a:moveTo>
                    <a:lnTo>
                      <a:pt x="187" y="113"/>
                    </a:lnTo>
                    <a:lnTo>
                      <a:pt x="172" y="146"/>
                    </a:lnTo>
                    <a:lnTo>
                      <a:pt x="148" y="172"/>
                    </a:lnTo>
                    <a:lnTo>
                      <a:pt x="114" y="186"/>
                    </a:lnTo>
                    <a:lnTo>
                      <a:pt x="95" y="188"/>
                    </a:lnTo>
                    <a:lnTo>
                      <a:pt x="75" y="186"/>
                    </a:lnTo>
                    <a:lnTo>
                      <a:pt x="41" y="172"/>
                    </a:lnTo>
                    <a:lnTo>
                      <a:pt x="16" y="146"/>
                    </a:lnTo>
                    <a:lnTo>
                      <a:pt x="1" y="113"/>
                    </a:lnTo>
                    <a:lnTo>
                      <a:pt x="0" y="94"/>
                    </a:lnTo>
                    <a:lnTo>
                      <a:pt x="1" y="75"/>
                    </a:lnTo>
                    <a:lnTo>
                      <a:pt x="16" y="41"/>
                    </a:lnTo>
                    <a:lnTo>
                      <a:pt x="41" y="15"/>
                    </a:lnTo>
                    <a:lnTo>
                      <a:pt x="75" y="1"/>
                    </a:lnTo>
                    <a:lnTo>
                      <a:pt x="95" y="0"/>
                    </a:lnTo>
                    <a:lnTo>
                      <a:pt x="114" y="1"/>
                    </a:lnTo>
                    <a:lnTo>
                      <a:pt x="148" y="15"/>
                    </a:lnTo>
                    <a:lnTo>
                      <a:pt x="172" y="41"/>
                    </a:lnTo>
                    <a:lnTo>
                      <a:pt x="187" y="75"/>
                    </a:lnTo>
                    <a:lnTo>
                      <a:pt x="188" y="94"/>
                    </a:lnTo>
                    <a:close/>
                  </a:path>
                </a:pathLst>
              </a:custGeom>
              <a:grpFill/>
              <a:ln w="9525">
                <a:solidFill>
                  <a:schemeClr val="bg1">
                    <a:lumMod val="85000"/>
                  </a:schemeClr>
                </a:solidFill>
                <a:round/>
                <a:headEnd/>
                <a:tailEnd/>
              </a:ln>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40" name="Freeform 172">
                <a:extLst>
                  <a:ext uri="{FF2B5EF4-FFF2-40B4-BE49-F238E27FC236}">
                    <a16:creationId xmlns:a16="http://schemas.microsoft.com/office/drawing/2014/main" id="{5DB4C9D5-A19F-B0C6-A93A-1F979CFFD9DB}"/>
                  </a:ext>
                </a:extLst>
              </p:cNvPr>
              <p:cNvSpPr>
                <a:spLocks/>
              </p:cNvSpPr>
              <p:nvPr/>
            </p:nvSpPr>
            <p:spPr bwMode="auto">
              <a:xfrm>
                <a:off x="5294810" y="3919021"/>
                <a:ext cx="65546" cy="65546"/>
              </a:xfrm>
              <a:custGeom>
                <a:avLst/>
                <a:gdLst>
                  <a:gd name="T0" fmla="*/ 188 w 188"/>
                  <a:gd name="T1" fmla="*/ 94 h 188"/>
                  <a:gd name="T2" fmla="*/ 187 w 188"/>
                  <a:gd name="T3" fmla="*/ 114 h 188"/>
                  <a:gd name="T4" fmla="*/ 173 w 188"/>
                  <a:gd name="T5" fmla="*/ 147 h 188"/>
                  <a:gd name="T6" fmla="*/ 148 w 188"/>
                  <a:gd name="T7" fmla="*/ 172 h 188"/>
                  <a:gd name="T8" fmla="*/ 114 w 188"/>
                  <a:gd name="T9" fmla="*/ 186 h 188"/>
                  <a:gd name="T10" fmla="*/ 95 w 188"/>
                  <a:gd name="T11" fmla="*/ 188 h 188"/>
                  <a:gd name="T12" fmla="*/ 75 w 188"/>
                  <a:gd name="T13" fmla="*/ 186 h 188"/>
                  <a:gd name="T14" fmla="*/ 42 w 188"/>
                  <a:gd name="T15" fmla="*/ 172 h 188"/>
                  <a:gd name="T16" fmla="*/ 16 w 188"/>
                  <a:gd name="T17" fmla="*/ 147 h 188"/>
                  <a:gd name="T18" fmla="*/ 2 w 188"/>
                  <a:gd name="T19" fmla="*/ 114 h 188"/>
                  <a:gd name="T20" fmla="*/ 0 w 188"/>
                  <a:gd name="T21" fmla="*/ 94 h 188"/>
                  <a:gd name="T22" fmla="*/ 2 w 188"/>
                  <a:gd name="T23" fmla="*/ 75 h 188"/>
                  <a:gd name="T24" fmla="*/ 16 w 188"/>
                  <a:gd name="T25" fmla="*/ 41 h 188"/>
                  <a:gd name="T26" fmla="*/ 42 w 188"/>
                  <a:gd name="T27" fmla="*/ 15 h 188"/>
                  <a:gd name="T28" fmla="*/ 75 w 188"/>
                  <a:gd name="T29" fmla="*/ 1 h 188"/>
                  <a:gd name="T30" fmla="*/ 95 w 188"/>
                  <a:gd name="T31" fmla="*/ 0 h 188"/>
                  <a:gd name="T32" fmla="*/ 114 w 188"/>
                  <a:gd name="T33" fmla="*/ 1 h 188"/>
                  <a:gd name="T34" fmla="*/ 148 w 188"/>
                  <a:gd name="T35" fmla="*/ 15 h 188"/>
                  <a:gd name="T36" fmla="*/ 173 w 188"/>
                  <a:gd name="T37" fmla="*/ 41 h 188"/>
                  <a:gd name="T38" fmla="*/ 187 w 188"/>
                  <a:gd name="T39" fmla="*/ 75 h 188"/>
                  <a:gd name="T40" fmla="*/ 188 w 188"/>
                  <a:gd name="T41" fmla="*/ 9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8" h="188">
                    <a:moveTo>
                      <a:pt x="188" y="94"/>
                    </a:moveTo>
                    <a:lnTo>
                      <a:pt x="187" y="114"/>
                    </a:lnTo>
                    <a:lnTo>
                      <a:pt x="173" y="147"/>
                    </a:lnTo>
                    <a:lnTo>
                      <a:pt x="148" y="172"/>
                    </a:lnTo>
                    <a:lnTo>
                      <a:pt x="114" y="186"/>
                    </a:lnTo>
                    <a:lnTo>
                      <a:pt x="95" y="188"/>
                    </a:lnTo>
                    <a:lnTo>
                      <a:pt x="75" y="186"/>
                    </a:lnTo>
                    <a:lnTo>
                      <a:pt x="42" y="172"/>
                    </a:lnTo>
                    <a:lnTo>
                      <a:pt x="16" y="147"/>
                    </a:lnTo>
                    <a:lnTo>
                      <a:pt x="2" y="114"/>
                    </a:lnTo>
                    <a:lnTo>
                      <a:pt x="0" y="94"/>
                    </a:lnTo>
                    <a:lnTo>
                      <a:pt x="2" y="75"/>
                    </a:lnTo>
                    <a:lnTo>
                      <a:pt x="16" y="41"/>
                    </a:lnTo>
                    <a:lnTo>
                      <a:pt x="42" y="15"/>
                    </a:lnTo>
                    <a:lnTo>
                      <a:pt x="75" y="1"/>
                    </a:lnTo>
                    <a:lnTo>
                      <a:pt x="95" y="0"/>
                    </a:lnTo>
                    <a:lnTo>
                      <a:pt x="114" y="1"/>
                    </a:lnTo>
                    <a:lnTo>
                      <a:pt x="148" y="15"/>
                    </a:lnTo>
                    <a:lnTo>
                      <a:pt x="173" y="41"/>
                    </a:lnTo>
                    <a:lnTo>
                      <a:pt x="187" y="75"/>
                    </a:lnTo>
                    <a:lnTo>
                      <a:pt x="188" y="94"/>
                    </a:lnTo>
                    <a:close/>
                  </a:path>
                </a:pathLst>
              </a:custGeom>
              <a:grpFill/>
              <a:ln w="9525">
                <a:solidFill>
                  <a:schemeClr val="bg1">
                    <a:lumMod val="85000"/>
                  </a:schemeClr>
                </a:solidFill>
                <a:round/>
                <a:headEnd/>
                <a:tailEnd/>
              </a:ln>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41" name="Freeform 174">
                <a:extLst>
                  <a:ext uri="{FF2B5EF4-FFF2-40B4-BE49-F238E27FC236}">
                    <a16:creationId xmlns:a16="http://schemas.microsoft.com/office/drawing/2014/main" id="{D1E6B266-4F87-FA3F-018E-40502CB86E5E}"/>
                  </a:ext>
                </a:extLst>
              </p:cNvPr>
              <p:cNvSpPr>
                <a:spLocks/>
              </p:cNvSpPr>
              <p:nvPr/>
            </p:nvSpPr>
            <p:spPr bwMode="auto">
              <a:xfrm>
                <a:off x="3974139" y="3965740"/>
                <a:ext cx="96227" cy="93438"/>
              </a:xfrm>
              <a:custGeom>
                <a:avLst/>
                <a:gdLst>
                  <a:gd name="T0" fmla="*/ 272 w 272"/>
                  <a:gd name="T1" fmla="*/ 137 h 271"/>
                  <a:gd name="T2" fmla="*/ 271 w 272"/>
                  <a:gd name="T3" fmla="*/ 164 h 271"/>
                  <a:gd name="T4" fmla="*/ 250 w 272"/>
                  <a:gd name="T5" fmla="*/ 213 h 271"/>
                  <a:gd name="T6" fmla="*/ 213 w 272"/>
                  <a:gd name="T7" fmla="*/ 249 h 271"/>
                  <a:gd name="T8" fmla="*/ 163 w 272"/>
                  <a:gd name="T9" fmla="*/ 270 h 271"/>
                  <a:gd name="T10" fmla="*/ 136 w 272"/>
                  <a:gd name="T11" fmla="*/ 271 h 271"/>
                  <a:gd name="T12" fmla="*/ 109 w 272"/>
                  <a:gd name="T13" fmla="*/ 270 h 271"/>
                  <a:gd name="T14" fmla="*/ 60 w 272"/>
                  <a:gd name="T15" fmla="*/ 249 h 271"/>
                  <a:gd name="T16" fmla="*/ 22 w 272"/>
                  <a:gd name="T17" fmla="*/ 213 h 271"/>
                  <a:gd name="T18" fmla="*/ 3 w 272"/>
                  <a:gd name="T19" fmla="*/ 164 h 271"/>
                  <a:gd name="T20" fmla="*/ 0 w 272"/>
                  <a:gd name="T21" fmla="*/ 137 h 271"/>
                  <a:gd name="T22" fmla="*/ 3 w 272"/>
                  <a:gd name="T23" fmla="*/ 108 h 271"/>
                  <a:gd name="T24" fmla="*/ 22 w 272"/>
                  <a:gd name="T25" fmla="*/ 59 h 271"/>
                  <a:gd name="T26" fmla="*/ 60 w 272"/>
                  <a:gd name="T27" fmla="*/ 22 h 271"/>
                  <a:gd name="T28" fmla="*/ 109 w 272"/>
                  <a:gd name="T29" fmla="*/ 2 h 271"/>
                  <a:gd name="T30" fmla="*/ 136 w 272"/>
                  <a:gd name="T31" fmla="*/ 0 h 271"/>
                  <a:gd name="T32" fmla="*/ 163 w 272"/>
                  <a:gd name="T33" fmla="*/ 2 h 271"/>
                  <a:gd name="T34" fmla="*/ 213 w 272"/>
                  <a:gd name="T35" fmla="*/ 22 h 271"/>
                  <a:gd name="T36" fmla="*/ 250 w 272"/>
                  <a:gd name="T37" fmla="*/ 59 h 271"/>
                  <a:gd name="T38" fmla="*/ 271 w 272"/>
                  <a:gd name="T39" fmla="*/ 108 h 271"/>
                  <a:gd name="T40" fmla="*/ 272 w 272"/>
                  <a:gd name="T41" fmla="*/ 137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72" h="271">
                    <a:moveTo>
                      <a:pt x="272" y="137"/>
                    </a:moveTo>
                    <a:lnTo>
                      <a:pt x="271" y="164"/>
                    </a:lnTo>
                    <a:lnTo>
                      <a:pt x="250" y="213"/>
                    </a:lnTo>
                    <a:lnTo>
                      <a:pt x="213" y="249"/>
                    </a:lnTo>
                    <a:lnTo>
                      <a:pt x="163" y="270"/>
                    </a:lnTo>
                    <a:lnTo>
                      <a:pt x="136" y="271"/>
                    </a:lnTo>
                    <a:lnTo>
                      <a:pt x="109" y="270"/>
                    </a:lnTo>
                    <a:lnTo>
                      <a:pt x="60" y="249"/>
                    </a:lnTo>
                    <a:lnTo>
                      <a:pt x="22" y="213"/>
                    </a:lnTo>
                    <a:lnTo>
                      <a:pt x="3" y="164"/>
                    </a:lnTo>
                    <a:lnTo>
                      <a:pt x="0" y="137"/>
                    </a:lnTo>
                    <a:lnTo>
                      <a:pt x="3" y="108"/>
                    </a:lnTo>
                    <a:lnTo>
                      <a:pt x="22" y="59"/>
                    </a:lnTo>
                    <a:lnTo>
                      <a:pt x="60" y="22"/>
                    </a:lnTo>
                    <a:lnTo>
                      <a:pt x="109" y="2"/>
                    </a:lnTo>
                    <a:lnTo>
                      <a:pt x="136" y="0"/>
                    </a:lnTo>
                    <a:lnTo>
                      <a:pt x="163" y="2"/>
                    </a:lnTo>
                    <a:lnTo>
                      <a:pt x="213" y="22"/>
                    </a:lnTo>
                    <a:lnTo>
                      <a:pt x="250" y="59"/>
                    </a:lnTo>
                    <a:lnTo>
                      <a:pt x="271" y="108"/>
                    </a:lnTo>
                    <a:lnTo>
                      <a:pt x="272" y="137"/>
                    </a:lnTo>
                    <a:close/>
                  </a:path>
                </a:pathLst>
              </a:custGeom>
              <a:grpFill/>
              <a:ln w="9525">
                <a:solidFill>
                  <a:schemeClr val="bg1">
                    <a:lumMod val="85000"/>
                  </a:schemeClr>
                </a:solidFill>
                <a:round/>
                <a:headEnd/>
                <a:tailEnd/>
              </a:ln>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42" name="Freeform 176">
                <a:extLst>
                  <a:ext uri="{FF2B5EF4-FFF2-40B4-BE49-F238E27FC236}">
                    <a16:creationId xmlns:a16="http://schemas.microsoft.com/office/drawing/2014/main" id="{B19924EA-DDA4-9DCF-3663-2E1A23D03A7D}"/>
                  </a:ext>
                </a:extLst>
              </p:cNvPr>
              <p:cNvSpPr>
                <a:spLocks/>
              </p:cNvSpPr>
              <p:nvPr/>
            </p:nvSpPr>
            <p:spPr bwMode="auto">
              <a:xfrm>
                <a:off x="5329676" y="3655447"/>
                <a:ext cx="94832" cy="94832"/>
              </a:xfrm>
              <a:custGeom>
                <a:avLst/>
                <a:gdLst>
                  <a:gd name="T0" fmla="*/ 272 w 272"/>
                  <a:gd name="T1" fmla="*/ 136 h 272"/>
                  <a:gd name="T2" fmla="*/ 271 w 272"/>
                  <a:gd name="T3" fmla="*/ 165 h 272"/>
                  <a:gd name="T4" fmla="*/ 250 w 272"/>
                  <a:gd name="T5" fmla="*/ 213 h 272"/>
                  <a:gd name="T6" fmla="*/ 212 w 272"/>
                  <a:gd name="T7" fmla="*/ 250 h 272"/>
                  <a:gd name="T8" fmla="*/ 164 w 272"/>
                  <a:gd name="T9" fmla="*/ 271 h 272"/>
                  <a:gd name="T10" fmla="*/ 136 w 272"/>
                  <a:gd name="T11" fmla="*/ 272 h 272"/>
                  <a:gd name="T12" fmla="*/ 109 w 272"/>
                  <a:gd name="T13" fmla="*/ 271 h 272"/>
                  <a:gd name="T14" fmla="*/ 59 w 272"/>
                  <a:gd name="T15" fmla="*/ 250 h 272"/>
                  <a:gd name="T16" fmla="*/ 23 w 272"/>
                  <a:gd name="T17" fmla="*/ 213 h 272"/>
                  <a:gd name="T18" fmla="*/ 2 w 272"/>
                  <a:gd name="T19" fmla="*/ 165 h 272"/>
                  <a:gd name="T20" fmla="*/ 0 w 272"/>
                  <a:gd name="T21" fmla="*/ 136 h 272"/>
                  <a:gd name="T22" fmla="*/ 2 w 272"/>
                  <a:gd name="T23" fmla="*/ 109 h 272"/>
                  <a:gd name="T24" fmla="*/ 23 w 272"/>
                  <a:gd name="T25" fmla="*/ 60 h 272"/>
                  <a:gd name="T26" fmla="*/ 59 w 272"/>
                  <a:gd name="T27" fmla="*/ 24 h 272"/>
                  <a:gd name="T28" fmla="*/ 109 w 272"/>
                  <a:gd name="T29" fmla="*/ 3 h 272"/>
                  <a:gd name="T30" fmla="*/ 136 w 272"/>
                  <a:gd name="T31" fmla="*/ 0 h 272"/>
                  <a:gd name="T32" fmla="*/ 164 w 272"/>
                  <a:gd name="T33" fmla="*/ 3 h 272"/>
                  <a:gd name="T34" fmla="*/ 212 w 272"/>
                  <a:gd name="T35" fmla="*/ 24 h 272"/>
                  <a:gd name="T36" fmla="*/ 250 w 272"/>
                  <a:gd name="T37" fmla="*/ 60 h 272"/>
                  <a:gd name="T38" fmla="*/ 271 w 272"/>
                  <a:gd name="T39" fmla="*/ 109 h 272"/>
                  <a:gd name="T40" fmla="*/ 272 w 272"/>
                  <a:gd name="T41" fmla="*/ 136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72" h="272">
                    <a:moveTo>
                      <a:pt x="272" y="136"/>
                    </a:moveTo>
                    <a:lnTo>
                      <a:pt x="271" y="165"/>
                    </a:lnTo>
                    <a:lnTo>
                      <a:pt x="250" y="213"/>
                    </a:lnTo>
                    <a:lnTo>
                      <a:pt x="212" y="250"/>
                    </a:lnTo>
                    <a:lnTo>
                      <a:pt x="164" y="271"/>
                    </a:lnTo>
                    <a:lnTo>
                      <a:pt x="136" y="272"/>
                    </a:lnTo>
                    <a:lnTo>
                      <a:pt x="109" y="271"/>
                    </a:lnTo>
                    <a:lnTo>
                      <a:pt x="59" y="250"/>
                    </a:lnTo>
                    <a:lnTo>
                      <a:pt x="23" y="213"/>
                    </a:lnTo>
                    <a:lnTo>
                      <a:pt x="2" y="165"/>
                    </a:lnTo>
                    <a:lnTo>
                      <a:pt x="0" y="136"/>
                    </a:lnTo>
                    <a:lnTo>
                      <a:pt x="2" y="109"/>
                    </a:lnTo>
                    <a:lnTo>
                      <a:pt x="23" y="60"/>
                    </a:lnTo>
                    <a:lnTo>
                      <a:pt x="59" y="24"/>
                    </a:lnTo>
                    <a:lnTo>
                      <a:pt x="109" y="3"/>
                    </a:lnTo>
                    <a:lnTo>
                      <a:pt x="136" y="0"/>
                    </a:lnTo>
                    <a:lnTo>
                      <a:pt x="164" y="3"/>
                    </a:lnTo>
                    <a:lnTo>
                      <a:pt x="212" y="24"/>
                    </a:lnTo>
                    <a:lnTo>
                      <a:pt x="250" y="60"/>
                    </a:lnTo>
                    <a:lnTo>
                      <a:pt x="271" y="109"/>
                    </a:lnTo>
                    <a:lnTo>
                      <a:pt x="272" y="136"/>
                    </a:lnTo>
                    <a:close/>
                  </a:path>
                </a:pathLst>
              </a:custGeom>
              <a:grpFill/>
              <a:ln w="9525">
                <a:solidFill>
                  <a:schemeClr val="bg1">
                    <a:lumMod val="85000"/>
                  </a:schemeClr>
                </a:solidFill>
                <a:round/>
                <a:headEnd/>
                <a:tailEnd/>
              </a:ln>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43" name="Freeform 177">
                <a:extLst>
                  <a:ext uri="{FF2B5EF4-FFF2-40B4-BE49-F238E27FC236}">
                    <a16:creationId xmlns:a16="http://schemas.microsoft.com/office/drawing/2014/main" id="{6A672825-7DC9-8B93-0B3F-57E493399F74}"/>
                  </a:ext>
                </a:extLst>
              </p:cNvPr>
              <p:cNvSpPr>
                <a:spLocks/>
              </p:cNvSpPr>
              <p:nvPr/>
            </p:nvSpPr>
            <p:spPr bwMode="auto">
              <a:xfrm>
                <a:off x="6496943" y="4343672"/>
                <a:ext cx="94832" cy="94832"/>
              </a:xfrm>
              <a:custGeom>
                <a:avLst/>
                <a:gdLst>
                  <a:gd name="T0" fmla="*/ 273 w 273"/>
                  <a:gd name="T1" fmla="*/ 136 h 272"/>
                  <a:gd name="T2" fmla="*/ 271 w 273"/>
                  <a:gd name="T3" fmla="*/ 164 h 272"/>
                  <a:gd name="T4" fmla="*/ 251 w 273"/>
                  <a:gd name="T5" fmla="*/ 212 h 272"/>
                  <a:gd name="T6" fmla="*/ 213 w 273"/>
                  <a:gd name="T7" fmla="*/ 250 h 272"/>
                  <a:gd name="T8" fmla="*/ 165 w 273"/>
                  <a:gd name="T9" fmla="*/ 271 h 272"/>
                  <a:gd name="T10" fmla="*/ 136 w 273"/>
                  <a:gd name="T11" fmla="*/ 272 h 272"/>
                  <a:gd name="T12" fmla="*/ 109 w 273"/>
                  <a:gd name="T13" fmla="*/ 271 h 272"/>
                  <a:gd name="T14" fmla="*/ 60 w 273"/>
                  <a:gd name="T15" fmla="*/ 250 h 272"/>
                  <a:gd name="T16" fmla="*/ 24 w 273"/>
                  <a:gd name="T17" fmla="*/ 212 h 272"/>
                  <a:gd name="T18" fmla="*/ 3 w 273"/>
                  <a:gd name="T19" fmla="*/ 164 h 272"/>
                  <a:gd name="T20" fmla="*/ 0 w 273"/>
                  <a:gd name="T21" fmla="*/ 136 h 272"/>
                  <a:gd name="T22" fmla="*/ 3 w 273"/>
                  <a:gd name="T23" fmla="*/ 108 h 272"/>
                  <a:gd name="T24" fmla="*/ 24 w 273"/>
                  <a:gd name="T25" fmla="*/ 59 h 272"/>
                  <a:gd name="T26" fmla="*/ 60 w 273"/>
                  <a:gd name="T27" fmla="*/ 23 h 272"/>
                  <a:gd name="T28" fmla="*/ 109 w 273"/>
                  <a:gd name="T29" fmla="*/ 2 h 272"/>
                  <a:gd name="T30" fmla="*/ 136 w 273"/>
                  <a:gd name="T31" fmla="*/ 0 h 272"/>
                  <a:gd name="T32" fmla="*/ 165 w 273"/>
                  <a:gd name="T33" fmla="*/ 2 h 272"/>
                  <a:gd name="T34" fmla="*/ 213 w 273"/>
                  <a:gd name="T35" fmla="*/ 23 h 272"/>
                  <a:gd name="T36" fmla="*/ 251 w 273"/>
                  <a:gd name="T37" fmla="*/ 59 h 272"/>
                  <a:gd name="T38" fmla="*/ 271 w 273"/>
                  <a:gd name="T39" fmla="*/ 108 h 272"/>
                  <a:gd name="T40" fmla="*/ 273 w 273"/>
                  <a:gd name="T41" fmla="*/ 136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73" h="272">
                    <a:moveTo>
                      <a:pt x="273" y="136"/>
                    </a:moveTo>
                    <a:lnTo>
                      <a:pt x="271" y="164"/>
                    </a:lnTo>
                    <a:lnTo>
                      <a:pt x="251" y="212"/>
                    </a:lnTo>
                    <a:lnTo>
                      <a:pt x="213" y="250"/>
                    </a:lnTo>
                    <a:lnTo>
                      <a:pt x="165" y="271"/>
                    </a:lnTo>
                    <a:lnTo>
                      <a:pt x="136" y="272"/>
                    </a:lnTo>
                    <a:lnTo>
                      <a:pt x="109" y="271"/>
                    </a:lnTo>
                    <a:lnTo>
                      <a:pt x="60" y="250"/>
                    </a:lnTo>
                    <a:lnTo>
                      <a:pt x="24" y="212"/>
                    </a:lnTo>
                    <a:lnTo>
                      <a:pt x="3" y="164"/>
                    </a:lnTo>
                    <a:lnTo>
                      <a:pt x="0" y="136"/>
                    </a:lnTo>
                    <a:lnTo>
                      <a:pt x="3" y="108"/>
                    </a:lnTo>
                    <a:lnTo>
                      <a:pt x="24" y="59"/>
                    </a:lnTo>
                    <a:lnTo>
                      <a:pt x="60" y="23"/>
                    </a:lnTo>
                    <a:lnTo>
                      <a:pt x="109" y="2"/>
                    </a:lnTo>
                    <a:lnTo>
                      <a:pt x="136" y="0"/>
                    </a:lnTo>
                    <a:lnTo>
                      <a:pt x="165" y="2"/>
                    </a:lnTo>
                    <a:lnTo>
                      <a:pt x="213" y="23"/>
                    </a:lnTo>
                    <a:lnTo>
                      <a:pt x="251" y="59"/>
                    </a:lnTo>
                    <a:lnTo>
                      <a:pt x="271" y="108"/>
                    </a:lnTo>
                    <a:lnTo>
                      <a:pt x="273" y="136"/>
                    </a:lnTo>
                    <a:close/>
                  </a:path>
                </a:pathLst>
              </a:custGeom>
              <a:grpFill/>
              <a:ln w="9525">
                <a:solidFill>
                  <a:schemeClr val="bg1">
                    <a:lumMod val="85000"/>
                  </a:schemeClr>
                </a:solidFill>
                <a:round/>
                <a:headEnd/>
                <a:tailEnd/>
              </a:ln>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44" name="Freeform 179">
                <a:extLst>
                  <a:ext uri="{FF2B5EF4-FFF2-40B4-BE49-F238E27FC236}">
                    <a16:creationId xmlns:a16="http://schemas.microsoft.com/office/drawing/2014/main" id="{0DE41139-9C2D-D20A-B4D3-923F5AEB9D50}"/>
                  </a:ext>
                </a:extLst>
              </p:cNvPr>
              <p:cNvSpPr>
                <a:spLocks/>
              </p:cNvSpPr>
              <p:nvPr/>
            </p:nvSpPr>
            <p:spPr bwMode="auto">
              <a:xfrm>
                <a:off x="5476107" y="5517913"/>
                <a:ext cx="66940" cy="66940"/>
              </a:xfrm>
              <a:custGeom>
                <a:avLst/>
                <a:gdLst>
                  <a:gd name="T0" fmla="*/ 192 w 192"/>
                  <a:gd name="T1" fmla="*/ 96 h 191"/>
                  <a:gd name="T2" fmla="*/ 190 w 192"/>
                  <a:gd name="T3" fmla="*/ 116 h 191"/>
                  <a:gd name="T4" fmla="*/ 175 w 192"/>
                  <a:gd name="T5" fmla="*/ 149 h 191"/>
                  <a:gd name="T6" fmla="*/ 149 w 192"/>
                  <a:gd name="T7" fmla="*/ 175 h 191"/>
                  <a:gd name="T8" fmla="*/ 115 w 192"/>
                  <a:gd name="T9" fmla="*/ 189 h 191"/>
                  <a:gd name="T10" fmla="*/ 96 w 192"/>
                  <a:gd name="T11" fmla="*/ 191 h 191"/>
                  <a:gd name="T12" fmla="*/ 76 w 192"/>
                  <a:gd name="T13" fmla="*/ 189 h 191"/>
                  <a:gd name="T14" fmla="*/ 41 w 192"/>
                  <a:gd name="T15" fmla="*/ 175 h 191"/>
                  <a:gd name="T16" fmla="*/ 15 w 192"/>
                  <a:gd name="T17" fmla="*/ 149 h 191"/>
                  <a:gd name="T18" fmla="*/ 1 w 192"/>
                  <a:gd name="T19" fmla="*/ 116 h 191"/>
                  <a:gd name="T20" fmla="*/ 0 w 192"/>
                  <a:gd name="T21" fmla="*/ 96 h 191"/>
                  <a:gd name="T22" fmla="*/ 1 w 192"/>
                  <a:gd name="T23" fmla="*/ 77 h 191"/>
                  <a:gd name="T24" fmla="*/ 15 w 192"/>
                  <a:gd name="T25" fmla="*/ 42 h 191"/>
                  <a:gd name="T26" fmla="*/ 41 w 192"/>
                  <a:gd name="T27" fmla="*/ 16 h 191"/>
                  <a:gd name="T28" fmla="*/ 76 w 192"/>
                  <a:gd name="T29" fmla="*/ 2 h 191"/>
                  <a:gd name="T30" fmla="*/ 96 w 192"/>
                  <a:gd name="T31" fmla="*/ 0 h 191"/>
                  <a:gd name="T32" fmla="*/ 115 w 192"/>
                  <a:gd name="T33" fmla="*/ 2 h 191"/>
                  <a:gd name="T34" fmla="*/ 149 w 192"/>
                  <a:gd name="T35" fmla="*/ 16 h 191"/>
                  <a:gd name="T36" fmla="*/ 175 w 192"/>
                  <a:gd name="T37" fmla="*/ 42 h 191"/>
                  <a:gd name="T38" fmla="*/ 190 w 192"/>
                  <a:gd name="T39" fmla="*/ 77 h 191"/>
                  <a:gd name="T40" fmla="*/ 192 w 192"/>
                  <a:gd name="T41" fmla="*/ 96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2" h="191">
                    <a:moveTo>
                      <a:pt x="192" y="96"/>
                    </a:moveTo>
                    <a:lnTo>
                      <a:pt x="190" y="116"/>
                    </a:lnTo>
                    <a:lnTo>
                      <a:pt x="175" y="149"/>
                    </a:lnTo>
                    <a:lnTo>
                      <a:pt x="149" y="175"/>
                    </a:lnTo>
                    <a:lnTo>
                      <a:pt x="115" y="189"/>
                    </a:lnTo>
                    <a:lnTo>
                      <a:pt x="96" y="191"/>
                    </a:lnTo>
                    <a:lnTo>
                      <a:pt x="76" y="189"/>
                    </a:lnTo>
                    <a:lnTo>
                      <a:pt x="41" y="175"/>
                    </a:lnTo>
                    <a:lnTo>
                      <a:pt x="15" y="149"/>
                    </a:lnTo>
                    <a:lnTo>
                      <a:pt x="1" y="116"/>
                    </a:lnTo>
                    <a:lnTo>
                      <a:pt x="0" y="96"/>
                    </a:lnTo>
                    <a:lnTo>
                      <a:pt x="1" y="77"/>
                    </a:lnTo>
                    <a:lnTo>
                      <a:pt x="15" y="42"/>
                    </a:lnTo>
                    <a:lnTo>
                      <a:pt x="41" y="16"/>
                    </a:lnTo>
                    <a:lnTo>
                      <a:pt x="76" y="2"/>
                    </a:lnTo>
                    <a:lnTo>
                      <a:pt x="96" y="0"/>
                    </a:lnTo>
                    <a:lnTo>
                      <a:pt x="115" y="2"/>
                    </a:lnTo>
                    <a:lnTo>
                      <a:pt x="149" y="16"/>
                    </a:lnTo>
                    <a:lnTo>
                      <a:pt x="175" y="42"/>
                    </a:lnTo>
                    <a:lnTo>
                      <a:pt x="190" y="77"/>
                    </a:lnTo>
                    <a:lnTo>
                      <a:pt x="192" y="96"/>
                    </a:lnTo>
                    <a:close/>
                  </a:path>
                </a:pathLst>
              </a:custGeom>
              <a:grpFill/>
              <a:ln w="9525">
                <a:solidFill>
                  <a:schemeClr val="bg1">
                    <a:lumMod val="85000"/>
                  </a:schemeClr>
                </a:solidFill>
                <a:round/>
                <a:headEnd/>
                <a:tailEnd/>
              </a:ln>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45" name="Freeform 180">
                <a:extLst>
                  <a:ext uri="{FF2B5EF4-FFF2-40B4-BE49-F238E27FC236}">
                    <a16:creationId xmlns:a16="http://schemas.microsoft.com/office/drawing/2014/main" id="{D99D9DBD-971B-31CF-5728-99250EB37B3C}"/>
                  </a:ext>
                </a:extLst>
              </p:cNvPr>
              <p:cNvSpPr>
                <a:spLocks/>
              </p:cNvSpPr>
              <p:nvPr/>
            </p:nvSpPr>
            <p:spPr bwMode="auto">
              <a:xfrm>
                <a:off x="6053465" y="5353352"/>
                <a:ext cx="94832" cy="94832"/>
              </a:xfrm>
              <a:custGeom>
                <a:avLst/>
                <a:gdLst>
                  <a:gd name="T0" fmla="*/ 272 w 272"/>
                  <a:gd name="T1" fmla="*/ 136 h 272"/>
                  <a:gd name="T2" fmla="*/ 269 w 272"/>
                  <a:gd name="T3" fmla="*/ 163 h 272"/>
                  <a:gd name="T4" fmla="*/ 249 w 272"/>
                  <a:gd name="T5" fmla="*/ 213 h 272"/>
                  <a:gd name="T6" fmla="*/ 212 w 272"/>
                  <a:gd name="T7" fmla="*/ 250 h 272"/>
                  <a:gd name="T8" fmla="*/ 163 w 272"/>
                  <a:gd name="T9" fmla="*/ 271 h 272"/>
                  <a:gd name="T10" fmla="*/ 136 w 272"/>
                  <a:gd name="T11" fmla="*/ 272 h 272"/>
                  <a:gd name="T12" fmla="*/ 107 w 272"/>
                  <a:gd name="T13" fmla="*/ 271 h 272"/>
                  <a:gd name="T14" fmla="*/ 60 w 272"/>
                  <a:gd name="T15" fmla="*/ 250 h 272"/>
                  <a:gd name="T16" fmla="*/ 22 w 272"/>
                  <a:gd name="T17" fmla="*/ 213 h 272"/>
                  <a:gd name="T18" fmla="*/ 1 w 272"/>
                  <a:gd name="T19" fmla="*/ 163 h 272"/>
                  <a:gd name="T20" fmla="*/ 0 w 272"/>
                  <a:gd name="T21" fmla="*/ 136 h 272"/>
                  <a:gd name="T22" fmla="*/ 1 w 272"/>
                  <a:gd name="T23" fmla="*/ 109 h 272"/>
                  <a:gd name="T24" fmla="*/ 22 w 272"/>
                  <a:gd name="T25" fmla="*/ 60 h 272"/>
                  <a:gd name="T26" fmla="*/ 60 w 272"/>
                  <a:gd name="T27" fmla="*/ 23 h 272"/>
                  <a:gd name="T28" fmla="*/ 107 w 272"/>
                  <a:gd name="T29" fmla="*/ 3 h 272"/>
                  <a:gd name="T30" fmla="*/ 136 w 272"/>
                  <a:gd name="T31" fmla="*/ 0 h 272"/>
                  <a:gd name="T32" fmla="*/ 163 w 272"/>
                  <a:gd name="T33" fmla="*/ 3 h 272"/>
                  <a:gd name="T34" fmla="*/ 212 w 272"/>
                  <a:gd name="T35" fmla="*/ 23 h 272"/>
                  <a:gd name="T36" fmla="*/ 249 w 272"/>
                  <a:gd name="T37" fmla="*/ 60 h 272"/>
                  <a:gd name="T38" fmla="*/ 269 w 272"/>
                  <a:gd name="T39" fmla="*/ 109 h 272"/>
                  <a:gd name="T40" fmla="*/ 272 w 272"/>
                  <a:gd name="T41" fmla="*/ 136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72" h="272">
                    <a:moveTo>
                      <a:pt x="272" y="136"/>
                    </a:moveTo>
                    <a:lnTo>
                      <a:pt x="269" y="163"/>
                    </a:lnTo>
                    <a:lnTo>
                      <a:pt x="249" y="213"/>
                    </a:lnTo>
                    <a:lnTo>
                      <a:pt x="212" y="250"/>
                    </a:lnTo>
                    <a:lnTo>
                      <a:pt x="163" y="271"/>
                    </a:lnTo>
                    <a:lnTo>
                      <a:pt x="136" y="272"/>
                    </a:lnTo>
                    <a:lnTo>
                      <a:pt x="107" y="271"/>
                    </a:lnTo>
                    <a:lnTo>
                      <a:pt x="60" y="250"/>
                    </a:lnTo>
                    <a:lnTo>
                      <a:pt x="22" y="213"/>
                    </a:lnTo>
                    <a:lnTo>
                      <a:pt x="1" y="163"/>
                    </a:lnTo>
                    <a:lnTo>
                      <a:pt x="0" y="136"/>
                    </a:lnTo>
                    <a:lnTo>
                      <a:pt x="1" y="109"/>
                    </a:lnTo>
                    <a:lnTo>
                      <a:pt x="22" y="60"/>
                    </a:lnTo>
                    <a:lnTo>
                      <a:pt x="60" y="23"/>
                    </a:lnTo>
                    <a:lnTo>
                      <a:pt x="107" y="3"/>
                    </a:lnTo>
                    <a:lnTo>
                      <a:pt x="136" y="0"/>
                    </a:lnTo>
                    <a:lnTo>
                      <a:pt x="163" y="3"/>
                    </a:lnTo>
                    <a:lnTo>
                      <a:pt x="212" y="23"/>
                    </a:lnTo>
                    <a:lnTo>
                      <a:pt x="249" y="60"/>
                    </a:lnTo>
                    <a:lnTo>
                      <a:pt x="269" y="109"/>
                    </a:lnTo>
                    <a:lnTo>
                      <a:pt x="272" y="136"/>
                    </a:lnTo>
                    <a:close/>
                  </a:path>
                </a:pathLst>
              </a:custGeom>
              <a:grpFill/>
              <a:ln w="9525">
                <a:solidFill>
                  <a:schemeClr val="bg1">
                    <a:lumMod val="85000"/>
                  </a:schemeClr>
                </a:solidFill>
                <a:round/>
                <a:headEnd/>
                <a:tailEnd/>
              </a:ln>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46" name="Freeform 168">
                <a:extLst>
                  <a:ext uri="{FF2B5EF4-FFF2-40B4-BE49-F238E27FC236}">
                    <a16:creationId xmlns:a16="http://schemas.microsoft.com/office/drawing/2014/main" id="{64C99E14-B985-6EA4-9924-296E585DC52A}"/>
                  </a:ext>
                </a:extLst>
              </p:cNvPr>
              <p:cNvSpPr>
                <a:spLocks/>
              </p:cNvSpPr>
              <p:nvPr/>
            </p:nvSpPr>
            <p:spPr bwMode="auto">
              <a:xfrm>
                <a:off x="4565443" y="4987971"/>
                <a:ext cx="94832" cy="94832"/>
              </a:xfrm>
              <a:custGeom>
                <a:avLst/>
                <a:gdLst>
                  <a:gd name="T0" fmla="*/ 272 w 272"/>
                  <a:gd name="T1" fmla="*/ 136 h 272"/>
                  <a:gd name="T2" fmla="*/ 270 w 272"/>
                  <a:gd name="T3" fmla="*/ 165 h 272"/>
                  <a:gd name="T4" fmla="*/ 249 w 272"/>
                  <a:gd name="T5" fmla="*/ 213 h 272"/>
                  <a:gd name="T6" fmla="*/ 213 w 272"/>
                  <a:gd name="T7" fmla="*/ 250 h 272"/>
                  <a:gd name="T8" fmla="*/ 163 w 272"/>
                  <a:gd name="T9" fmla="*/ 271 h 272"/>
                  <a:gd name="T10" fmla="*/ 136 w 272"/>
                  <a:gd name="T11" fmla="*/ 272 h 272"/>
                  <a:gd name="T12" fmla="*/ 108 w 272"/>
                  <a:gd name="T13" fmla="*/ 271 h 272"/>
                  <a:gd name="T14" fmla="*/ 60 w 272"/>
                  <a:gd name="T15" fmla="*/ 250 h 272"/>
                  <a:gd name="T16" fmla="*/ 22 w 272"/>
                  <a:gd name="T17" fmla="*/ 213 h 272"/>
                  <a:gd name="T18" fmla="*/ 1 w 272"/>
                  <a:gd name="T19" fmla="*/ 165 h 272"/>
                  <a:gd name="T20" fmla="*/ 0 w 272"/>
                  <a:gd name="T21" fmla="*/ 136 h 272"/>
                  <a:gd name="T22" fmla="*/ 1 w 272"/>
                  <a:gd name="T23" fmla="*/ 109 h 272"/>
                  <a:gd name="T24" fmla="*/ 22 w 272"/>
                  <a:gd name="T25" fmla="*/ 60 h 272"/>
                  <a:gd name="T26" fmla="*/ 60 w 272"/>
                  <a:gd name="T27" fmla="*/ 24 h 272"/>
                  <a:gd name="T28" fmla="*/ 108 w 272"/>
                  <a:gd name="T29" fmla="*/ 3 h 272"/>
                  <a:gd name="T30" fmla="*/ 136 w 272"/>
                  <a:gd name="T31" fmla="*/ 0 h 272"/>
                  <a:gd name="T32" fmla="*/ 163 w 272"/>
                  <a:gd name="T33" fmla="*/ 3 h 272"/>
                  <a:gd name="T34" fmla="*/ 213 w 272"/>
                  <a:gd name="T35" fmla="*/ 24 h 272"/>
                  <a:gd name="T36" fmla="*/ 249 w 272"/>
                  <a:gd name="T37" fmla="*/ 60 h 272"/>
                  <a:gd name="T38" fmla="*/ 270 w 272"/>
                  <a:gd name="T39" fmla="*/ 109 h 272"/>
                  <a:gd name="T40" fmla="*/ 272 w 272"/>
                  <a:gd name="T41" fmla="*/ 136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72" h="272">
                    <a:moveTo>
                      <a:pt x="272" y="136"/>
                    </a:moveTo>
                    <a:lnTo>
                      <a:pt x="270" y="165"/>
                    </a:lnTo>
                    <a:lnTo>
                      <a:pt x="249" y="213"/>
                    </a:lnTo>
                    <a:lnTo>
                      <a:pt x="213" y="250"/>
                    </a:lnTo>
                    <a:lnTo>
                      <a:pt x="163" y="271"/>
                    </a:lnTo>
                    <a:lnTo>
                      <a:pt x="136" y="272"/>
                    </a:lnTo>
                    <a:lnTo>
                      <a:pt x="108" y="271"/>
                    </a:lnTo>
                    <a:lnTo>
                      <a:pt x="60" y="250"/>
                    </a:lnTo>
                    <a:lnTo>
                      <a:pt x="22" y="213"/>
                    </a:lnTo>
                    <a:lnTo>
                      <a:pt x="1" y="165"/>
                    </a:lnTo>
                    <a:lnTo>
                      <a:pt x="0" y="136"/>
                    </a:lnTo>
                    <a:lnTo>
                      <a:pt x="1" y="109"/>
                    </a:lnTo>
                    <a:lnTo>
                      <a:pt x="22" y="60"/>
                    </a:lnTo>
                    <a:lnTo>
                      <a:pt x="60" y="24"/>
                    </a:lnTo>
                    <a:lnTo>
                      <a:pt x="108" y="3"/>
                    </a:lnTo>
                    <a:lnTo>
                      <a:pt x="136" y="0"/>
                    </a:lnTo>
                    <a:lnTo>
                      <a:pt x="163" y="3"/>
                    </a:lnTo>
                    <a:lnTo>
                      <a:pt x="213" y="24"/>
                    </a:lnTo>
                    <a:lnTo>
                      <a:pt x="249" y="60"/>
                    </a:lnTo>
                    <a:lnTo>
                      <a:pt x="270" y="109"/>
                    </a:lnTo>
                    <a:lnTo>
                      <a:pt x="272" y="136"/>
                    </a:lnTo>
                    <a:close/>
                  </a:path>
                </a:pathLst>
              </a:custGeom>
              <a:grpFill/>
              <a:ln w="9525">
                <a:solidFill>
                  <a:schemeClr val="bg1">
                    <a:lumMod val="85000"/>
                  </a:schemeClr>
                </a:solidFill>
                <a:round/>
                <a:headEnd/>
                <a:tailEnd/>
              </a:ln>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47" name="Freeform 177">
                <a:extLst>
                  <a:ext uri="{FF2B5EF4-FFF2-40B4-BE49-F238E27FC236}">
                    <a16:creationId xmlns:a16="http://schemas.microsoft.com/office/drawing/2014/main" id="{C7CABC63-8D6D-757D-899E-36F274FBCE0E}"/>
                  </a:ext>
                </a:extLst>
              </p:cNvPr>
              <p:cNvSpPr>
                <a:spLocks/>
              </p:cNvSpPr>
              <p:nvPr/>
            </p:nvSpPr>
            <p:spPr bwMode="auto">
              <a:xfrm>
                <a:off x="6637796" y="5500480"/>
                <a:ext cx="94832" cy="94832"/>
              </a:xfrm>
              <a:custGeom>
                <a:avLst/>
                <a:gdLst>
                  <a:gd name="T0" fmla="*/ 273 w 273"/>
                  <a:gd name="T1" fmla="*/ 136 h 272"/>
                  <a:gd name="T2" fmla="*/ 271 w 273"/>
                  <a:gd name="T3" fmla="*/ 164 h 272"/>
                  <a:gd name="T4" fmla="*/ 251 w 273"/>
                  <a:gd name="T5" fmla="*/ 212 h 272"/>
                  <a:gd name="T6" fmla="*/ 213 w 273"/>
                  <a:gd name="T7" fmla="*/ 250 h 272"/>
                  <a:gd name="T8" fmla="*/ 165 w 273"/>
                  <a:gd name="T9" fmla="*/ 271 h 272"/>
                  <a:gd name="T10" fmla="*/ 136 w 273"/>
                  <a:gd name="T11" fmla="*/ 272 h 272"/>
                  <a:gd name="T12" fmla="*/ 109 w 273"/>
                  <a:gd name="T13" fmla="*/ 271 h 272"/>
                  <a:gd name="T14" fmla="*/ 60 w 273"/>
                  <a:gd name="T15" fmla="*/ 250 h 272"/>
                  <a:gd name="T16" fmla="*/ 24 w 273"/>
                  <a:gd name="T17" fmla="*/ 212 h 272"/>
                  <a:gd name="T18" fmla="*/ 3 w 273"/>
                  <a:gd name="T19" fmla="*/ 164 h 272"/>
                  <a:gd name="T20" fmla="*/ 0 w 273"/>
                  <a:gd name="T21" fmla="*/ 136 h 272"/>
                  <a:gd name="T22" fmla="*/ 3 w 273"/>
                  <a:gd name="T23" fmla="*/ 108 h 272"/>
                  <a:gd name="T24" fmla="*/ 24 w 273"/>
                  <a:gd name="T25" fmla="*/ 59 h 272"/>
                  <a:gd name="T26" fmla="*/ 60 w 273"/>
                  <a:gd name="T27" fmla="*/ 23 h 272"/>
                  <a:gd name="T28" fmla="*/ 109 w 273"/>
                  <a:gd name="T29" fmla="*/ 2 h 272"/>
                  <a:gd name="T30" fmla="*/ 136 w 273"/>
                  <a:gd name="T31" fmla="*/ 0 h 272"/>
                  <a:gd name="T32" fmla="*/ 165 w 273"/>
                  <a:gd name="T33" fmla="*/ 2 h 272"/>
                  <a:gd name="T34" fmla="*/ 213 w 273"/>
                  <a:gd name="T35" fmla="*/ 23 h 272"/>
                  <a:gd name="T36" fmla="*/ 251 w 273"/>
                  <a:gd name="T37" fmla="*/ 59 h 272"/>
                  <a:gd name="T38" fmla="*/ 271 w 273"/>
                  <a:gd name="T39" fmla="*/ 108 h 272"/>
                  <a:gd name="T40" fmla="*/ 273 w 273"/>
                  <a:gd name="T41" fmla="*/ 136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73" h="272">
                    <a:moveTo>
                      <a:pt x="273" y="136"/>
                    </a:moveTo>
                    <a:lnTo>
                      <a:pt x="271" y="164"/>
                    </a:lnTo>
                    <a:lnTo>
                      <a:pt x="251" y="212"/>
                    </a:lnTo>
                    <a:lnTo>
                      <a:pt x="213" y="250"/>
                    </a:lnTo>
                    <a:lnTo>
                      <a:pt x="165" y="271"/>
                    </a:lnTo>
                    <a:lnTo>
                      <a:pt x="136" y="272"/>
                    </a:lnTo>
                    <a:lnTo>
                      <a:pt x="109" y="271"/>
                    </a:lnTo>
                    <a:lnTo>
                      <a:pt x="60" y="250"/>
                    </a:lnTo>
                    <a:lnTo>
                      <a:pt x="24" y="212"/>
                    </a:lnTo>
                    <a:lnTo>
                      <a:pt x="3" y="164"/>
                    </a:lnTo>
                    <a:lnTo>
                      <a:pt x="0" y="136"/>
                    </a:lnTo>
                    <a:lnTo>
                      <a:pt x="3" y="108"/>
                    </a:lnTo>
                    <a:lnTo>
                      <a:pt x="24" y="59"/>
                    </a:lnTo>
                    <a:lnTo>
                      <a:pt x="60" y="23"/>
                    </a:lnTo>
                    <a:lnTo>
                      <a:pt x="109" y="2"/>
                    </a:lnTo>
                    <a:lnTo>
                      <a:pt x="136" y="0"/>
                    </a:lnTo>
                    <a:lnTo>
                      <a:pt x="165" y="2"/>
                    </a:lnTo>
                    <a:lnTo>
                      <a:pt x="213" y="23"/>
                    </a:lnTo>
                    <a:lnTo>
                      <a:pt x="251" y="59"/>
                    </a:lnTo>
                    <a:lnTo>
                      <a:pt x="271" y="108"/>
                    </a:lnTo>
                    <a:lnTo>
                      <a:pt x="273" y="136"/>
                    </a:lnTo>
                    <a:close/>
                  </a:path>
                </a:pathLst>
              </a:custGeom>
              <a:grpFill/>
              <a:ln w="9525">
                <a:solidFill>
                  <a:schemeClr val="bg1">
                    <a:lumMod val="85000"/>
                  </a:schemeClr>
                </a:solidFill>
                <a:round/>
                <a:headEnd/>
                <a:tailEnd/>
              </a:ln>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48" name="Freeform 148">
                <a:extLst>
                  <a:ext uri="{FF2B5EF4-FFF2-40B4-BE49-F238E27FC236}">
                    <a16:creationId xmlns:a16="http://schemas.microsoft.com/office/drawing/2014/main" id="{3D83A7F0-0EB6-24BC-2E76-43066F3FD6F4}"/>
                  </a:ext>
                </a:extLst>
              </p:cNvPr>
              <p:cNvSpPr>
                <a:spLocks/>
              </p:cNvSpPr>
              <p:nvPr/>
            </p:nvSpPr>
            <p:spPr bwMode="auto">
              <a:xfrm>
                <a:off x="8113268" y="3959465"/>
                <a:ext cx="94832" cy="94832"/>
              </a:xfrm>
              <a:custGeom>
                <a:avLst/>
                <a:gdLst>
                  <a:gd name="T0" fmla="*/ 272 w 272"/>
                  <a:gd name="T1" fmla="*/ 136 h 272"/>
                  <a:gd name="T2" fmla="*/ 270 w 272"/>
                  <a:gd name="T3" fmla="*/ 163 h 272"/>
                  <a:gd name="T4" fmla="*/ 249 w 272"/>
                  <a:gd name="T5" fmla="*/ 213 h 272"/>
                  <a:gd name="T6" fmla="*/ 213 w 272"/>
                  <a:gd name="T7" fmla="*/ 249 h 272"/>
                  <a:gd name="T8" fmla="*/ 163 w 272"/>
                  <a:gd name="T9" fmla="*/ 270 h 272"/>
                  <a:gd name="T10" fmla="*/ 136 w 272"/>
                  <a:gd name="T11" fmla="*/ 272 h 272"/>
                  <a:gd name="T12" fmla="*/ 108 w 272"/>
                  <a:gd name="T13" fmla="*/ 270 h 272"/>
                  <a:gd name="T14" fmla="*/ 60 w 272"/>
                  <a:gd name="T15" fmla="*/ 249 h 272"/>
                  <a:gd name="T16" fmla="*/ 22 w 272"/>
                  <a:gd name="T17" fmla="*/ 213 h 272"/>
                  <a:gd name="T18" fmla="*/ 1 w 272"/>
                  <a:gd name="T19" fmla="*/ 163 h 272"/>
                  <a:gd name="T20" fmla="*/ 0 w 272"/>
                  <a:gd name="T21" fmla="*/ 136 h 272"/>
                  <a:gd name="T22" fmla="*/ 1 w 272"/>
                  <a:gd name="T23" fmla="*/ 108 h 272"/>
                  <a:gd name="T24" fmla="*/ 22 w 272"/>
                  <a:gd name="T25" fmla="*/ 60 h 272"/>
                  <a:gd name="T26" fmla="*/ 60 w 272"/>
                  <a:gd name="T27" fmla="*/ 22 h 272"/>
                  <a:gd name="T28" fmla="*/ 108 w 272"/>
                  <a:gd name="T29" fmla="*/ 1 h 272"/>
                  <a:gd name="T30" fmla="*/ 136 w 272"/>
                  <a:gd name="T31" fmla="*/ 0 h 272"/>
                  <a:gd name="T32" fmla="*/ 163 w 272"/>
                  <a:gd name="T33" fmla="*/ 1 h 272"/>
                  <a:gd name="T34" fmla="*/ 213 w 272"/>
                  <a:gd name="T35" fmla="*/ 22 h 272"/>
                  <a:gd name="T36" fmla="*/ 249 w 272"/>
                  <a:gd name="T37" fmla="*/ 60 h 272"/>
                  <a:gd name="T38" fmla="*/ 270 w 272"/>
                  <a:gd name="T39" fmla="*/ 108 h 272"/>
                  <a:gd name="T40" fmla="*/ 272 w 272"/>
                  <a:gd name="T41" fmla="*/ 136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72" h="272">
                    <a:moveTo>
                      <a:pt x="272" y="136"/>
                    </a:moveTo>
                    <a:lnTo>
                      <a:pt x="270" y="163"/>
                    </a:lnTo>
                    <a:lnTo>
                      <a:pt x="249" y="213"/>
                    </a:lnTo>
                    <a:lnTo>
                      <a:pt x="213" y="249"/>
                    </a:lnTo>
                    <a:lnTo>
                      <a:pt x="163" y="270"/>
                    </a:lnTo>
                    <a:lnTo>
                      <a:pt x="136" y="272"/>
                    </a:lnTo>
                    <a:lnTo>
                      <a:pt x="108" y="270"/>
                    </a:lnTo>
                    <a:lnTo>
                      <a:pt x="60" y="249"/>
                    </a:lnTo>
                    <a:lnTo>
                      <a:pt x="22" y="213"/>
                    </a:lnTo>
                    <a:lnTo>
                      <a:pt x="1" y="163"/>
                    </a:lnTo>
                    <a:lnTo>
                      <a:pt x="0" y="136"/>
                    </a:lnTo>
                    <a:lnTo>
                      <a:pt x="1" y="108"/>
                    </a:lnTo>
                    <a:lnTo>
                      <a:pt x="22" y="60"/>
                    </a:lnTo>
                    <a:lnTo>
                      <a:pt x="60" y="22"/>
                    </a:lnTo>
                    <a:lnTo>
                      <a:pt x="108" y="1"/>
                    </a:lnTo>
                    <a:lnTo>
                      <a:pt x="136" y="0"/>
                    </a:lnTo>
                    <a:lnTo>
                      <a:pt x="163" y="1"/>
                    </a:lnTo>
                    <a:lnTo>
                      <a:pt x="213" y="22"/>
                    </a:lnTo>
                    <a:lnTo>
                      <a:pt x="249" y="60"/>
                    </a:lnTo>
                    <a:lnTo>
                      <a:pt x="270" y="108"/>
                    </a:lnTo>
                    <a:lnTo>
                      <a:pt x="272" y="136"/>
                    </a:lnTo>
                    <a:close/>
                  </a:path>
                </a:pathLst>
              </a:custGeom>
              <a:grpFill/>
              <a:ln w="9525">
                <a:solidFill>
                  <a:schemeClr val="bg1">
                    <a:lumMod val="85000"/>
                  </a:schemeClr>
                </a:solidFill>
                <a:round/>
                <a:headEnd/>
                <a:tailEnd/>
              </a:ln>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49" name="Freeform 164">
                <a:extLst>
                  <a:ext uri="{FF2B5EF4-FFF2-40B4-BE49-F238E27FC236}">
                    <a16:creationId xmlns:a16="http://schemas.microsoft.com/office/drawing/2014/main" id="{00D47B78-D2C0-BFAF-C96C-590FF42F50E9}"/>
                  </a:ext>
                </a:extLst>
              </p:cNvPr>
              <p:cNvSpPr>
                <a:spLocks/>
              </p:cNvSpPr>
              <p:nvPr/>
            </p:nvSpPr>
            <p:spPr bwMode="auto">
              <a:xfrm>
                <a:off x="3982507" y="2920498"/>
                <a:ext cx="94832" cy="94832"/>
              </a:xfrm>
              <a:custGeom>
                <a:avLst/>
                <a:gdLst>
                  <a:gd name="T0" fmla="*/ 272 w 272"/>
                  <a:gd name="T1" fmla="*/ 136 h 272"/>
                  <a:gd name="T2" fmla="*/ 270 w 272"/>
                  <a:gd name="T3" fmla="*/ 164 h 272"/>
                  <a:gd name="T4" fmla="*/ 249 w 272"/>
                  <a:gd name="T5" fmla="*/ 213 h 272"/>
                  <a:gd name="T6" fmla="*/ 213 w 272"/>
                  <a:gd name="T7" fmla="*/ 250 h 272"/>
                  <a:gd name="T8" fmla="*/ 163 w 272"/>
                  <a:gd name="T9" fmla="*/ 270 h 272"/>
                  <a:gd name="T10" fmla="*/ 136 w 272"/>
                  <a:gd name="T11" fmla="*/ 272 h 272"/>
                  <a:gd name="T12" fmla="*/ 108 w 272"/>
                  <a:gd name="T13" fmla="*/ 270 h 272"/>
                  <a:gd name="T14" fmla="*/ 60 w 272"/>
                  <a:gd name="T15" fmla="*/ 250 h 272"/>
                  <a:gd name="T16" fmla="*/ 22 w 272"/>
                  <a:gd name="T17" fmla="*/ 213 h 272"/>
                  <a:gd name="T18" fmla="*/ 1 w 272"/>
                  <a:gd name="T19" fmla="*/ 164 h 272"/>
                  <a:gd name="T20" fmla="*/ 0 w 272"/>
                  <a:gd name="T21" fmla="*/ 136 h 272"/>
                  <a:gd name="T22" fmla="*/ 1 w 272"/>
                  <a:gd name="T23" fmla="*/ 109 h 272"/>
                  <a:gd name="T24" fmla="*/ 22 w 272"/>
                  <a:gd name="T25" fmla="*/ 60 h 272"/>
                  <a:gd name="T26" fmla="*/ 60 w 272"/>
                  <a:gd name="T27" fmla="*/ 22 h 272"/>
                  <a:gd name="T28" fmla="*/ 108 w 272"/>
                  <a:gd name="T29" fmla="*/ 2 h 272"/>
                  <a:gd name="T30" fmla="*/ 136 w 272"/>
                  <a:gd name="T31" fmla="*/ 0 h 272"/>
                  <a:gd name="T32" fmla="*/ 163 w 272"/>
                  <a:gd name="T33" fmla="*/ 2 h 272"/>
                  <a:gd name="T34" fmla="*/ 213 w 272"/>
                  <a:gd name="T35" fmla="*/ 22 h 272"/>
                  <a:gd name="T36" fmla="*/ 249 w 272"/>
                  <a:gd name="T37" fmla="*/ 60 h 272"/>
                  <a:gd name="T38" fmla="*/ 270 w 272"/>
                  <a:gd name="T39" fmla="*/ 109 h 272"/>
                  <a:gd name="T40" fmla="*/ 272 w 272"/>
                  <a:gd name="T41" fmla="*/ 136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72" h="272">
                    <a:moveTo>
                      <a:pt x="272" y="136"/>
                    </a:moveTo>
                    <a:lnTo>
                      <a:pt x="270" y="164"/>
                    </a:lnTo>
                    <a:lnTo>
                      <a:pt x="249" y="213"/>
                    </a:lnTo>
                    <a:lnTo>
                      <a:pt x="213" y="250"/>
                    </a:lnTo>
                    <a:lnTo>
                      <a:pt x="163" y="270"/>
                    </a:lnTo>
                    <a:lnTo>
                      <a:pt x="136" y="272"/>
                    </a:lnTo>
                    <a:lnTo>
                      <a:pt x="108" y="270"/>
                    </a:lnTo>
                    <a:lnTo>
                      <a:pt x="60" y="250"/>
                    </a:lnTo>
                    <a:lnTo>
                      <a:pt x="22" y="213"/>
                    </a:lnTo>
                    <a:lnTo>
                      <a:pt x="1" y="164"/>
                    </a:lnTo>
                    <a:lnTo>
                      <a:pt x="0" y="136"/>
                    </a:lnTo>
                    <a:lnTo>
                      <a:pt x="1" y="109"/>
                    </a:lnTo>
                    <a:lnTo>
                      <a:pt x="22" y="60"/>
                    </a:lnTo>
                    <a:lnTo>
                      <a:pt x="60" y="22"/>
                    </a:lnTo>
                    <a:lnTo>
                      <a:pt x="108" y="2"/>
                    </a:lnTo>
                    <a:lnTo>
                      <a:pt x="136" y="0"/>
                    </a:lnTo>
                    <a:lnTo>
                      <a:pt x="163" y="2"/>
                    </a:lnTo>
                    <a:lnTo>
                      <a:pt x="213" y="22"/>
                    </a:lnTo>
                    <a:lnTo>
                      <a:pt x="249" y="60"/>
                    </a:lnTo>
                    <a:lnTo>
                      <a:pt x="270" y="109"/>
                    </a:lnTo>
                    <a:lnTo>
                      <a:pt x="272" y="136"/>
                    </a:lnTo>
                    <a:close/>
                  </a:path>
                </a:pathLst>
              </a:custGeom>
              <a:grpFill/>
              <a:ln w="9525">
                <a:solidFill>
                  <a:schemeClr val="bg1">
                    <a:lumMod val="85000"/>
                  </a:schemeClr>
                </a:solidFill>
                <a:round/>
                <a:headEnd/>
                <a:tailEnd/>
              </a:ln>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50" name="Freeform 137">
                <a:extLst>
                  <a:ext uri="{FF2B5EF4-FFF2-40B4-BE49-F238E27FC236}">
                    <a16:creationId xmlns:a16="http://schemas.microsoft.com/office/drawing/2014/main" id="{9614E219-C47D-CB9D-78FA-B11001FA61EE}"/>
                  </a:ext>
                </a:extLst>
              </p:cNvPr>
              <p:cNvSpPr>
                <a:spLocks/>
              </p:cNvSpPr>
              <p:nvPr/>
            </p:nvSpPr>
            <p:spPr bwMode="auto">
              <a:xfrm>
                <a:off x="7527542" y="1905938"/>
                <a:ext cx="94832" cy="94832"/>
              </a:xfrm>
              <a:custGeom>
                <a:avLst/>
                <a:gdLst>
                  <a:gd name="T0" fmla="*/ 273 w 273"/>
                  <a:gd name="T1" fmla="*/ 136 h 272"/>
                  <a:gd name="T2" fmla="*/ 270 w 273"/>
                  <a:gd name="T3" fmla="*/ 163 h 272"/>
                  <a:gd name="T4" fmla="*/ 249 w 273"/>
                  <a:gd name="T5" fmla="*/ 212 h 272"/>
                  <a:gd name="T6" fmla="*/ 213 w 273"/>
                  <a:gd name="T7" fmla="*/ 248 h 272"/>
                  <a:gd name="T8" fmla="*/ 164 w 273"/>
                  <a:gd name="T9" fmla="*/ 269 h 272"/>
                  <a:gd name="T10" fmla="*/ 137 w 273"/>
                  <a:gd name="T11" fmla="*/ 272 h 272"/>
                  <a:gd name="T12" fmla="*/ 108 w 273"/>
                  <a:gd name="T13" fmla="*/ 269 h 272"/>
                  <a:gd name="T14" fmla="*/ 60 w 273"/>
                  <a:gd name="T15" fmla="*/ 248 h 272"/>
                  <a:gd name="T16" fmla="*/ 22 w 273"/>
                  <a:gd name="T17" fmla="*/ 212 h 272"/>
                  <a:gd name="T18" fmla="*/ 2 w 273"/>
                  <a:gd name="T19" fmla="*/ 163 h 272"/>
                  <a:gd name="T20" fmla="*/ 0 w 273"/>
                  <a:gd name="T21" fmla="*/ 136 h 272"/>
                  <a:gd name="T22" fmla="*/ 2 w 273"/>
                  <a:gd name="T23" fmla="*/ 108 h 272"/>
                  <a:gd name="T24" fmla="*/ 22 w 273"/>
                  <a:gd name="T25" fmla="*/ 59 h 272"/>
                  <a:gd name="T26" fmla="*/ 60 w 273"/>
                  <a:gd name="T27" fmla="*/ 22 h 272"/>
                  <a:gd name="T28" fmla="*/ 108 w 273"/>
                  <a:gd name="T29" fmla="*/ 1 h 272"/>
                  <a:gd name="T30" fmla="*/ 137 w 273"/>
                  <a:gd name="T31" fmla="*/ 0 h 272"/>
                  <a:gd name="T32" fmla="*/ 164 w 273"/>
                  <a:gd name="T33" fmla="*/ 1 h 272"/>
                  <a:gd name="T34" fmla="*/ 213 w 273"/>
                  <a:gd name="T35" fmla="*/ 22 h 272"/>
                  <a:gd name="T36" fmla="*/ 249 w 273"/>
                  <a:gd name="T37" fmla="*/ 59 h 272"/>
                  <a:gd name="T38" fmla="*/ 270 w 273"/>
                  <a:gd name="T39" fmla="*/ 108 h 272"/>
                  <a:gd name="T40" fmla="*/ 273 w 273"/>
                  <a:gd name="T41" fmla="*/ 136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73" h="272">
                    <a:moveTo>
                      <a:pt x="273" y="136"/>
                    </a:moveTo>
                    <a:lnTo>
                      <a:pt x="270" y="163"/>
                    </a:lnTo>
                    <a:lnTo>
                      <a:pt x="249" y="212"/>
                    </a:lnTo>
                    <a:lnTo>
                      <a:pt x="213" y="248"/>
                    </a:lnTo>
                    <a:lnTo>
                      <a:pt x="164" y="269"/>
                    </a:lnTo>
                    <a:lnTo>
                      <a:pt x="137" y="272"/>
                    </a:lnTo>
                    <a:lnTo>
                      <a:pt x="108" y="269"/>
                    </a:lnTo>
                    <a:lnTo>
                      <a:pt x="60" y="248"/>
                    </a:lnTo>
                    <a:lnTo>
                      <a:pt x="22" y="212"/>
                    </a:lnTo>
                    <a:lnTo>
                      <a:pt x="2" y="163"/>
                    </a:lnTo>
                    <a:lnTo>
                      <a:pt x="0" y="136"/>
                    </a:lnTo>
                    <a:lnTo>
                      <a:pt x="2" y="108"/>
                    </a:lnTo>
                    <a:lnTo>
                      <a:pt x="22" y="59"/>
                    </a:lnTo>
                    <a:lnTo>
                      <a:pt x="60" y="22"/>
                    </a:lnTo>
                    <a:lnTo>
                      <a:pt x="108" y="1"/>
                    </a:lnTo>
                    <a:lnTo>
                      <a:pt x="137" y="0"/>
                    </a:lnTo>
                    <a:lnTo>
                      <a:pt x="164" y="1"/>
                    </a:lnTo>
                    <a:lnTo>
                      <a:pt x="213" y="22"/>
                    </a:lnTo>
                    <a:lnTo>
                      <a:pt x="249" y="59"/>
                    </a:lnTo>
                    <a:lnTo>
                      <a:pt x="270" y="108"/>
                    </a:lnTo>
                    <a:lnTo>
                      <a:pt x="273" y="136"/>
                    </a:lnTo>
                    <a:close/>
                  </a:path>
                </a:pathLst>
              </a:custGeom>
              <a:grpFill/>
              <a:ln w="9525">
                <a:solidFill>
                  <a:schemeClr val="bg1">
                    <a:lumMod val="85000"/>
                  </a:schemeClr>
                </a:solidFill>
                <a:round/>
                <a:headEnd/>
                <a:tailEnd/>
              </a:ln>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51" name="Freeform 155">
                <a:extLst>
                  <a:ext uri="{FF2B5EF4-FFF2-40B4-BE49-F238E27FC236}">
                    <a16:creationId xmlns:a16="http://schemas.microsoft.com/office/drawing/2014/main" id="{7111A92B-A0CE-5E98-44AC-CAC05E6D56A7}"/>
                  </a:ext>
                </a:extLst>
              </p:cNvPr>
              <p:cNvSpPr>
                <a:spLocks/>
              </p:cNvSpPr>
              <p:nvPr/>
            </p:nvSpPr>
            <p:spPr bwMode="auto">
              <a:xfrm>
                <a:off x="5459372" y="1360656"/>
                <a:ext cx="94832" cy="96227"/>
              </a:xfrm>
              <a:custGeom>
                <a:avLst/>
                <a:gdLst>
                  <a:gd name="T0" fmla="*/ 272 w 272"/>
                  <a:gd name="T1" fmla="*/ 136 h 272"/>
                  <a:gd name="T2" fmla="*/ 271 w 272"/>
                  <a:gd name="T3" fmla="*/ 163 h 272"/>
                  <a:gd name="T4" fmla="*/ 250 w 272"/>
                  <a:gd name="T5" fmla="*/ 212 h 272"/>
                  <a:gd name="T6" fmla="*/ 213 w 272"/>
                  <a:gd name="T7" fmla="*/ 249 h 272"/>
                  <a:gd name="T8" fmla="*/ 165 w 272"/>
                  <a:gd name="T9" fmla="*/ 269 h 272"/>
                  <a:gd name="T10" fmla="*/ 136 w 272"/>
                  <a:gd name="T11" fmla="*/ 272 h 272"/>
                  <a:gd name="T12" fmla="*/ 109 w 272"/>
                  <a:gd name="T13" fmla="*/ 269 h 272"/>
                  <a:gd name="T14" fmla="*/ 60 w 272"/>
                  <a:gd name="T15" fmla="*/ 249 h 272"/>
                  <a:gd name="T16" fmla="*/ 23 w 272"/>
                  <a:gd name="T17" fmla="*/ 212 h 272"/>
                  <a:gd name="T18" fmla="*/ 3 w 272"/>
                  <a:gd name="T19" fmla="*/ 163 h 272"/>
                  <a:gd name="T20" fmla="*/ 0 w 272"/>
                  <a:gd name="T21" fmla="*/ 136 h 272"/>
                  <a:gd name="T22" fmla="*/ 3 w 272"/>
                  <a:gd name="T23" fmla="*/ 107 h 272"/>
                  <a:gd name="T24" fmla="*/ 23 w 272"/>
                  <a:gd name="T25" fmla="*/ 59 h 272"/>
                  <a:gd name="T26" fmla="*/ 60 w 272"/>
                  <a:gd name="T27" fmla="*/ 22 h 272"/>
                  <a:gd name="T28" fmla="*/ 109 w 272"/>
                  <a:gd name="T29" fmla="*/ 1 h 272"/>
                  <a:gd name="T30" fmla="*/ 136 w 272"/>
                  <a:gd name="T31" fmla="*/ 0 h 272"/>
                  <a:gd name="T32" fmla="*/ 165 w 272"/>
                  <a:gd name="T33" fmla="*/ 1 h 272"/>
                  <a:gd name="T34" fmla="*/ 213 w 272"/>
                  <a:gd name="T35" fmla="*/ 22 h 272"/>
                  <a:gd name="T36" fmla="*/ 250 w 272"/>
                  <a:gd name="T37" fmla="*/ 59 h 272"/>
                  <a:gd name="T38" fmla="*/ 271 w 272"/>
                  <a:gd name="T39" fmla="*/ 107 h 272"/>
                  <a:gd name="T40" fmla="*/ 272 w 272"/>
                  <a:gd name="T41" fmla="*/ 136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72" h="272">
                    <a:moveTo>
                      <a:pt x="272" y="136"/>
                    </a:moveTo>
                    <a:lnTo>
                      <a:pt x="271" y="163"/>
                    </a:lnTo>
                    <a:lnTo>
                      <a:pt x="250" y="212"/>
                    </a:lnTo>
                    <a:lnTo>
                      <a:pt x="213" y="249"/>
                    </a:lnTo>
                    <a:lnTo>
                      <a:pt x="165" y="269"/>
                    </a:lnTo>
                    <a:lnTo>
                      <a:pt x="136" y="272"/>
                    </a:lnTo>
                    <a:lnTo>
                      <a:pt x="109" y="269"/>
                    </a:lnTo>
                    <a:lnTo>
                      <a:pt x="60" y="249"/>
                    </a:lnTo>
                    <a:lnTo>
                      <a:pt x="23" y="212"/>
                    </a:lnTo>
                    <a:lnTo>
                      <a:pt x="3" y="163"/>
                    </a:lnTo>
                    <a:lnTo>
                      <a:pt x="0" y="136"/>
                    </a:lnTo>
                    <a:lnTo>
                      <a:pt x="3" y="107"/>
                    </a:lnTo>
                    <a:lnTo>
                      <a:pt x="23" y="59"/>
                    </a:lnTo>
                    <a:lnTo>
                      <a:pt x="60" y="22"/>
                    </a:lnTo>
                    <a:lnTo>
                      <a:pt x="109" y="1"/>
                    </a:lnTo>
                    <a:lnTo>
                      <a:pt x="136" y="0"/>
                    </a:lnTo>
                    <a:lnTo>
                      <a:pt x="165" y="1"/>
                    </a:lnTo>
                    <a:lnTo>
                      <a:pt x="213" y="22"/>
                    </a:lnTo>
                    <a:lnTo>
                      <a:pt x="250" y="59"/>
                    </a:lnTo>
                    <a:lnTo>
                      <a:pt x="271" y="107"/>
                    </a:lnTo>
                    <a:lnTo>
                      <a:pt x="272" y="136"/>
                    </a:lnTo>
                    <a:close/>
                  </a:path>
                </a:pathLst>
              </a:custGeom>
              <a:grpFill/>
              <a:ln w="9525">
                <a:solidFill>
                  <a:schemeClr val="bg1">
                    <a:lumMod val="85000"/>
                  </a:schemeClr>
                </a:solidFill>
                <a:round/>
                <a:headEnd/>
                <a:tailEnd/>
              </a:ln>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sp>
            <p:nvSpPr>
              <p:cNvPr id="52" name="Freeform 176">
                <a:extLst>
                  <a:ext uri="{FF2B5EF4-FFF2-40B4-BE49-F238E27FC236}">
                    <a16:creationId xmlns:a16="http://schemas.microsoft.com/office/drawing/2014/main" id="{7F1FDA42-B7E9-43E7-4C12-605D06C0AAF1}"/>
                  </a:ext>
                </a:extLst>
              </p:cNvPr>
              <p:cNvSpPr>
                <a:spLocks/>
              </p:cNvSpPr>
              <p:nvPr/>
            </p:nvSpPr>
            <p:spPr bwMode="auto">
              <a:xfrm>
                <a:off x="6310765" y="3663115"/>
                <a:ext cx="94832" cy="94832"/>
              </a:xfrm>
              <a:custGeom>
                <a:avLst/>
                <a:gdLst>
                  <a:gd name="T0" fmla="*/ 272 w 272"/>
                  <a:gd name="T1" fmla="*/ 136 h 272"/>
                  <a:gd name="T2" fmla="*/ 271 w 272"/>
                  <a:gd name="T3" fmla="*/ 165 h 272"/>
                  <a:gd name="T4" fmla="*/ 250 w 272"/>
                  <a:gd name="T5" fmla="*/ 213 h 272"/>
                  <a:gd name="T6" fmla="*/ 212 w 272"/>
                  <a:gd name="T7" fmla="*/ 250 h 272"/>
                  <a:gd name="T8" fmla="*/ 164 w 272"/>
                  <a:gd name="T9" fmla="*/ 271 h 272"/>
                  <a:gd name="T10" fmla="*/ 136 w 272"/>
                  <a:gd name="T11" fmla="*/ 272 h 272"/>
                  <a:gd name="T12" fmla="*/ 109 w 272"/>
                  <a:gd name="T13" fmla="*/ 271 h 272"/>
                  <a:gd name="T14" fmla="*/ 59 w 272"/>
                  <a:gd name="T15" fmla="*/ 250 h 272"/>
                  <a:gd name="T16" fmla="*/ 23 w 272"/>
                  <a:gd name="T17" fmla="*/ 213 h 272"/>
                  <a:gd name="T18" fmla="*/ 2 w 272"/>
                  <a:gd name="T19" fmla="*/ 165 h 272"/>
                  <a:gd name="T20" fmla="*/ 0 w 272"/>
                  <a:gd name="T21" fmla="*/ 136 h 272"/>
                  <a:gd name="T22" fmla="*/ 2 w 272"/>
                  <a:gd name="T23" fmla="*/ 109 h 272"/>
                  <a:gd name="T24" fmla="*/ 23 w 272"/>
                  <a:gd name="T25" fmla="*/ 60 h 272"/>
                  <a:gd name="T26" fmla="*/ 59 w 272"/>
                  <a:gd name="T27" fmla="*/ 24 h 272"/>
                  <a:gd name="T28" fmla="*/ 109 w 272"/>
                  <a:gd name="T29" fmla="*/ 3 h 272"/>
                  <a:gd name="T30" fmla="*/ 136 w 272"/>
                  <a:gd name="T31" fmla="*/ 0 h 272"/>
                  <a:gd name="T32" fmla="*/ 164 w 272"/>
                  <a:gd name="T33" fmla="*/ 3 h 272"/>
                  <a:gd name="T34" fmla="*/ 212 w 272"/>
                  <a:gd name="T35" fmla="*/ 24 h 272"/>
                  <a:gd name="T36" fmla="*/ 250 w 272"/>
                  <a:gd name="T37" fmla="*/ 60 h 272"/>
                  <a:gd name="T38" fmla="*/ 271 w 272"/>
                  <a:gd name="T39" fmla="*/ 109 h 272"/>
                  <a:gd name="T40" fmla="*/ 272 w 272"/>
                  <a:gd name="T41" fmla="*/ 136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72" h="272">
                    <a:moveTo>
                      <a:pt x="272" y="136"/>
                    </a:moveTo>
                    <a:lnTo>
                      <a:pt x="271" y="165"/>
                    </a:lnTo>
                    <a:lnTo>
                      <a:pt x="250" y="213"/>
                    </a:lnTo>
                    <a:lnTo>
                      <a:pt x="212" y="250"/>
                    </a:lnTo>
                    <a:lnTo>
                      <a:pt x="164" y="271"/>
                    </a:lnTo>
                    <a:lnTo>
                      <a:pt x="136" y="272"/>
                    </a:lnTo>
                    <a:lnTo>
                      <a:pt x="109" y="271"/>
                    </a:lnTo>
                    <a:lnTo>
                      <a:pt x="59" y="250"/>
                    </a:lnTo>
                    <a:lnTo>
                      <a:pt x="23" y="213"/>
                    </a:lnTo>
                    <a:lnTo>
                      <a:pt x="2" y="165"/>
                    </a:lnTo>
                    <a:lnTo>
                      <a:pt x="0" y="136"/>
                    </a:lnTo>
                    <a:lnTo>
                      <a:pt x="2" y="109"/>
                    </a:lnTo>
                    <a:lnTo>
                      <a:pt x="23" y="60"/>
                    </a:lnTo>
                    <a:lnTo>
                      <a:pt x="59" y="24"/>
                    </a:lnTo>
                    <a:lnTo>
                      <a:pt x="109" y="3"/>
                    </a:lnTo>
                    <a:lnTo>
                      <a:pt x="136" y="0"/>
                    </a:lnTo>
                    <a:lnTo>
                      <a:pt x="164" y="3"/>
                    </a:lnTo>
                    <a:lnTo>
                      <a:pt x="212" y="24"/>
                    </a:lnTo>
                    <a:lnTo>
                      <a:pt x="250" y="60"/>
                    </a:lnTo>
                    <a:lnTo>
                      <a:pt x="271" y="109"/>
                    </a:lnTo>
                    <a:lnTo>
                      <a:pt x="272" y="136"/>
                    </a:lnTo>
                    <a:close/>
                  </a:path>
                </a:pathLst>
              </a:custGeom>
              <a:grpFill/>
              <a:ln w="9525">
                <a:solidFill>
                  <a:schemeClr val="bg1">
                    <a:lumMod val="85000"/>
                  </a:schemeClr>
                </a:solidFill>
                <a:round/>
                <a:headEnd/>
                <a:tailEnd/>
              </a:ln>
            </p:spPr>
            <p:txBody>
              <a:bodyPr vert="horz" wrap="square" lIns="91440" tIns="45721" rIns="91440" bIns="45721" numCol="1" anchor="t" anchorCtr="0" compatLnSpc="1">
                <a:prstTxWarp prst="textNoShape">
                  <a:avLst/>
                </a:prstTxWarp>
              </a:bodyPr>
              <a:lstStyle/>
              <a:p>
                <a:pPr marL="0" marR="0" lvl="0" indent="0" algn="l" defTabSz="914354" rtl="0" eaLnBrk="1" fontAlgn="auto" latinLnBrk="0" hangingPunct="1">
                  <a:lnSpc>
                    <a:spcPct val="100000"/>
                  </a:lnSpc>
                  <a:spcBef>
                    <a:spcPts val="0"/>
                  </a:spcBef>
                  <a:spcAft>
                    <a:spcPts val="0"/>
                  </a:spcAft>
                  <a:buClr>
                    <a:srgbClr val="000000"/>
                  </a:buClr>
                  <a:buSzTx/>
                  <a:buFontTx/>
                  <a:buNone/>
                  <a:tabLst/>
                  <a:defRPr/>
                </a:pPr>
                <a:endParaRPr kumimoji="0" lang="en-US" sz="1801" b="0" i="0" u="none" strike="noStrike" kern="0" cap="none" spc="0" normalizeH="0" baseline="0" noProof="0">
                  <a:ln>
                    <a:noFill/>
                  </a:ln>
                  <a:solidFill>
                    <a:srgbClr val="57585B"/>
                  </a:solidFill>
                  <a:effectLst/>
                  <a:uLnTx/>
                  <a:uFillTx/>
                  <a:latin typeface="Arial" panose="020B0604020202020204"/>
                  <a:ea typeface="+mn-ea"/>
                  <a:cs typeface="Arial"/>
                  <a:sym typeface="Arial"/>
                </a:endParaRPr>
              </a:p>
            </p:txBody>
          </p:sp>
        </p:grpSp>
      </p:grpSp>
      <p:sp>
        <p:nvSpPr>
          <p:cNvPr id="77" name="Freeform: Shape 5">
            <a:extLst>
              <a:ext uri="{FF2B5EF4-FFF2-40B4-BE49-F238E27FC236}">
                <a16:creationId xmlns:a16="http://schemas.microsoft.com/office/drawing/2014/main" id="{85A6663E-946B-3F17-A953-C4CB7A445AED}"/>
              </a:ext>
            </a:extLst>
          </p:cNvPr>
          <p:cNvSpPr/>
          <p:nvPr/>
        </p:nvSpPr>
        <p:spPr>
          <a:xfrm>
            <a:off x="8203299" y="3093197"/>
            <a:ext cx="1926362" cy="1923838"/>
          </a:xfrm>
          <a:custGeom>
            <a:avLst/>
            <a:gdLst>
              <a:gd name="connsiteX0" fmla="*/ 0 w 1701105"/>
              <a:gd name="connsiteY0" fmla="*/ 850553 h 1701105"/>
              <a:gd name="connsiteX1" fmla="*/ 850553 w 1701105"/>
              <a:gd name="connsiteY1" fmla="*/ 0 h 1701105"/>
              <a:gd name="connsiteX2" fmla="*/ 1701106 w 1701105"/>
              <a:gd name="connsiteY2" fmla="*/ 850553 h 1701105"/>
              <a:gd name="connsiteX3" fmla="*/ 850553 w 1701105"/>
              <a:gd name="connsiteY3" fmla="*/ 1701106 h 1701105"/>
              <a:gd name="connsiteX4" fmla="*/ 0 w 1701105"/>
              <a:gd name="connsiteY4" fmla="*/ 850553 h 1701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1105" h="1701105">
                <a:moveTo>
                  <a:pt x="0" y="850553"/>
                </a:moveTo>
                <a:cubicBezTo>
                  <a:pt x="0" y="380806"/>
                  <a:pt x="380806" y="0"/>
                  <a:pt x="850553" y="0"/>
                </a:cubicBezTo>
                <a:cubicBezTo>
                  <a:pt x="1320300" y="0"/>
                  <a:pt x="1701106" y="380806"/>
                  <a:pt x="1701106" y="850553"/>
                </a:cubicBezTo>
                <a:cubicBezTo>
                  <a:pt x="1701106" y="1320300"/>
                  <a:pt x="1320300" y="1701106"/>
                  <a:pt x="850553" y="1701106"/>
                </a:cubicBezTo>
                <a:cubicBezTo>
                  <a:pt x="380806" y="1701106"/>
                  <a:pt x="0" y="1320300"/>
                  <a:pt x="0" y="850553"/>
                </a:cubicBezTo>
                <a:close/>
              </a:path>
            </a:pathLst>
          </a:custGeom>
          <a:solidFill>
            <a:srgbClr val="27C4D6"/>
          </a:solidFill>
          <a:ln>
            <a:noFill/>
          </a:ln>
        </p:spPr>
        <p:txBody>
          <a:bodyPr vert="horz" wrap="square" lIns="51435" tIns="25719" rIns="51435" bIns="25719" numCol="1" anchor="ctr" anchorCtr="0" compatLnSpc="1">
            <a:prstTxWarp prst="textNoShape">
              <a:avLst/>
            </a:prstTxWarp>
          </a:bodyPr>
          <a:lstStyle/>
          <a:p>
            <a:pPr marL="0" marR="0" lvl="0" indent="0" algn="ctr" defTabSz="342891" rtl="0" eaLnBrk="1" fontAlgn="auto" latinLnBrk="0" hangingPunct="1">
              <a:lnSpc>
                <a:spcPct val="100000"/>
              </a:lnSpc>
              <a:spcBef>
                <a:spcPts val="0"/>
              </a:spcBef>
              <a:spcAft>
                <a:spcPts val="0"/>
              </a:spcAft>
              <a:buClrTx/>
              <a:buSzTx/>
              <a:buFontTx/>
              <a:buNone/>
              <a:tabLst/>
              <a:defRPr/>
            </a:pPr>
            <a:r>
              <a:rPr kumimoji="0" lang="en-US" sz="1700" b="1" i="0" u="none" strike="noStrike" kern="0" cap="none" spc="0" normalizeH="0" baseline="0" noProof="0">
                <a:ln>
                  <a:noFill/>
                </a:ln>
                <a:solidFill>
                  <a:srgbClr val="FFFFFF"/>
                </a:solidFill>
                <a:effectLst/>
                <a:uLnTx/>
                <a:uFillTx/>
                <a:latin typeface="Trebuchet MS" panose="020B0603020202020204" pitchFamily="34" charset="0"/>
                <a:ea typeface="+mn-ea"/>
                <a:cs typeface="Arial" panose="020B0604020202020204" pitchFamily="34" charset="0"/>
              </a:rPr>
              <a:t>Benefits of </a:t>
            </a:r>
            <a:br>
              <a:rPr kumimoji="0" lang="en-US" sz="1700" b="1" i="0" u="none" strike="noStrike" kern="0" cap="none" spc="0" normalizeH="0" baseline="0" noProof="0">
                <a:ln>
                  <a:noFill/>
                </a:ln>
                <a:solidFill>
                  <a:srgbClr val="FFFFFF"/>
                </a:solidFill>
                <a:effectLst/>
                <a:uLnTx/>
                <a:uFillTx/>
                <a:latin typeface="Trebuchet MS" panose="020B0603020202020204" pitchFamily="34" charset="0"/>
                <a:ea typeface="+mn-ea"/>
                <a:cs typeface="Arial" panose="020B0604020202020204" pitchFamily="34" charset="0"/>
              </a:rPr>
            </a:br>
            <a:r>
              <a:rPr kumimoji="0" lang="en-US" sz="1700" b="1" i="0" u="none" strike="noStrike" kern="0" cap="none" spc="0" normalizeH="0" baseline="0" noProof="0">
                <a:ln>
                  <a:noFill/>
                </a:ln>
                <a:solidFill>
                  <a:srgbClr val="FFFFFF"/>
                </a:solidFill>
                <a:effectLst/>
                <a:uLnTx/>
                <a:uFillTx/>
                <a:latin typeface="Trebuchet MS" panose="020B0603020202020204" pitchFamily="34" charset="0"/>
                <a:ea typeface="+mn-ea"/>
                <a:cs typeface="Arial" panose="020B0604020202020204" pitchFamily="34" charset="0"/>
              </a:rPr>
              <a:t>RBQM</a:t>
            </a:r>
          </a:p>
        </p:txBody>
      </p:sp>
      <p:sp>
        <p:nvSpPr>
          <p:cNvPr id="78" name="Shape0_20210701_175842">
            <a:extLst>
              <a:ext uri="{FF2B5EF4-FFF2-40B4-BE49-F238E27FC236}">
                <a16:creationId xmlns:a16="http://schemas.microsoft.com/office/drawing/2014/main" id="{2C165483-77DF-D730-91A8-DC426B504F84}"/>
              </a:ext>
            </a:extLst>
          </p:cNvPr>
          <p:cNvSpPr/>
          <p:nvPr/>
        </p:nvSpPr>
        <p:spPr>
          <a:xfrm>
            <a:off x="8350888" y="1419478"/>
            <a:ext cx="1560846" cy="1560120"/>
          </a:xfrm>
          <a:custGeom>
            <a:avLst/>
            <a:gdLst>
              <a:gd name="connsiteX0" fmla="*/ 0 w 1588432"/>
              <a:gd name="connsiteY0" fmla="*/ 595387 h 1190773"/>
              <a:gd name="connsiteX1" fmla="*/ 794216 w 1588432"/>
              <a:gd name="connsiteY1" fmla="*/ 0 h 1190773"/>
              <a:gd name="connsiteX2" fmla="*/ 1588432 w 1588432"/>
              <a:gd name="connsiteY2" fmla="*/ 595387 h 1190773"/>
              <a:gd name="connsiteX3" fmla="*/ 794216 w 1588432"/>
              <a:gd name="connsiteY3" fmla="*/ 1190774 h 1190773"/>
              <a:gd name="connsiteX4" fmla="*/ 0 w 1588432"/>
              <a:gd name="connsiteY4" fmla="*/ 595387 h 11907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8432" h="1190773">
                <a:moveTo>
                  <a:pt x="0" y="595387"/>
                </a:moveTo>
                <a:cubicBezTo>
                  <a:pt x="0" y="266564"/>
                  <a:pt x="355583" y="0"/>
                  <a:pt x="794216" y="0"/>
                </a:cubicBezTo>
                <a:cubicBezTo>
                  <a:pt x="1232849" y="0"/>
                  <a:pt x="1588432" y="266564"/>
                  <a:pt x="1588432" y="595387"/>
                </a:cubicBezTo>
                <a:cubicBezTo>
                  <a:pt x="1588432" y="924210"/>
                  <a:pt x="1232849" y="1190774"/>
                  <a:pt x="794216" y="1190774"/>
                </a:cubicBezTo>
                <a:cubicBezTo>
                  <a:pt x="355583" y="1190774"/>
                  <a:pt x="0" y="924210"/>
                  <a:pt x="0" y="595387"/>
                </a:cubicBezTo>
                <a:close/>
              </a:path>
            </a:pathLst>
          </a:custGeom>
          <a:solidFill>
            <a:schemeClr val="accent1">
              <a:lumMod val="20000"/>
              <a:lumOff val="80000"/>
            </a:schemeClr>
          </a:solidFill>
          <a:ln w="9525" cap="flat" cmpd="sng" algn="ctr">
            <a:noFill/>
            <a:prstDash val="solid"/>
            <a:miter lim="800000"/>
            <a:headEnd type="none" w="med" len="med"/>
            <a:tailEnd type="none" w="med" len="med"/>
          </a:ln>
          <a:effectLst/>
        </p:spPr>
        <p:txBody>
          <a:bodyPr lIns="45720" tIns="45720" rIns="45720" bIns="45720" anchor="ctr"/>
          <a:lstStyle/>
          <a:p>
            <a:pPr marL="0" marR="0" lvl="0" indent="0" algn="ctr" defTabSz="342891" rtl="0" eaLnBrk="1" fontAlgn="auto" latinLnBrk="0" hangingPunct="1">
              <a:lnSpc>
                <a:spcPct val="100000"/>
              </a:lnSpc>
              <a:spcBef>
                <a:spcPts val="0"/>
              </a:spcBef>
              <a:spcAft>
                <a:spcPts val="0"/>
              </a:spcAft>
              <a:buClrTx/>
              <a:buSzTx/>
              <a:buFontTx/>
              <a:buNone/>
              <a:tabLst/>
              <a:defRPr/>
            </a:pPr>
            <a:r>
              <a:rPr kumimoji="0" lang="en-US" sz="1500" b="0" i="0" u="none" strike="noStrike" kern="0" cap="none" spc="0" normalizeH="0" baseline="0" noProof="0">
                <a:ln>
                  <a:noFill/>
                </a:ln>
                <a:solidFill>
                  <a:srgbClr val="54565B"/>
                </a:solidFill>
                <a:effectLst/>
                <a:uLnTx/>
                <a:uFillTx/>
                <a:latin typeface="Trebuchet MS" panose="020B0603020202020204" pitchFamily="34" charset="0"/>
                <a:ea typeface="+mn-ea"/>
                <a:cs typeface="Arial" panose="020B0604020202020204" pitchFamily="34" charset="0"/>
              </a:rPr>
              <a:t>Increased study quality</a:t>
            </a:r>
          </a:p>
        </p:txBody>
      </p:sp>
      <p:sp>
        <p:nvSpPr>
          <p:cNvPr id="79" name="Shape1_20210701_175842">
            <a:extLst>
              <a:ext uri="{FF2B5EF4-FFF2-40B4-BE49-F238E27FC236}">
                <a16:creationId xmlns:a16="http://schemas.microsoft.com/office/drawing/2014/main" id="{7DCF0568-21B1-3242-84BF-F62DDF773743}"/>
              </a:ext>
            </a:extLst>
          </p:cNvPr>
          <p:cNvSpPr/>
          <p:nvPr/>
        </p:nvSpPr>
        <p:spPr>
          <a:xfrm>
            <a:off x="10249561" y="2347269"/>
            <a:ext cx="1560846" cy="1560120"/>
          </a:xfrm>
          <a:custGeom>
            <a:avLst/>
            <a:gdLst>
              <a:gd name="connsiteX0" fmla="*/ 0 w 1588432"/>
              <a:gd name="connsiteY0" fmla="*/ 595387 h 1190773"/>
              <a:gd name="connsiteX1" fmla="*/ 794216 w 1588432"/>
              <a:gd name="connsiteY1" fmla="*/ 0 h 1190773"/>
              <a:gd name="connsiteX2" fmla="*/ 1588432 w 1588432"/>
              <a:gd name="connsiteY2" fmla="*/ 595387 h 1190773"/>
              <a:gd name="connsiteX3" fmla="*/ 794216 w 1588432"/>
              <a:gd name="connsiteY3" fmla="*/ 1190774 h 1190773"/>
              <a:gd name="connsiteX4" fmla="*/ 0 w 1588432"/>
              <a:gd name="connsiteY4" fmla="*/ 595387 h 11907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8432" h="1190773">
                <a:moveTo>
                  <a:pt x="0" y="595387"/>
                </a:moveTo>
                <a:cubicBezTo>
                  <a:pt x="0" y="266564"/>
                  <a:pt x="355583" y="0"/>
                  <a:pt x="794216" y="0"/>
                </a:cubicBezTo>
                <a:cubicBezTo>
                  <a:pt x="1232849" y="0"/>
                  <a:pt x="1588432" y="266564"/>
                  <a:pt x="1588432" y="595387"/>
                </a:cubicBezTo>
                <a:cubicBezTo>
                  <a:pt x="1588432" y="924210"/>
                  <a:pt x="1232849" y="1190774"/>
                  <a:pt x="794216" y="1190774"/>
                </a:cubicBezTo>
                <a:cubicBezTo>
                  <a:pt x="355583" y="1190774"/>
                  <a:pt x="0" y="924210"/>
                  <a:pt x="0" y="595387"/>
                </a:cubicBezTo>
                <a:close/>
              </a:path>
            </a:pathLst>
          </a:custGeom>
          <a:solidFill>
            <a:schemeClr val="accent1">
              <a:lumMod val="20000"/>
              <a:lumOff val="80000"/>
            </a:schemeClr>
          </a:solidFill>
          <a:ln w="9525" cap="flat" cmpd="sng" algn="ctr">
            <a:noFill/>
            <a:prstDash val="solid"/>
            <a:miter lim="800000"/>
            <a:headEnd type="none" w="med" len="med"/>
            <a:tailEnd type="none" w="med" len="med"/>
          </a:ln>
          <a:effectLst/>
        </p:spPr>
        <p:txBody>
          <a:bodyPr lIns="45720" tIns="45720" rIns="45720" bIns="4572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54565B"/>
                </a:solidFill>
                <a:effectLst/>
                <a:uLnTx/>
                <a:uFillTx/>
                <a:latin typeface="Trebuchet MS" panose="020B0603020202020204" pitchFamily="34" charset="0"/>
                <a:ea typeface="+mn-ea"/>
                <a:cs typeface="+mn-cs"/>
              </a:rPr>
              <a:t>Early ID of Issues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54565B"/>
                </a:solidFill>
                <a:effectLst/>
                <a:uLnTx/>
                <a:uFillTx/>
                <a:latin typeface="Trebuchet MS" panose="020B0603020202020204" pitchFamily="34" charset="0"/>
                <a:ea typeface="+mn-ea"/>
                <a:cs typeface="+mn-cs"/>
              </a:rPr>
              <a:t>Prevents Gaps &amp;</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54565B"/>
                </a:solidFill>
                <a:effectLst/>
                <a:uLnTx/>
                <a:uFillTx/>
                <a:latin typeface="Trebuchet MS" panose="020B0603020202020204" pitchFamily="34" charset="0"/>
                <a:ea typeface="+mn-ea"/>
                <a:cs typeface="+mn-cs"/>
              </a:rPr>
              <a:t>Recurrence</a:t>
            </a:r>
            <a:endParaRPr kumimoji="0" lang="en-US" sz="1500" b="0" i="0" u="none" strike="noStrike" kern="0" cap="none" spc="0" normalizeH="0" baseline="0" noProof="0">
              <a:ln>
                <a:noFill/>
              </a:ln>
              <a:solidFill>
                <a:srgbClr val="54565B"/>
              </a:solidFill>
              <a:effectLst/>
              <a:uLnTx/>
              <a:uFillTx/>
              <a:latin typeface="Trebuchet MS" panose="020B0603020202020204" pitchFamily="34" charset="0"/>
              <a:ea typeface="+mn-ea"/>
              <a:cs typeface="Arial" panose="020B0604020202020204" pitchFamily="34" charset="0"/>
            </a:endParaRPr>
          </a:p>
        </p:txBody>
      </p:sp>
      <p:sp>
        <p:nvSpPr>
          <p:cNvPr id="80" name="Shape2_20210701_175842">
            <a:extLst>
              <a:ext uri="{FF2B5EF4-FFF2-40B4-BE49-F238E27FC236}">
                <a16:creationId xmlns:a16="http://schemas.microsoft.com/office/drawing/2014/main" id="{F31080D5-3E35-9427-5FF9-95C71766B711}"/>
              </a:ext>
            </a:extLst>
          </p:cNvPr>
          <p:cNvSpPr/>
          <p:nvPr/>
        </p:nvSpPr>
        <p:spPr>
          <a:xfrm>
            <a:off x="10249561" y="4202847"/>
            <a:ext cx="1560846" cy="1560120"/>
          </a:xfrm>
          <a:custGeom>
            <a:avLst/>
            <a:gdLst>
              <a:gd name="connsiteX0" fmla="*/ 0 w 1588432"/>
              <a:gd name="connsiteY0" fmla="*/ 595387 h 1190773"/>
              <a:gd name="connsiteX1" fmla="*/ 794216 w 1588432"/>
              <a:gd name="connsiteY1" fmla="*/ 0 h 1190773"/>
              <a:gd name="connsiteX2" fmla="*/ 1588432 w 1588432"/>
              <a:gd name="connsiteY2" fmla="*/ 595387 h 1190773"/>
              <a:gd name="connsiteX3" fmla="*/ 794216 w 1588432"/>
              <a:gd name="connsiteY3" fmla="*/ 1190774 h 1190773"/>
              <a:gd name="connsiteX4" fmla="*/ 0 w 1588432"/>
              <a:gd name="connsiteY4" fmla="*/ 595387 h 11907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8432" h="1190773">
                <a:moveTo>
                  <a:pt x="0" y="595387"/>
                </a:moveTo>
                <a:cubicBezTo>
                  <a:pt x="0" y="266564"/>
                  <a:pt x="355583" y="0"/>
                  <a:pt x="794216" y="0"/>
                </a:cubicBezTo>
                <a:cubicBezTo>
                  <a:pt x="1232849" y="0"/>
                  <a:pt x="1588432" y="266564"/>
                  <a:pt x="1588432" y="595387"/>
                </a:cubicBezTo>
                <a:cubicBezTo>
                  <a:pt x="1588432" y="924210"/>
                  <a:pt x="1232849" y="1190774"/>
                  <a:pt x="794216" y="1190774"/>
                </a:cubicBezTo>
                <a:cubicBezTo>
                  <a:pt x="355583" y="1190774"/>
                  <a:pt x="0" y="924210"/>
                  <a:pt x="0" y="595387"/>
                </a:cubicBezTo>
                <a:close/>
              </a:path>
            </a:pathLst>
          </a:custGeom>
          <a:solidFill>
            <a:schemeClr val="accent1">
              <a:lumMod val="20000"/>
              <a:lumOff val="80000"/>
            </a:schemeClr>
          </a:solidFill>
          <a:ln w="9525" cap="flat" cmpd="sng" algn="ctr">
            <a:noFill/>
            <a:prstDash val="solid"/>
            <a:miter lim="800000"/>
            <a:headEnd type="none" w="med" len="med"/>
            <a:tailEnd type="none" w="med" len="med"/>
          </a:ln>
          <a:effectLst/>
        </p:spPr>
        <p:txBody>
          <a:bodyPr lIns="45720" tIns="45720" rIns="45720" bIns="4572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54565B"/>
                </a:solidFill>
                <a:effectLst/>
                <a:uLnTx/>
                <a:uFillTx/>
                <a:latin typeface="Trebuchet MS" panose="020B0603020202020204" pitchFamily="34" charset="0"/>
                <a:ea typeface="+mn-ea"/>
                <a:cs typeface="+mn-cs"/>
              </a:rPr>
              <a:t>Improved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54565B"/>
                </a:solidFill>
                <a:effectLst/>
                <a:uLnTx/>
                <a:uFillTx/>
                <a:latin typeface="Trebuchet MS" panose="020B0603020202020204" pitchFamily="34" charset="0"/>
                <a:ea typeface="+mn-ea"/>
                <a:cs typeface="+mn-cs"/>
              </a:rPr>
              <a:t>Operational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54565B"/>
                </a:solidFill>
                <a:effectLst/>
                <a:uLnTx/>
                <a:uFillTx/>
                <a:latin typeface="Trebuchet MS" panose="020B0603020202020204" pitchFamily="34" charset="0"/>
                <a:ea typeface="+mn-ea"/>
                <a:cs typeface="+mn-cs"/>
              </a:rPr>
              <a:t>Efficiency</a:t>
            </a:r>
            <a:endParaRPr kumimoji="0" lang="en-US" sz="1500" b="0" i="0" u="none" strike="noStrike" kern="0" cap="none" spc="0" normalizeH="0" baseline="0" noProof="0">
              <a:ln>
                <a:noFill/>
              </a:ln>
              <a:solidFill>
                <a:srgbClr val="54565B"/>
              </a:solidFill>
              <a:effectLst/>
              <a:uLnTx/>
              <a:uFillTx/>
              <a:latin typeface="Trebuchet MS" panose="020B0603020202020204" pitchFamily="34" charset="0"/>
              <a:ea typeface="+mn-ea"/>
              <a:cs typeface="Arial" panose="020B0604020202020204" pitchFamily="34" charset="0"/>
            </a:endParaRPr>
          </a:p>
        </p:txBody>
      </p:sp>
      <p:sp>
        <p:nvSpPr>
          <p:cNvPr id="81" name="Shape3_20210701_175842">
            <a:extLst>
              <a:ext uri="{FF2B5EF4-FFF2-40B4-BE49-F238E27FC236}">
                <a16:creationId xmlns:a16="http://schemas.microsoft.com/office/drawing/2014/main" id="{1C3C1CCC-C79E-0CB9-A49A-D02C6BCE638B}"/>
              </a:ext>
            </a:extLst>
          </p:cNvPr>
          <p:cNvSpPr/>
          <p:nvPr/>
        </p:nvSpPr>
        <p:spPr>
          <a:xfrm>
            <a:off x="8350888" y="5130638"/>
            <a:ext cx="1560846" cy="1560120"/>
          </a:xfrm>
          <a:custGeom>
            <a:avLst/>
            <a:gdLst>
              <a:gd name="connsiteX0" fmla="*/ 0 w 1588432"/>
              <a:gd name="connsiteY0" fmla="*/ 595387 h 1190773"/>
              <a:gd name="connsiteX1" fmla="*/ 794216 w 1588432"/>
              <a:gd name="connsiteY1" fmla="*/ 0 h 1190773"/>
              <a:gd name="connsiteX2" fmla="*/ 1588432 w 1588432"/>
              <a:gd name="connsiteY2" fmla="*/ 595387 h 1190773"/>
              <a:gd name="connsiteX3" fmla="*/ 794216 w 1588432"/>
              <a:gd name="connsiteY3" fmla="*/ 1190774 h 1190773"/>
              <a:gd name="connsiteX4" fmla="*/ 0 w 1588432"/>
              <a:gd name="connsiteY4" fmla="*/ 595387 h 11907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8432" h="1190773">
                <a:moveTo>
                  <a:pt x="0" y="595387"/>
                </a:moveTo>
                <a:cubicBezTo>
                  <a:pt x="0" y="266564"/>
                  <a:pt x="355583" y="0"/>
                  <a:pt x="794216" y="0"/>
                </a:cubicBezTo>
                <a:cubicBezTo>
                  <a:pt x="1232849" y="0"/>
                  <a:pt x="1588432" y="266564"/>
                  <a:pt x="1588432" y="595387"/>
                </a:cubicBezTo>
                <a:cubicBezTo>
                  <a:pt x="1588432" y="924210"/>
                  <a:pt x="1232849" y="1190774"/>
                  <a:pt x="794216" y="1190774"/>
                </a:cubicBezTo>
                <a:cubicBezTo>
                  <a:pt x="355583" y="1190774"/>
                  <a:pt x="0" y="924210"/>
                  <a:pt x="0" y="595387"/>
                </a:cubicBezTo>
                <a:close/>
              </a:path>
            </a:pathLst>
          </a:custGeom>
          <a:solidFill>
            <a:schemeClr val="accent1">
              <a:lumMod val="20000"/>
              <a:lumOff val="80000"/>
            </a:schemeClr>
          </a:solidFill>
          <a:ln w="9525" cap="flat" cmpd="sng" algn="ctr">
            <a:noFill/>
            <a:prstDash val="solid"/>
            <a:miter lim="800000"/>
            <a:headEnd type="none" w="med" len="med"/>
            <a:tailEnd type="none" w="med" len="med"/>
          </a:ln>
          <a:effectLst/>
        </p:spPr>
        <p:txBody>
          <a:bodyPr lIns="45720" tIns="45720" rIns="45720" bIns="4572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54565B"/>
                </a:solidFill>
                <a:effectLst/>
                <a:uLnTx/>
                <a:uFillTx/>
                <a:latin typeface="Trebuchet MS" panose="020B0603020202020204" pitchFamily="34" charset="0"/>
                <a:ea typeface="+mn-ea"/>
                <a:cs typeface="+mn-cs"/>
              </a:rPr>
              <a:t>Alignment </a:t>
            </a:r>
            <a:br>
              <a:rPr kumimoji="0" lang="en-US" sz="1500" b="0" i="0" u="none" strike="noStrike" kern="1200" cap="none" spc="0" normalizeH="0" baseline="0" noProof="0">
                <a:ln>
                  <a:noFill/>
                </a:ln>
                <a:solidFill>
                  <a:srgbClr val="54565B"/>
                </a:solidFill>
                <a:effectLst/>
                <a:uLnTx/>
                <a:uFillTx/>
                <a:latin typeface="Trebuchet MS" panose="020B0603020202020204" pitchFamily="34" charset="0"/>
                <a:ea typeface="+mn-ea"/>
                <a:cs typeface="+mn-cs"/>
              </a:rPr>
            </a:br>
            <a:r>
              <a:rPr kumimoji="0" lang="en-US" sz="1500" b="0" i="0" u="none" strike="noStrike" kern="1200" cap="none" spc="0" normalizeH="0" baseline="0" noProof="0">
                <a:ln>
                  <a:noFill/>
                </a:ln>
                <a:solidFill>
                  <a:srgbClr val="54565B"/>
                </a:solidFill>
                <a:effectLst/>
                <a:uLnTx/>
                <a:uFillTx/>
                <a:latin typeface="Trebuchet MS" panose="020B0603020202020204" pitchFamily="34" charset="0"/>
                <a:ea typeface="+mn-ea"/>
                <a:cs typeface="+mn-cs"/>
              </a:rPr>
              <a:t>to Current &amp; Future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54565B"/>
                </a:solidFill>
                <a:effectLst/>
                <a:uLnTx/>
                <a:uFillTx/>
                <a:latin typeface="Trebuchet MS" panose="020B0603020202020204" pitchFamily="34" charset="0"/>
                <a:ea typeface="+mn-ea"/>
                <a:cs typeface="+mn-cs"/>
              </a:rPr>
              <a:t>Regulatory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54565B"/>
                </a:solidFill>
                <a:effectLst/>
                <a:uLnTx/>
                <a:uFillTx/>
                <a:latin typeface="Trebuchet MS" panose="020B0603020202020204" pitchFamily="34" charset="0"/>
                <a:ea typeface="+mn-ea"/>
                <a:cs typeface="+mn-cs"/>
              </a:rPr>
              <a:t>Expectations</a:t>
            </a:r>
            <a:endParaRPr kumimoji="0" lang="en-US" sz="1500" b="0" i="0" u="none" strike="noStrike" kern="0" cap="none" spc="0" normalizeH="0" baseline="0" noProof="0">
              <a:ln>
                <a:noFill/>
              </a:ln>
              <a:solidFill>
                <a:srgbClr val="54565B"/>
              </a:solidFill>
              <a:effectLst/>
              <a:uLnTx/>
              <a:uFillTx/>
              <a:latin typeface="Trebuchet MS" panose="020B0603020202020204" pitchFamily="34" charset="0"/>
              <a:ea typeface="+mn-ea"/>
              <a:cs typeface="Arial" panose="020B0604020202020204" pitchFamily="34" charset="0"/>
            </a:endParaRPr>
          </a:p>
        </p:txBody>
      </p:sp>
      <p:sp>
        <p:nvSpPr>
          <p:cNvPr id="82" name="Shape4_20210701_175842">
            <a:extLst>
              <a:ext uri="{FF2B5EF4-FFF2-40B4-BE49-F238E27FC236}">
                <a16:creationId xmlns:a16="http://schemas.microsoft.com/office/drawing/2014/main" id="{6C0385F2-167A-0B45-1582-8F024AFCAA1E}"/>
              </a:ext>
            </a:extLst>
          </p:cNvPr>
          <p:cNvSpPr/>
          <p:nvPr/>
        </p:nvSpPr>
        <p:spPr>
          <a:xfrm>
            <a:off x="6452218" y="4202847"/>
            <a:ext cx="1560846" cy="1560120"/>
          </a:xfrm>
          <a:custGeom>
            <a:avLst/>
            <a:gdLst>
              <a:gd name="connsiteX0" fmla="*/ 0 w 1588432"/>
              <a:gd name="connsiteY0" fmla="*/ 595387 h 1190773"/>
              <a:gd name="connsiteX1" fmla="*/ 794216 w 1588432"/>
              <a:gd name="connsiteY1" fmla="*/ 0 h 1190773"/>
              <a:gd name="connsiteX2" fmla="*/ 1588432 w 1588432"/>
              <a:gd name="connsiteY2" fmla="*/ 595387 h 1190773"/>
              <a:gd name="connsiteX3" fmla="*/ 794216 w 1588432"/>
              <a:gd name="connsiteY3" fmla="*/ 1190774 h 1190773"/>
              <a:gd name="connsiteX4" fmla="*/ 0 w 1588432"/>
              <a:gd name="connsiteY4" fmla="*/ 595387 h 11907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8432" h="1190773">
                <a:moveTo>
                  <a:pt x="0" y="595387"/>
                </a:moveTo>
                <a:cubicBezTo>
                  <a:pt x="0" y="266564"/>
                  <a:pt x="355583" y="0"/>
                  <a:pt x="794216" y="0"/>
                </a:cubicBezTo>
                <a:cubicBezTo>
                  <a:pt x="1232849" y="0"/>
                  <a:pt x="1588432" y="266564"/>
                  <a:pt x="1588432" y="595387"/>
                </a:cubicBezTo>
                <a:cubicBezTo>
                  <a:pt x="1588432" y="924210"/>
                  <a:pt x="1232849" y="1190774"/>
                  <a:pt x="794216" y="1190774"/>
                </a:cubicBezTo>
                <a:cubicBezTo>
                  <a:pt x="355583" y="1190774"/>
                  <a:pt x="0" y="924210"/>
                  <a:pt x="0" y="595387"/>
                </a:cubicBezTo>
                <a:close/>
              </a:path>
            </a:pathLst>
          </a:custGeom>
          <a:solidFill>
            <a:schemeClr val="accent1">
              <a:lumMod val="20000"/>
              <a:lumOff val="80000"/>
            </a:schemeClr>
          </a:solidFill>
          <a:ln w="9525" cap="flat" cmpd="sng" algn="ctr">
            <a:noFill/>
            <a:prstDash val="solid"/>
            <a:miter lim="800000"/>
            <a:headEnd type="none" w="med" len="med"/>
            <a:tailEnd type="none" w="med" len="med"/>
          </a:ln>
          <a:effectLst/>
        </p:spPr>
        <p:txBody>
          <a:bodyPr lIns="45720" tIns="45720" rIns="45720" bIns="45720" anchor="ctr"/>
          <a:lstStyle/>
          <a:p>
            <a:pPr marL="0" marR="0" lvl="0" indent="0" algn="ctr" defTabSz="342891" rtl="0" eaLnBrk="1" fontAlgn="auto" latinLnBrk="0" hangingPunct="1">
              <a:lnSpc>
                <a:spcPct val="100000"/>
              </a:lnSpc>
              <a:spcBef>
                <a:spcPts val="0"/>
              </a:spcBef>
              <a:spcAft>
                <a:spcPts val="0"/>
              </a:spcAft>
              <a:buClrTx/>
              <a:buSzTx/>
              <a:buFontTx/>
              <a:buNone/>
              <a:tabLst/>
              <a:defRPr/>
            </a:pPr>
            <a:r>
              <a:rPr kumimoji="0" lang="en-US" sz="1500" b="0" i="0" u="none" strike="noStrike" kern="0" cap="none" spc="0" normalizeH="0" baseline="0" noProof="0">
                <a:ln>
                  <a:noFill/>
                </a:ln>
                <a:solidFill>
                  <a:srgbClr val="54565B"/>
                </a:solidFill>
                <a:effectLst/>
                <a:uLnTx/>
                <a:uFillTx/>
                <a:latin typeface="Trebuchet MS" panose="020B0603020202020204" pitchFamily="34" charset="0"/>
                <a:ea typeface="+mn-ea"/>
                <a:cs typeface="Arial" panose="020B0604020202020204" pitchFamily="34" charset="0"/>
              </a:rPr>
              <a:t>Standardized Tools &amp; Systems</a:t>
            </a:r>
          </a:p>
        </p:txBody>
      </p:sp>
      <p:sp>
        <p:nvSpPr>
          <p:cNvPr id="83" name="Shape5_20210701_175842">
            <a:extLst>
              <a:ext uri="{FF2B5EF4-FFF2-40B4-BE49-F238E27FC236}">
                <a16:creationId xmlns:a16="http://schemas.microsoft.com/office/drawing/2014/main" id="{83F06B4B-ABEA-4523-5EEA-7F3DBFEDF865}"/>
              </a:ext>
            </a:extLst>
          </p:cNvPr>
          <p:cNvSpPr/>
          <p:nvPr/>
        </p:nvSpPr>
        <p:spPr>
          <a:xfrm>
            <a:off x="6452218" y="2347269"/>
            <a:ext cx="1560846" cy="1560120"/>
          </a:xfrm>
          <a:custGeom>
            <a:avLst/>
            <a:gdLst>
              <a:gd name="connsiteX0" fmla="*/ 0 w 1588432"/>
              <a:gd name="connsiteY0" fmla="*/ 595387 h 1190773"/>
              <a:gd name="connsiteX1" fmla="*/ 794216 w 1588432"/>
              <a:gd name="connsiteY1" fmla="*/ 0 h 1190773"/>
              <a:gd name="connsiteX2" fmla="*/ 1588432 w 1588432"/>
              <a:gd name="connsiteY2" fmla="*/ 595387 h 1190773"/>
              <a:gd name="connsiteX3" fmla="*/ 794216 w 1588432"/>
              <a:gd name="connsiteY3" fmla="*/ 1190774 h 1190773"/>
              <a:gd name="connsiteX4" fmla="*/ 0 w 1588432"/>
              <a:gd name="connsiteY4" fmla="*/ 595387 h 11907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8432" h="1190773">
                <a:moveTo>
                  <a:pt x="0" y="595387"/>
                </a:moveTo>
                <a:cubicBezTo>
                  <a:pt x="0" y="266564"/>
                  <a:pt x="355583" y="0"/>
                  <a:pt x="794216" y="0"/>
                </a:cubicBezTo>
                <a:cubicBezTo>
                  <a:pt x="1232849" y="0"/>
                  <a:pt x="1588432" y="266564"/>
                  <a:pt x="1588432" y="595387"/>
                </a:cubicBezTo>
                <a:cubicBezTo>
                  <a:pt x="1588432" y="924210"/>
                  <a:pt x="1232849" y="1190774"/>
                  <a:pt x="794216" y="1190774"/>
                </a:cubicBezTo>
                <a:cubicBezTo>
                  <a:pt x="355583" y="1190774"/>
                  <a:pt x="0" y="924210"/>
                  <a:pt x="0" y="595387"/>
                </a:cubicBezTo>
                <a:close/>
              </a:path>
            </a:pathLst>
          </a:custGeom>
          <a:solidFill>
            <a:schemeClr val="accent1">
              <a:lumMod val="20000"/>
              <a:lumOff val="80000"/>
            </a:schemeClr>
          </a:solidFill>
          <a:ln w="9525" cap="flat" cmpd="sng" algn="ctr">
            <a:noFill/>
            <a:prstDash val="solid"/>
            <a:miter lim="800000"/>
            <a:headEnd type="none" w="med" len="med"/>
            <a:tailEnd type="none" w="med" len="med"/>
          </a:ln>
          <a:effectLst/>
        </p:spPr>
        <p:txBody>
          <a:bodyPr lIns="45720" tIns="45720" rIns="45720" bIns="45720" anchor="ctr"/>
          <a:lstStyle/>
          <a:p>
            <a:pPr marL="0" marR="0" lvl="0" indent="0" algn="ctr" defTabSz="342891" rtl="0" eaLnBrk="1" fontAlgn="auto" latinLnBrk="0" hangingPunct="1">
              <a:lnSpc>
                <a:spcPct val="100000"/>
              </a:lnSpc>
              <a:spcBef>
                <a:spcPts val="0"/>
              </a:spcBef>
              <a:spcAft>
                <a:spcPts val="0"/>
              </a:spcAft>
              <a:buClrTx/>
              <a:buSzTx/>
              <a:buFontTx/>
              <a:buNone/>
              <a:tabLst/>
              <a:defRPr/>
            </a:pPr>
            <a:r>
              <a:rPr kumimoji="0" lang="en-US" sz="1500" b="0" i="0" u="none" strike="noStrike" kern="0" cap="none" spc="0" normalizeH="0" baseline="0" noProof="0">
                <a:ln>
                  <a:noFill/>
                </a:ln>
                <a:solidFill>
                  <a:srgbClr val="54565B"/>
                </a:solidFill>
                <a:effectLst/>
                <a:uLnTx/>
                <a:uFillTx/>
                <a:latin typeface="Trebuchet MS" panose="020B0603020202020204" pitchFamily="34" charset="0"/>
                <a:ea typeface="+mn-ea"/>
                <a:cs typeface="Arial" panose="020B0604020202020204" pitchFamily="34" charset="0"/>
              </a:rPr>
              <a:t>Focuses Resources on Most Impactful Activities</a:t>
            </a:r>
          </a:p>
        </p:txBody>
      </p:sp>
      <p:sp>
        <p:nvSpPr>
          <p:cNvPr id="84" name="Arrow: Pentagon 16">
            <a:extLst>
              <a:ext uri="{FF2B5EF4-FFF2-40B4-BE49-F238E27FC236}">
                <a16:creationId xmlns:a16="http://schemas.microsoft.com/office/drawing/2014/main" id="{A169A4EF-BCD5-D94D-CFE5-066C38F8FA4C}"/>
              </a:ext>
            </a:extLst>
          </p:cNvPr>
          <p:cNvSpPr/>
          <p:nvPr/>
        </p:nvSpPr>
        <p:spPr>
          <a:xfrm>
            <a:off x="288969" y="2623007"/>
            <a:ext cx="6115413" cy="2864222"/>
          </a:xfrm>
          <a:prstGeom prst="homePlate">
            <a:avLst>
              <a:gd name="adj" fmla="val 1233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85" name="Arrow: Pentagon 17">
            <a:extLst>
              <a:ext uri="{FF2B5EF4-FFF2-40B4-BE49-F238E27FC236}">
                <a16:creationId xmlns:a16="http://schemas.microsoft.com/office/drawing/2014/main" id="{0A360018-7D83-0BBF-AA0F-4097C980B557}"/>
              </a:ext>
            </a:extLst>
          </p:cNvPr>
          <p:cNvSpPr/>
          <p:nvPr/>
        </p:nvSpPr>
        <p:spPr>
          <a:xfrm>
            <a:off x="0" y="1566060"/>
            <a:ext cx="6312181" cy="5291939"/>
          </a:xfrm>
          <a:prstGeom prst="homePlate">
            <a:avLst>
              <a:gd name="adj" fmla="val 11961"/>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nvGrpSpPr>
          <p:cNvPr id="86" name="Shape17_20200720_105915">
            <a:extLst>
              <a:ext uri="{FF2B5EF4-FFF2-40B4-BE49-F238E27FC236}">
                <a16:creationId xmlns:a16="http://schemas.microsoft.com/office/drawing/2014/main" id="{445ABD03-05F5-1BD3-4EA1-FD009BA77AFC}"/>
              </a:ext>
            </a:extLst>
          </p:cNvPr>
          <p:cNvGrpSpPr>
            <a:grpSpLocks noChangeAspect="1"/>
          </p:cNvGrpSpPr>
          <p:nvPr/>
        </p:nvGrpSpPr>
        <p:grpSpPr>
          <a:xfrm>
            <a:off x="315900" y="2910331"/>
            <a:ext cx="374298" cy="371929"/>
            <a:chOff x="2982913" y="4452938"/>
            <a:chExt cx="250825" cy="249238"/>
          </a:xfrm>
          <a:solidFill>
            <a:srgbClr val="0033A0"/>
          </a:solidFill>
        </p:grpSpPr>
        <p:sp>
          <p:nvSpPr>
            <p:cNvPr id="87" name="Freeform 1365">
              <a:extLst>
                <a:ext uri="{FF2B5EF4-FFF2-40B4-BE49-F238E27FC236}">
                  <a16:creationId xmlns:a16="http://schemas.microsoft.com/office/drawing/2014/main" id="{95310CA3-2CAF-024C-9715-82633B85E94D}"/>
                </a:ext>
              </a:extLst>
            </p:cNvPr>
            <p:cNvSpPr>
              <a:spLocks noEditPoints="1"/>
            </p:cNvSpPr>
            <p:nvPr/>
          </p:nvSpPr>
          <p:spPr bwMode="auto">
            <a:xfrm>
              <a:off x="3006725" y="4475163"/>
              <a:ext cx="203200" cy="203200"/>
            </a:xfrm>
            <a:custGeom>
              <a:avLst/>
              <a:gdLst>
                <a:gd name="T0" fmla="*/ 231 w 463"/>
                <a:gd name="T1" fmla="*/ 463 h 463"/>
                <a:gd name="T2" fmla="*/ 0 w 463"/>
                <a:gd name="T3" fmla="*/ 232 h 463"/>
                <a:gd name="T4" fmla="*/ 231 w 463"/>
                <a:gd name="T5" fmla="*/ 0 h 463"/>
                <a:gd name="T6" fmla="*/ 463 w 463"/>
                <a:gd name="T7" fmla="*/ 232 h 463"/>
                <a:gd name="T8" fmla="*/ 231 w 463"/>
                <a:gd name="T9" fmla="*/ 463 h 463"/>
                <a:gd name="T10" fmla="*/ 231 w 463"/>
                <a:gd name="T11" fmla="*/ 15 h 463"/>
                <a:gd name="T12" fmla="*/ 14 w 463"/>
                <a:gd name="T13" fmla="*/ 232 h 463"/>
                <a:gd name="T14" fmla="*/ 231 w 463"/>
                <a:gd name="T15" fmla="*/ 449 h 463"/>
                <a:gd name="T16" fmla="*/ 448 w 463"/>
                <a:gd name="T17" fmla="*/ 232 h 463"/>
                <a:gd name="T18" fmla="*/ 231 w 463"/>
                <a:gd name="T19" fmla="*/ 15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3" h="463">
                  <a:moveTo>
                    <a:pt x="231" y="463"/>
                  </a:moveTo>
                  <a:cubicBezTo>
                    <a:pt x="104" y="463"/>
                    <a:pt x="0" y="360"/>
                    <a:pt x="0" y="232"/>
                  </a:cubicBezTo>
                  <a:cubicBezTo>
                    <a:pt x="0" y="104"/>
                    <a:pt x="104" y="0"/>
                    <a:pt x="231" y="0"/>
                  </a:cubicBezTo>
                  <a:cubicBezTo>
                    <a:pt x="359" y="0"/>
                    <a:pt x="463" y="104"/>
                    <a:pt x="463" y="232"/>
                  </a:cubicBezTo>
                  <a:cubicBezTo>
                    <a:pt x="463" y="360"/>
                    <a:pt x="359" y="463"/>
                    <a:pt x="231" y="463"/>
                  </a:cubicBezTo>
                  <a:close/>
                  <a:moveTo>
                    <a:pt x="231" y="15"/>
                  </a:moveTo>
                  <a:cubicBezTo>
                    <a:pt x="112" y="15"/>
                    <a:pt x="14" y="112"/>
                    <a:pt x="14" y="232"/>
                  </a:cubicBezTo>
                  <a:cubicBezTo>
                    <a:pt x="14" y="352"/>
                    <a:pt x="112" y="449"/>
                    <a:pt x="231" y="449"/>
                  </a:cubicBezTo>
                  <a:cubicBezTo>
                    <a:pt x="351" y="449"/>
                    <a:pt x="448" y="352"/>
                    <a:pt x="448" y="232"/>
                  </a:cubicBezTo>
                  <a:cubicBezTo>
                    <a:pt x="448" y="112"/>
                    <a:pt x="351" y="15"/>
                    <a:pt x="231" y="1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54565B"/>
                </a:solidFill>
                <a:effectLst/>
                <a:uLnTx/>
                <a:uFillTx/>
                <a:latin typeface="Arial" panose="020B0604020202020204"/>
                <a:ea typeface="+mn-ea"/>
                <a:cs typeface="+mn-cs"/>
              </a:endParaRPr>
            </a:p>
          </p:txBody>
        </p:sp>
        <p:sp>
          <p:nvSpPr>
            <p:cNvPr id="88" name="Freeform 1366">
              <a:extLst>
                <a:ext uri="{FF2B5EF4-FFF2-40B4-BE49-F238E27FC236}">
                  <a16:creationId xmlns:a16="http://schemas.microsoft.com/office/drawing/2014/main" id="{E4B0B2C1-B910-D8DD-A68A-C1AB893D0C4B}"/>
                </a:ext>
              </a:extLst>
            </p:cNvPr>
            <p:cNvSpPr>
              <a:spLocks noEditPoints="1"/>
            </p:cNvSpPr>
            <p:nvPr/>
          </p:nvSpPr>
          <p:spPr bwMode="auto">
            <a:xfrm>
              <a:off x="3046413" y="4516438"/>
              <a:ext cx="123825" cy="122238"/>
            </a:xfrm>
            <a:custGeom>
              <a:avLst/>
              <a:gdLst>
                <a:gd name="T0" fmla="*/ 140 w 280"/>
                <a:gd name="T1" fmla="*/ 280 h 280"/>
                <a:gd name="T2" fmla="*/ 0 w 280"/>
                <a:gd name="T3" fmla="*/ 140 h 280"/>
                <a:gd name="T4" fmla="*/ 140 w 280"/>
                <a:gd name="T5" fmla="*/ 0 h 280"/>
                <a:gd name="T6" fmla="*/ 280 w 280"/>
                <a:gd name="T7" fmla="*/ 140 h 280"/>
                <a:gd name="T8" fmla="*/ 140 w 280"/>
                <a:gd name="T9" fmla="*/ 280 h 280"/>
                <a:gd name="T10" fmla="*/ 140 w 280"/>
                <a:gd name="T11" fmla="*/ 14 h 280"/>
                <a:gd name="T12" fmla="*/ 15 w 280"/>
                <a:gd name="T13" fmla="*/ 140 h 280"/>
                <a:gd name="T14" fmla="*/ 140 w 280"/>
                <a:gd name="T15" fmla="*/ 265 h 280"/>
                <a:gd name="T16" fmla="*/ 266 w 280"/>
                <a:gd name="T17" fmla="*/ 140 h 280"/>
                <a:gd name="T18" fmla="*/ 140 w 280"/>
                <a:gd name="T19" fmla="*/ 14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0" h="280">
                  <a:moveTo>
                    <a:pt x="140" y="280"/>
                  </a:moveTo>
                  <a:cubicBezTo>
                    <a:pt x="63" y="280"/>
                    <a:pt x="0" y="217"/>
                    <a:pt x="0" y="140"/>
                  </a:cubicBezTo>
                  <a:cubicBezTo>
                    <a:pt x="0" y="63"/>
                    <a:pt x="63" y="0"/>
                    <a:pt x="140" y="0"/>
                  </a:cubicBezTo>
                  <a:cubicBezTo>
                    <a:pt x="218" y="0"/>
                    <a:pt x="280" y="63"/>
                    <a:pt x="280" y="140"/>
                  </a:cubicBezTo>
                  <a:cubicBezTo>
                    <a:pt x="280" y="217"/>
                    <a:pt x="218" y="280"/>
                    <a:pt x="140" y="280"/>
                  </a:cubicBezTo>
                  <a:close/>
                  <a:moveTo>
                    <a:pt x="140" y="14"/>
                  </a:moveTo>
                  <a:cubicBezTo>
                    <a:pt x="71" y="14"/>
                    <a:pt x="15" y="71"/>
                    <a:pt x="15" y="140"/>
                  </a:cubicBezTo>
                  <a:cubicBezTo>
                    <a:pt x="15" y="209"/>
                    <a:pt x="71" y="265"/>
                    <a:pt x="140" y="265"/>
                  </a:cubicBezTo>
                  <a:cubicBezTo>
                    <a:pt x="210" y="265"/>
                    <a:pt x="266" y="209"/>
                    <a:pt x="266" y="140"/>
                  </a:cubicBezTo>
                  <a:cubicBezTo>
                    <a:pt x="266" y="71"/>
                    <a:pt x="210" y="14"/>
                    <a:pt x="140" y="1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54565B"/>
                </a:solidFill>
                <a:effectLst/>
                <a:uLnTx/>
                <a:uFillTx/>
                <a:latin typeface="Arial" panose="020B0604020202020204"/>
                <a:ea typeface="+mn-ea"/>
                <a:cs typeface="+mn-cs"/>
              </a:endParaRPr>
            </a:p>
          </p:txBody>
        </p:sp>
        <p:sp>
          <p:nvSpPr>
            <p:cNvPr id="89" name="Freeform 1367">
              <a:extLst>
                <a:ext uri="{FF2B5EF4-FFF2-40B4-BE49-F238E27FC236}">
                  <a16:creationId xmlns:a16="http://schemas.microsoft.com/office/drawing/2014/main" id="{51FFF56B-6AE5-1CBC-8A93-4C22FBEB9CCE}"/>
                </a:ext>
              </a:extLst>
            </p:cNvPr>
            <p:cNvSpPr>
              <a:spLocks noEditPoints="1"/>
            </p:cNvSpPr>
            <p:nvPr/>
          </p:nvSpPr>
          <p:spPr bwMode="auto">
            <a:xfrm>
              <a:off x="3086100" y="4554538"/>
              <a:ext cx="44450" cy="44450"/>
            </a:xfrm>
            <a:custGeom>
              <a:avLst/>
              <a:gdLst>
                <a:gd name="T0" fmla="*/ 51 w 103"/>
                <a:gd name="T1" fmla="*/ 103 h 103"/>
                <a:gd name="T2" fmla="*/ 0 w 103"/>
                <a:gd name="T3" fmla="*/ 52 h 103"/>
                <a:gd name="T4" fmla="*/ 51 w 103"/>
                <a:gd name="T5" fmla="*/ 0 h 103"/>
                <a:gd name="T6" fmla="*/ 103 w 103"/>
                <a:gd name="T7" fmla="*/ 52 h 103"/>
                <a:gd name="T8" fmla="*/ 51 w 103"/>
                <a:gd name="T9" fmla="*/ 103 h 103"/>
                <a:gd name="T10" fmla="*/ 51 w 103"/>
                <a:gd name="T11" fmla="*/ 15 h 103"/>
                <a:gd name="T12" fmla="*/ 14 w 103"/>
                <a:gd name="T13" fmla="*/ 52 h 103"/>
                <a:gd name="T14" fmla="*/ 51 w 103"/>
                <a:gd name="T15" fmla="*/ 89 h 103"/>
                <a:gd name="T16" fmla="*/ 88 w 103"/>
                <a:gd name="T17" fmla="*/ 52 h 103"/>
                <a:gd name="T18" fmla="*/ 51 w 103"/>
                <a:gd name="T19" fmla="*/ 15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3" h="103">
                  <a:moveTo>
                    <a:pt x="51" y="103"/>
                  </a:moveTo>
                  <a:cubicBezTo>
                    <a:pt x="23" y="103"/>
                    <a:pt x="0" y="80"/>
                    <a:pt x="0" y="52"/>
                  </a:cubicBezTo>
                  <a:cubicBezTo>
                    <a:pt x="0" y="23"/>
                    <a:pt x="23" y="0"/>
                    <a:pt x="51" y="0"/>
                  </a:cubicBezTo>
                  <a:cubicBezTo>
                    <a:pt x="80" y="0"/>
                    <a:pt x="103" y="23"/>
                    <a:pt x="103" y="52"/>
                  </a:cubicBezTo>
                  <a:cubicBezTo>
                    <a:pt x="103" y="80"/>
                    <a:pt x="80" y="103"/>
                    <a:pt x="51" y="103"/>
                  </a:cubicBezTo>
                  <a:close/>
                  <a:moveTo>
                    <a:pt x="51" y="15"/>
                  </a:moveTo>
                  <a:cubicBezTo>
                    <a:pt x="31" y="15"/>
                    <a:pt x="14" y="31"/>
                    <a:pt x="14" y="52"/>
                  </a:cubicBezTo>
                  <a:cubicBezTo>
                    <a:pt x="14" y="72"/>
                    <a:pt x="31" y="89"/>
                    <a:pt x="51" y="89"/>
                  </a:cubicBezTo>
                  <a:cubicBezTo>
                    <a:pt x="72" y="89"/>
                    <a:pt x="88" y="72"/>
                    <a:pt x="88" y="52"/>
                  </a:cubicBezTo>
                  <a:cubicBezTo>
                    <a:pt x="88" y="31"/>
                    <a:pt x="72" y="15"/>
                    <a:pt x="51" y="1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54565B"/>
                </a:solidFill>
                <a:effectLst/>
                <a:uLnTx/>
                <a:uFillTx/>
                <a:latin typeface="Arial" panose="020B0604020202020204"/>
                <a:ea typeface="+mn-ea"/>
                <a:cs typeface="+mn-cs"/>
              </a:endParaRPr>
            </a:p>
          </p:txBody>
        </p:sp>
        <p:sp>
          <p:nvSpPr>
            <p:cNvPr id="90" name="Freeform 1368">
              <a:extLst>
                <a:ext uri="{FF2B5EF4-FFF2-40B4-BE49-F238E27FC236}">
                  <a16:creationId xmlns:a16="http://schemas.microsoft.com/office/drawing/2014/main" id="{A4924B27-70AB-36FB-1463-AFAD365FA494}"/>
                </a:ext>
              </a:extLst>
            </p:cNvPr>
            <p:cNvSpPr>
              <a:spLocks/>
            </p:cNvSpPr>
            <p:nvPr/>
          </p:nvSpPr>
          <p:spPr bwMode="auto">
            <a:xfrm>
              <a:off x="3105150" y="4595813"/>
              <a:ext cx="6350" cy="106363"/>
            </a:xfrm>
            <a:custGeom>
              <a:avLst/>
              <a:gdLst>
                <a:gd name="T0" fmla="*/ 7 w 15"/>
                <a:gd name="T1" fmla="*/ 242 h 242"/>
                <a:gd name="T2" fmla="*/ 0 w 15"/>
                <a:gd name="T3" fmla="*/ 235 h 242"/>
                <a:gd name="T4" fmla="*/ 0 w 15"/>
                <a:gd name="T5" fmla="*/ 8 h 242"/>
                <a:gd name="T6" fmla="*/ 7 w 15"/>
                <a:gd name="T7" fmla="*/ 0 h 242"/>
                <a:gd name="T8" fmla="*/ 15 w 15"/>
                <a:gd name="T9" fmla="*/ 8 h 242"/>
                <a:gd name="T10" fmla="*/ 15 w 15"/>
                <a:gd name="T11" fmla="*/ 235 h 242"/>
                <a:gd name="T12" fmla="*/ 7 w 15"/>
                <a:gd name="T13" fmla="*/ 242 h 242"/>
              </a:gdLst>
              <a:ahLst/>
              <a:cxnLst>
                <a:cxn ang="0">
                  <a:pos x="T0" y="T1"/>
                </a:cxn>
                <a:cxn ang="0">
                  <a:pos x="T2" y="T3"/>
                </a:cxn>
                <a:cxn ang="0">
                  <a:pos x="T4" y="T5"/>
                </a:cxn>
                <a:cxn ang="0">
                  <a:pos x="T6" y="T7"/>
                </a:cxn>
                <a:cxn ang="0">
                  <a:pos x="T8" y="T9"/>
                </a:cxn>
                <a:cxn ang="0">
                  <a:pos x="T10" y="T11"/>
                </a:cxn>
                <a:cxn ang="0">
                  <a:pos x="T12" y="T13"/>
                </a:cxn>
              </a:cxnLst>
              <a:rect l="0" t="0" r="r" b="b"/>
              <a:pathLst>
                <a:path w="15" h="242">
                  <a:moveTo>
                    <a:pt x="7" y="242"/>
                  </a:moveTo>
                  <a:cubicBezTo>
                    <a:pt x="3" y="242"/>
                    <a:pt x="0" y="239"/>
                    <a:pt x="0" y="235"/>
                  </a:cubicBezTo>
                  <a:cubicBezTo>
                    <a:pt x="0" y="8"/>
                    <a:pt x="0" y="8"/>
                    <a:pt x="0" y="8"/>
                  </a:cubicBezTo>
                  <a:cubicBezTo>
                    <a:pt x="0" y="4"/>
                    <a:pt x="3" y="0"/>
                    <a:pt x="7" y="0"/>
                  </a:cubicBezTo>
                  <a:cubicBezTo>
                    <a:pt x="11" y="0"/>
                    <a:pt x="15" y="4"/>
                    <a:pt x="15" y="8"/>
                  </a:cubicBezTo>
                  <a:cubicBezTo>
                    <a:pt x="15" y="235"/>
                    <a:pt x="15" y="235"/>
                    <a:pt x="15" y="235"/>
                  </a:cubicBezTo>
                  <a:cubicBezTo>
                    <a:pt x="15" y="239"/>
                    <a:pt x="11" y="242"/>
                    <a:pt x="7" y="2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54565B"/>
                </a:solidFill>
                <a:effectLst/>
                <a:uLnTx/>
                <a:uFillTx/>
                <a:latin typeface="Arial" panose="020B0604020202020204"/>
                <a:ea typeface="+mn-ea"/>
                <a:cs typeface="+mn-cs"/>
              </a:endParaRPr>
            </a:p>
          </p:txBody>
        </p:sp>
        <p:sp>
          <p:nvSpPr>
            <p:cNvPr id="91" name="Freeform 1369">
              <a:extLst>
                <a:ext uri="{FF2B5EF4-FFF2-40B4-BE49-F238E27FC236}">
                  <a16:creationId xmlns:a16="http://schemas.microsoft.com/office/drawing/2014/main" id="{C9E85C1C-392A-D14D-4780-69BF23A20799}"/>
                </a:ext>
              </a:extLst>
            </p:cNvPr>
            <p:cNvSpPr>
              <a:spLocks/>
            </p:cNvSpPr>
            <p:nvPr/>
          </p:nvSpPr>
          <p:spPr bwMode="auto">
            <a:xfrm>
              <a:off x="3105150" y="4452938"/>
              <a:ext cx="6350" cy="104775"/>
            </a:xfrm>
            <a:custGeom>
              <a:avLst/>
              <a:gdLst>
                <a:gd name="T0" fmla="*/ 7 w 15"/>
                <a:gd name="T1" fmla="*/ 240 h 240"/>
                <a:gd name="T2" fmla="*/ 0 w 15"/>
                <a:gd name="T3" fmla="*/ 233 h 240"/>
                <a:gd name="T4" fmla="*/ 0 w 15"/>
                <a:gd name="T5" fmla="*/ 7 h 240"/>
                <a:gd name="T6" fmla="*/ 7 w 15"/>
                <a:gd name="T7" fmla="*/ 0 h 240"/>
                <a:gd name="T8" fmla="*/ 15 w 15"/>
                <a:gd name="T9" fmla="*/ 7 h 240"/>
                <a:gd name="T10" fmla="*/ 15 w 15"/>
                <a:gd name="T11" fmla="*/ 233 h 240"/>
                <a:gd name="T12" fmla="*/ 7 w 15"/>
                <a:gd name="T13" fmla="*/ 240 h 240"/>
              </a:gdLst>
              <a:ahLst/>
              <a:cxnLst>
                <a:cxn ang="0">
                  <a:pos x="T0" y="T1"/>
                </a:cxn>
                <a:cxn ang="0">
                  <a:pos x="T2" y="T3"/>
                </a:cxn>
                <a:cxn ang="0">
                  <a:pos x="T4" y="T5"/>
                </a:cxn>
                <a:cxn ang="0">
                  <a:pos x="T6" y="T7"/>
                </a:cxn>
                <a:cxn ang="0">
                  <a:pos x="T8" y="T9"/>
                </a:cxn>
                <a:cxn ang="0">
                  <a:pos x="T10" y="T11"/>
                </a:cxn>
                <a:cxn ang="0">
                  <a:pos x="T12" y="T13"/>
                </a:cxn>
              </a:cxnLst>
              <a:rect l="0" t="0" r="r" b="b"/>
              <a:pathLst>
                <a:path w="15" h="240">
                  <a:moveTo>
                    <a:pt x="7" y="240"/>
                  </a:moveTo>
                  <a:cubicBezTo>
                    <a:pt x="3" y="240"/>
                    <a:pt x="0" y="237"/>
                    <a:pt x="0" y="233"/>
                  </a:cubicBezTo>
                  <a:cubicBezTo>
                    <a:pt x="0" y="7"/>
                    <a:pt x="0" y="7"/>
                    <a:pt x="0" y="7"/>
                  </a:cubicBezTo>
                  <a:cubicBezTo>
                    <a:pt x="0" y="3"/>
                    <a:pt x="3" y="0"/>
                    <a:pt x="7" y="0"/>
                  </a:cubicBezTo>
                  <a:cubicBezTo>
                    <a:pt x="11" y="0"/>
                    <a:pt x="15" y="3"/>
                    <a:pt x="15" y="7"/>
                  </a:cubicBezTo>
                  <a:cubicBezTo>
                    <a:pt x="15" y="233"/>
                    <a:pt x="15" y="233"/>
                    <a:pt x="15" y="233"/>
                  </a:cubicBezTo>
                  <a:cubicBezTo>
                    <a:pt x="15" y="237"/>
                    <a:pt x="11" y="240"/>
                    <a:pt x="7" y="2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54565B"/>
                </a:solidFill>
                <a:effectLst/>
                <a:uLnTx/>
                <a:uFillTx/>
                <a:latin typeface="Arial" panose="020B0604020202020204"/>
                <a:ea typeface="+mn-ea"/>
                <a:cs typeface="+mn-cs"/>
              </a:endParaRPr>
            </a:p>
          </p:txBody>
        </p:sp>
        <p:sp>
          <p:nvSpPr>
            <p:cNvPr id="92" name="Freeform 1370">
              <a:extLst>
                <a:ext uri="{FF2B5EF4-FFF2-40B4-BE49-F238E27FC236}">
                  <a16:creationId xmlns:a16="http://schemas.microsoft.com/office/drawing/2014/main" id="{C1DA93EA-78FB-7491-5558-BF7A9404EBD6}"/>
                </a:ext>
              </a:extLst>
            </p:cNvPr>
            <p:cNvSpPr>
              <a:spLocks/>
            </p:cNvSpPr>
            <p:nvPr/>
          </p:nvSpPr>
          <p:spPr bwMode="auto">
            <a:xfrm>
              <a:off x="2982913" y="4573588"/>
              <a:ext cx="106363" cy="6350"/>
            </a:xfrm>
            <a:custGeom>
              <a:avLst/>
              <a:gdLst>
                <a:gd name="T0" fmla="*/ 233 w 240"/>
                <a:gd name="T1" fmla="*/ 14 h 14"/>
                <a:gd name="T2" fmla="*/ 8 w 240"/>
                <a:gd name="T3" fmla="*/ 14 h 14"/>
                <a:gd name="T4" fmla="*/ 0 w 240"/>
                <a:gd name="T5" fmla="*/ 7 h 14"/>
                <a:gd name="T6" fmla="*/ 8 w 240"/>
                <a:gd name="T7" fmla="*/ 0 h 14"/>
                <a:gd name="T8" fmla="*/ 233 w 240"/>
                <a:gd name="T9" fmla="*/ 0 h 14"/>
                <a:gd name="T10" fmla="*/ 240 w 240"/>
                <a:gd name="T11" fmla="*/ 7 h 14"/>
                <a:gd name="T12" fmla="*/ 233 w 240"/>
                <a:gd name="T13" fmla="*/ 14 h 14"/>
              </a:gdLst>
              <a:ahLst/>
              <a:cxnLst>
                <a:cxn ang="0">
                  <a:pos x="T0" y="T1"/>
                </a:cxn>
                <a:cxn ang="0">
                  <a:pos x="T2" y="T3"/>
                </a:cxn>
                <a:cxn ang="0">
                  <a:pos x="T4" y="T5"/>
                </a:cxn>
                <a:cxn ang="0">
                  <a:pos x="T6" y="T7"/>
                </a:cxn>
                <a:cxn ang="0">
                  <a:pos x="T8" y="T9"/>
                </a:cxn>
                <a:cxn ang="0">
                  <a:pos x="T10" y="T11"/>
                </a:cxn>
                <a:cxn ang="0">
                  <a:pos x="T12" y="T13"/>
                </a:cxn>
              </a:cxnLst>
              <a:rect l="0" t="0" r="r" b="b"/>
              <a:pathLst>
                <a:path w="240" h="14">
                  <a:moveTo>
                    <a:pt x="233" y="14"/>
                  </a:moveTo>
                  <a:cubicBezTo>
                    <a:pt x="8" y="14"/>
                    <a:pt x="8" y="14"/>
                    <a:pt x="8" y="14"/>
                  </a:cubicBezTo>
                  <a:cubicBezTo>
                    <a:pt x="4" y="14"/>
                    <a:pt x="0" y="11"/>
                    <a:pt x="0" y="7"/>
                  </a:cubicBezTo>
                  <a:cubicBezTo>
                    <a:pt x="0" y="3"/>
                    <a:pt x="4" y="0"/>
                    <a:pt x="8" y="0"/>
                  </a:cubicBezTo>
                  <a:cubicBezTo>
                    <a:pt x="233" y="0"/>
                    <a:pt x="233" y="0"/>
                    <a:pt x="233" y="0"/>
                  </a:cubicBezTo>
                  <a:cubicBezTo>
                    <a:pt x="237" y="0"/>
                    <a:pt x="240" y="3"/>
                    <a:pt x="240" y="7"/>
                  </a:cubicBezTo>
                  <a:cubicBezTo>
                    <a:pt x="240" y="11"/>
                    <a:pt x="237" y="14"/>
                    <a:pt x="233" y="1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54565B"/>
                </a:solidFill>
                <a:effectLst/>
                <a:uLnTx/>
                <a:uFillTx/>
                <a:latin typeface="Arial" panose="020B0604020202020204"/>
                <a:ea typeface="+mn-ea"/>
                <a:cs typeface="+mn-cs"/>
              </a:endParaRPr>
            </a:p>
          </p:txBody>
        </p:sp>
        <p:sp>
          <p:nvSpPr>
            <p:cNvPr id="93" name="Freeform 1371">
              <a:extLst>
                <a:ext uri="{FF2B5EF4-FFF2-40B4-BE49-F238E27FC236}">
                  <a16:creationId xmlns:a16="http://schemas.microsoft.com/office/drawing/2014/main" id="{D4DA0A1C-C312-6FCE-0B88-36465168D11A}"/>
                </a:ext>
              </a:extLst>
            </p:cNvPr>
            <p:cNvSpPr>
              <a:spLocks/>
            </p:cNvSpPr>
            <p:nvPr/>
          </p:nvSpPr>
          <p:spPr bwMode="auto">
            <a:xfrm>
              <a:off x="3127375" y="4573588"/>
              <a:ext cx="106363" cy="6350"/>
            </a:xfrm>
            <a:custGeom>
              <a:avLst/>
              <a:gdLst>
                <a:gd name="T0" fmla="*/ 234 w 241"/>
                <a:gd name="T1" fmla="*/ 14 h 14"/>
                <a:gd name="T2" fmla="*/ 8 w 241"/>
                <a:gd name="T3" fmla="*/ 14 h 14"/>
                <a:gd name="T4" fmla="*/ 0 w 241"/>
                <a:gd name="T5" fmla="*/ 7 h 14"/>
                <a:gd name="T6" fmla="*/ 8 w 241"/>
                <a:gd name="T7" fmla="*/ 0 h 14"/>
                <a:gd name="T8" fmla="*/ 234 w 241"/>
                <a:gd name="T9" fmla="*/ 0 h 14"/>
                <a:gd name="T10" fmla="*/ 241 w 241"/>
                <a:gd name="T11" fmla="*/ 7 h 14"/>
                <a:gd name="T12" fmla="*/ 234 w 241"/>
                <a:gd name="T13" fmla="*/ 14 h 14"/>
              </a:gdLst>
              <a:ahLst/>
              <a:cxnLst>
                <a:cxn ang="0">
                  <a:pos x="T0" y="T1"/>
                </a:cxn>
                <a:cxn ang="0">
                  <a:pos x="T2" y="T3"/>
                </a:cxn>
                <a:cxn ang="0">
                  <a:pos x="T4" y="T5"/>
                </a:cxn>
                <a:cxn ang="0">
                  <a:pos x="T6" y="T7"/>
                </a:cxn>
                <a:cxn ang="0">
                  <a:pos x="T8" y="T9"/>
                </a:cxn>
                <a:cxn ang="0">
                  <a:pos x="T10" y="T11"/>
                </a:cxn>
                <a:cxn ang="0">
                  <a:pos x="T12" y="T13"/>
                </a:cxn>
              </a:cxnLst>
              <a:rect l="0" t="0" r="r" b="b"/>
              <a:pathLst>
                <a:path w="241" h="14">
                  <a:moveTo>
                    <a:pt x="234" y="14"/>
                  </a:moveTo>
                  <a:cubicBezTo>
                    <a:pt x="8" y="14"/>
                    <a:pt x="8" y="14"/>
                    <a:pt x="8" y="14"/>
                  </a:cubicBezTo>
                  <a:cubicBezTo>
                    <a:pt x="4" y="14"/>
                    <a:pt x="0" y="11"/>
                    <a:pt x="0" y="7"/>
                  </a:cubicBezTo>
                  <a:cubicBezTo>
                    <a:pt x="0" y="3"/>
                    <a:pt x="4" y="0"/>
                    <a:pt x="8" y="0"/>
                  </a:cubicBezTo>
                  <a:cubicBezTo>
                    <a:pt x="234" y="0"/>
                    <a:pt x="234" y="0"/>
                    <a:pt x="234" y="0"/>
                  </a:cubicBezTo>
                  <a:cubicBezTo>
                    <a:pt x="238" y="0"/>
                    <a:pt x="241" y="3"/>
                    <a:pt x="241" y="7"/>
                  </a:cubicBezTo>
                  <a:cubicBezTo>
                    <a:pt x="241" y="11"/>
                    <a:pt x="238" y="14"/>
                    <a:pt x="234" y="1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54565B"/>
                </a:solidFill>
                <a:effectLst/>
                <a:uLnTx/>
                <a:uFillTx/>
                <a:latin typeface="Arial" panose="020B0604020202020204"/>
                <a:ea typeface="+mn-ea"/>
                <a:cs typeface="+mn-cs"/>
              </a:endParaRPr>
            </a:p>
          </p:txBody>
        </p:sp>
      </p:grpSp>
      <p:sp>
        <p:nvSpPr>
          <p:cNvPr id="94" name="Google Shape;613;p65">
            <a:extLst>
              <a:ext uri="{FF2B5EF4-FFF2-40B4-BE49-F238E27FC236}">
                <a16:creationId xmlns:a16="http://schemas.microsoft.com/office/drawing/2014/main" id="{B241088C-84A8-5EB5-EF0D-0B11D1998742}"/>
              </a:ext>
            </a:extLst>
          </p:cNvPr>
          <p:cNvSpPr/>
          <p:nvPr/>
        </p:nvSpPr>
        <p:spPr>
          <a:xfrm>
            <a:off x="310587" y="3905691"/>
            <a:ext cx="384926" cy="421660"/>
          </a:xfrm>
          <a:custGeom>
            <a:avLst/>
            <a:gdLst/>
            <a:ahLst/>
            <a:cxnLst/>
            <a:rect l="l" t="t" r="r" b="b"/>
            <a:pathLst>
              <a:path w="3056" h="3347" extrusionOk="0">
                <a:moveTo>
                  <a:pt x="1680" y="3304"/>
                </a:moveTo>
                <a:cubicBezTo>
                  <a:pt x="1573" y="3264"/>
                  <a:pt x="1560" y="3251"/>
                  <a:pt x="1579" y="3199"/>
                </a:cubicBezTo>
                <a:cubicBezTo>
                  <a:pt x="1591" y="3163"/>
                  <a:pt x="1590" y="3154"/>
                  <a:pt x="1565" y="3128"/>
                </a:cubicBezTo>
                <a:cubicBezTo>
                  <a:pt x="1541" y="3103"/>
                  <a:pt x="1529" y="3100"/>
                  <a:pt x="1489" y="3107"/>
                </a:cubicBezTo>
                <a:cubicBezTo>
                  <a:pt x="1454" y="3113"/>
                  <a:pt x="1435" y="3109"/>
                  <a:pt x="1419" y="3095"/>
                </a:cubicBezTo>
                <a:cubicBezTo>
                  <a:pt x="1401" y="3078"/>
                  <a:pt x="1346" y="3075"/>
                  <a:pt x="1048" y="3072"/>
                </a:cubicBezTo>
                <a:lnTo>
                  <a:pt x="699" y="3069"/>
                </a:lnTo>
                <a:lnTo>
                  <a:pt x="695" y="2928"/>
                </a:lnTo>
                <a:lnTo>
                  <a:pt x="692" y="2788"/>
                </a:lnTo>
                <a:lnTo>
                  <a:pt x="527" y="2785"/>
                </a:lnTo>
                <a:lnTo>
                  <a:pt x="361" y="2781"/>
                </a:lnTo>
                <a:lnTo>
                  <a:pt x="358" y="2647"/>
                </a:lnTo>
                <a:lnTo>
                  <a:pt x="354" y="2512"/>
                </a:lnTo>
                <a:lnTo>
                  <a:pt x="193" y="2512"/>
                </a:lnTo>
                <a:cubicBezTo>
                  <a:pt x="46" y="2512"/>
                  <a:pt x="30" y="2510"/>
                  <a:pt x="18" y="2488"/>
                </a:cubicBezTo>
                <a:cubicBezTo>
                  <a:pt x="2" y="2459"/>
                  <a:pt x="0" y="40"/>
                  <a:pt x="15" y="15"/>
                </a:cubicBezTo>
                <a:cubicBezTo>
                  <a:pt x="23" y="3"/>
                  <a:pt x="215" y="0"/>
                  <a:pt x="931" y="3"/>
                </a:cubicBezTo>
                <a:lnTo>
                  <a:pt x="1836" y="6"/>
                </a:lnTo>
                <a:lnTo>
                  <a:pt x="1840" y="140"/>
                </a:lnTo>
                <a:lnTo>
                  <a:pt x="1843" y="275"/>
                </a:lnTo>
                <a:lnTo>
                  <a:pt x="2003" y="275"/>
                </a:lnTo>
                <a:cubicBezTo>
                  <a:pt x="2110" y="275"/>
                  <a:pt x="2167" y="280"/>
                  <a:pt x="2178" y="290"/>
                </a:cubicBezTo>
                <a:cubicBezTo>
                  <a:pt x="2188" y="300"/>
                  <a:pt x="2193" y="372"/>
                  <a:pt x="2193" y="531"/>
                </a:cubicBezTo>
                <a:lnTo>
                  <a:pt x="2193" y="756"/>
                </a:lnTo>
                <a:lnTo>
                  <a:pt x="2361" y="925"/>
                </a:lnTo>
                <a:lnTo>
                  <a:pt x="2530" y="1093"/>
                </a:lnTo>
                <a:lnTo>
                  <a:pt x="2530" y="1383"/>
                </a:lnTo>
                <a:lnTo>
                  <a:pt x="2530" y="1674"/>
                </a:lnTo>
                <a:lnTo>
                  <a:pt x="2596" y="1677"/>
                </a:lnTo>
                <a:lnTo>
                  <a:pt x="2661" y="1681"/>
                </a:lnTo>
                <a:lnTo>
                  <a:pt x="2665" y="1737"/>
                </a:lnTo>
                <a:cubicBezTo>
                  <a:pt x="2668" y="1789"/>
                  <a:pt x="2673" y="1796"/>
                  <a:pt x="2719" y="1821"/>
                </a:cubicBezTo>
                <a:lnTo>
                  <a:pt x="2770" y="1849"/>
                </a:lnTo>
                <a:lnTo>
                  <a:pt x="2826" y="1817"/>
                </a:lnTo>
                <a:cubicBezTo>
                  <a:pt x="2873" y="1789"/>
                  <a:pt x="2884" y="1787"/>
                  <a:pt x="2898" y="1801"/>
                </a:cubicBezTo>
                <a:cubicBezTo>
                  <a:pt x="2924" y="1830"/>
                  <a:pt x="3043" y="2038"/>
                  <a:pt x="3043" y="2056"/>
                </a:cubicBezTo>
                <a:cubicBezTo>
                  <a:pt x="3043" y="2065"/>
                  <a:pt x="3023" y="2085"/>
                  <a:pt x="2999" y="2100"/>
                </a:cubicBezTo>
                <a:cubicBezTo>
                  <a:pt x="2959" y="2124"/>
                  <a:pt x="2955" y="2132"/>
                  <a:pt x="2955" y="2185"/>
                </a:cubicBezTo>
                <a:cubicBezTo>
                  <a:pt x="2955" y="2240"/>
                  <a:pt x="2958" y="2245"/>
                  <a:pt x="3002" y="2269"/>
                </a:cubicBezTo>
                <a:cubicBezTo>
                  <a:pt x="3029" y="2283"/>
                  <a:pt x="3050" y="2304"/>
                  <a:pt x="3053" y="2320"/>
                </a:cubicBezTo>
                <a:cubicBezTo>
                  <a:pt x="3056" y="2342"/>
                  <a:pt x="2949" y="2547"/>
                  <a:pt x="2916" y="2581"/>
                </a:cubicBezTo>
                <a:cubicBezTo>
                  <a:pt x="2908" y="2589"/>
                  <a:pt x="2887" y="2584"/>
                  <a:pt x="2855" y="2565"/>
                </a:cubicBezTo>
                <a:lnTo>
                  <a:pt x="2805" y="2537"/>
                </a:lnTo>
                <a:lnTo>
                  <a:pt x="2756" y="2568"/>
                </a:lnTo>
                <a:cubicBezTo>
                  <a:pt x="2710" y="2597"/>
                  <a:pt x="2706" y="2604"/>
                  <a:pt x="2703" y="2665"/>
                </a:cubicBezTo>
                <a:lnTo>
                  <a:pt x="2699" y="2731"/>
                </a:lnTo>
                <a:lnTo>
                  <a:pt x="2614" y="2735"/>
                </a:lnTo>
                <a:lnTo>
                  <a:pt x="2530" y="2738"/>
                </a:lnTo>
                <a:lnTo>
                  <a:pt x="2530" y="2887"/>
                </a:lnTo>
                <a:cubicBezTo>
                  <a:pt x="2530" y="2969"/>
                  <a:pt x="2527" y="3044"/>
                  <a:pt x="2522" y="3055"/>
                </a:cubicBezTo>
                <a:cubicBezTo>
                  <a:pt x="2516" y="3072"/>
                  <a:pt x="2490" y="3075"/>
                  <a:pt x="2360" y="3075"/>
                </a:cubicBezTo>
                <a:lnTo>
                  <a:pt x="2205" y="3075"/>
                </a:lnTo>
                <a:lnTo>
                  <a:pt x="2212" y="3104"/>
                </a:lnTo>
                <a:cubicBezTo>
                  <a:pt x="2218" y="3128"/>
                  <a:pt x="2204" y="3145"/>
                  <a:pt x="2128" y="3210"/>
                </a:cubicBezTo>
                <a:cubicBezTo>
                  <a:pt x="2077" y="3252"/>
                  <a:pt x="2027" y="3287"/>
                  <a:pt x="2015" y="3287"/>
                </a:cubicBezTo>
                <a:cubicBezTo>
                  <a:pt x="2004" y="3287"/>
                  <a:pt x="1984" y="3274"/>
                  <a:pt x="1972" y="3257"/>
                </a:cubicBezTo>
                <a:cubicBezTo>
                  <a:pt x="1952" y="3231"/>
                  <a:pt x="1943" y="3227"/>
                  <a:pt x="1906" y="3235"/>
                </a:cubicBezTo>
                <a:cubicBezTo>
                  <a:pt x="1872" y="3242"/>
                  <a:pt x="1860" y="3253"/>
                  <a:pt x="1849" y="3288"/>
                </a:cubicBezTo>
                <a:cubicBezTo>
                  <a:pt x="1830" y="3343"/>
                  <a:pt x="1793" y="3347"/>
                  <a:pt x="1680" y="3304"/>
                </a:cubicBezTo>
                <a:close/>
                <a:moveTo>
                  <a:pt x="1798" y="3214"/>
                </a:moveTo>
                <a:cubicBezTo>
                  <a:pt x="1813" y="3185"/>
                  <a:pt x="1829" y="3176"/>
                  <a:pt x="1892" y="3162"/>
                </a:cubicBezTo>
                <a:cubicBezTo>
                  <a:pt x="1964" y="3147"/>
                  <a:pt x="1970" y="3148"/>
                  <a:pt x="1996" y="3172"/>
                </a:cubicBezTo>
                <a:lnTo>
                  <a:pt x="2024" y="3198"/>
                </a:lnTo>
                <a:lnTo>
                  <a:pt x="2073" y="3156"/>
                </a:lnTo>
                <a:cubicBezTo>
                  <a:pt x="2121" y="3115"/>
                  <a:pt x="2122" y="3114"/>
                  <a:pt x="2101" y="3083"/>
                </a:cubicBezTo>
                <a:cubicBezTo>
                  <a:pt x="2075" y="3044"/>
                  <a:pt x="2075" y="3039"/>
                  <a:pt x="2099" y="2956"/>
                </a:cubicBezTo>
                <a:cubicBezTo>
                  <a:pt x="2116" y="2898"/>
                  <a:pt x="2124" y="2888"/>
                  <a:pt x="2156" y="2881"/>
                </a:cubicBezTo>
                <a:cubicBezTo>
                  <a:pt x="2195" y="2872"/>
                  <a:pt x="2198" y="2859"/>
                  <a:pt x="2182" y="2781"/>
                </a:cubicBezTo>
                <a:cubicBezTo>
                  <a:pt x="2174" y="2747"/>
                  <a:pt x="2169" y="2744"/>
                  <a:pt x="2132" y="2748"/>
                </a:cubicBezTo>
                <a:cubicBezTo>
                  <a:pt x="2097" y="2751"/>
                  <a:pt x="2082" y="2743"/>
                  <a:pt x="2035" y="2698"/>
                </a:cubicBezTo>
                <a:cubicBezTo>
                  <a:pt x="1985" y="2649"/>
                  <a:pt x="1980" y="2639"/>
                  <a:pt x="1987" y="2599"/>
                </a:cubicBezTo>
                <a:cubicBezTo>
                  <a:pt x="1994" y="2556"/>
                  <a:pt x="1992" y="2554"/>
                  <a:pt x="1946" y="2539"/>
                </a:cubicBezTo>
                <a:cubicBezTo>
                  <a:pt x="1920" y="2530"/>
                  <a:pt x="1893" y="2521"/>
                  <a:pt x="1886" y="2518"/>
                </a:cubicBezTo>
                <a:cubicBezTo>
                  <a:pt x="1879" y="2515"/>
                  <a:pt x="1866" y="2532"/>
                  <a:pt x="1857" y="2556"/>
                </a:cubicBezTo>
                <a:cubicBezTo>
                  <a:pt x="1846" y="2585"/>
                  <a:pt x="1833" y="2600"/>
                  <a:pt x="1817" y="2600"/>
                </a:cubicBezTo>
                <a:cubicBezTo>
                  <a:pt x="1804" y="2600"/>
                  <a:pt x="1767" y="2607"/>
                  <a:pt x="1735" y="2615"/>
                </a:cubicBezTo>
                <a:cubicBezTo>
                  <a:pt x="1681" y="2630"/>
                  <a:pt x="1676" y="2629"/>
                  <a:pt x="1654" y="2602"/>
                </a:cubicBezTo>
                <a:lnTo>
                  <a:pt x="1631" y="2573"/>
                </a:lnTo>
                <a:lnTo>
                  <a:pt x="1580" y="2614"/>
                </a:lnTo>
                <a:cubicBezTo>
                  <a:pt x="1553" y="2636"/>
                  <a:pt x="1530" y="2657"/>
                  <a:pt x="1530" y="2660"/>
                </a:cubicBezTo>
                <a:cubicBezTo>
                  <a:pt x="1530" y="2664"/>
                  <a:pt x="1542" y="2679"/>
                  <a:pt x="1556" y="2695"/>
                </a:cubicBezTo>
                <a:lnTo>
                  <a:pt x="1582" y="2722"/>
                </a:lnTo>
                <a:lnTo>
                  <a:pt x="1557" y="2802"/>
                </a:lnTo>
                <a:cubicBezTo>
                  <a:pt x="1536" y="2872"/>
                  <a:pt x="1528" y="2882"/>
                  <a:pt x="1494" y="2892"/>
                </a:cubicBezTo>
                <a:cubicBezTo>
                  <a:pt x="1467" y="2900"/>
                  <a:pt x="1456" y="2910"/>
                  <a:pt x="1460" y="2924"/>
                </a:cubicBezTo>
                <a:cubicBezTo>
                  <a:pt x="1463" y="2935"/>
                  <a:pt x="1469" y="2964"/>
                  <a:pt x="1473" y="2988"/>
                </a:cubicBezTo>
                <a:cubicBezTo>
                  <a:pt x="1480" y="3030"/>
                  <a:pt x="1482" y="3032"/>
                  <a:pt x="1523" y="3027"/>
                </a:cubicBezTo>
                <a:cubicBezTo>
                  <a:pt x="1561" y="3023"/>
                  <a:pt x="1573" y="3029"/>
                  <a:pt x="1618" y="3076"/>
                </a:cubicBezTo>
                <a:cubicBezTo>
                  <a:pt x="1660" y="3121"/>
                  <a:pt x="1668" y="3137"/>
                  <a:pt x="1665" y="3173"/>
                </a:cubicBezTo>
                <a:cubicBezTo>
                  <a:pt x="1662" y="3212"/>
                  <a:pt x="1665" y="3218"/>
                  <a:pt x="1705" y="3232"/>
                </a:cubicBezTo>
                <a:cubicBezTo>
                  <a:pt x="1769" y="3255"/>
                  <a:pt x="1777" y="3254"/>
                  <a:pt x="1798" y="3214"/>
                </a:cubicBezTo>
                <a:close/>
                <a:moveTo>
                  <a:pt x="1730" y="3047"/>
                </a:moveTo>
                <a:cubicBezTo>
                  <a:pt x="1664" y="3002"/>
                  <a:pt x="1640" y="2960"/>
                  <a:pt x="1639" y="2891"/>
                </a:cubicBezTo>
                <a:cubicBezTo>
                  <a:pt x="1637" y="2776"/>
                  <a:pt x="1712" y="2700"/>
                  <a:pt x="1827" y="2700"/>
                </a:cubicBezTo>
                <a:cubicBezTo>
                  <a:pt x="1942" y="2700"/>
                  <a:pt x="2024" y="2787"/>
                  <a:pt x="2014" y="2901"/>
                </a:cubicBezTo>
                <a:cubicBezTo>
                  <a:pt x="2011" y="2933"/>
                  <a:pt x="1997" y="2976"/>
                  <a:pt x="1982" y="2997"/>
                </a:cubicBezTo>
                <a:cubicBezTo>
                  <a:pt x="1927" y="3075"/>
                  <a:pt x="1806" y="3098"/>
                  <a:pt x="1730" y="3047"/>
                </a:cubicBezTo>
                <a:close/>
                <a:moveTo>
                  <a:pt x="1910" y="2961"/>
                </a:moveTo>
                <a:cubicBezTo>
                  <a:pt x="2009" y="2844"/>
                  <a:pt x="1846" y="2696"/>
                  <a:pt x="1741" y="2808"/>
                </a:cubicBezTo>
                <a:cubicBezTo>
                  <a:pt x="1698" y="2854"/>
                  <a:pt x="1701" y="2930"/>
                  <a:pt x="1747" y="2970"/>
                </a:cubicBezTo>
                <a:cubicBezTo>
                  <a:pt x="1799" y="3015"/>
                  <a:pt x="1868" y="3011"/>
                  <a:pt x="1910" y="2961"/>
                </a:cubicBezTo>
                <a:close/>
                <a:moveTo>
                  <a:pt x="1390" y="2928"/>
                </a:moveTo>
                <a:lnTo>
                  <a:pt x="1386" y="2844"/>
                </a:lnTo>
                <a:lnTo>
                  <a:pt x="1430" y="2830"/>
                </a:lnTo>
                <a:cubicBezTo>
                  <a:pt x="1490" y="2810"/>
                  <a:pt x="1509" y="2750"/>
                  <a:pt x="1469" y="2708"/>
                </a:cubicBezTo>
                <a:cubicBezTo>
                  <a:pt x="1455" y="2692"/>
                  <a:pt x="1443" y="2669"/>
                  <a:pt x="1443" y="2655"/>
                </a:cubicBezTo>
                <a:cubicBezTo>
                  <a:pt x="1443" y="2630"/>
                  <a:pt x="1603" y="2487"/>
                  <a:pt x="1631" y="2487"/>
                </a:cubicBezTo>
                <a:cubicBezTo>
                  <a:pt x="1640" y="2487"/>
                  <a:pt x="1662" y="2501"/>
                  <a:pt x="1679" y="2517"/>
                </a:cubicBezTo>
                <a:cubicBezTo>
                  <a:pt x="1725" y="2559"/>
                  <a:pt x="1785" y="2542"/>
                  <a:pt x="1805" y="2482"/>
                </a:cubicBezTo>
                <a:cubicBezTo>
                  <a:pt x="1812" y="2459"/>
                  <a:pt x="1827" y="2436"/>
                  <a:pt x="1836" y="2433"/>
                </a:cubicBezTo>
                <a:cubicBezTo>
                  <a:pt x="1846" y="2429"/>
                  <a:pt x="1904" y="2444"/>
                  <a:pt x="1964" y="2467"/>
                </a:cubicBezTo>
                <a:lnTo>
                  <a:pt x="2074" y="2507"/>
                </a:lnTo>
                <a:lnTo>
                  <a:pt x="2074" y="2565"/>
                </a:lnTo>
                <a:cubicBezTo>
                  <a:pt x="2074" y="2646"/>
                  <a:pt x="2102" y="2674"/>
                  <a:pt x="2174" y="2665"/>
                </a:cubicBezTo>
                <a:cubicBezTo>
                  <a:pt x="2236" y="2658"/>
                  <a:pt x="2230" y="2648"/>
                  <a:pt x="2261" y="2811"/>
                </a:cubicBezTo>
                <a:cubicBezTo>
                  <a:pt x="2270" y="2862"/>
                  <a:pt x="2275" y="2911"/>
                  <a:pt x="2272" y="2919"/>
                </a:cubicBezTo>
                <a:cubicBezTo>
                  <a:pt x="2269" y="2928"/>
                  <a:pt x="2247" y="2938"/>
                  <a:pt x="2224" y="2943"/>
                </a:cubicBezTo>
                <a:cubicBezTo>
                  <a:pt x="2186" y="2950"/>
                  <a:pt x="2168" y="2969"/>
                  <a:pt x="2168" y="3001"/>
                </a:cubicBezTo>
                <a:cubicBezTo>
                  <a:pt x="2168" y="3008"/>
                  <a:pt x="2225" y="3012"/>
                  <a:pt x="2308" y="3010"/>
                </a:cubicBezTo>
                <a:lnTo>
                  <a:pt x="2449" y="3006"/>
                </a:lnTo>
                <a:lnTo>
                  <a:pt x="2452" y="2873"/>
                </a:lnTo>
                <a:lnTo>
                  <a:pt x="2456" y="2739"/>
                </a:lnTo>
                <a:lnTo>
                  <a:pt x="2421" y="2735"/>
                </a:lnTo>
                <a:cubicBezTo>
                  <a:pt x="2389" y="2731"/>
                  <a:pt x="2386" y="2726"/>
                  <a:pt x="2383" y="2675"/>
                </a:cubicBezTo>
                <a:cubicBezTo>
                  <a:pt x="2379" y="2624"/>
                  <a:pt x="2375" y="2616"/>
                  <a:pt x="2329" y="2591"/>
                </a:cubicBezTo>
                <a:lnTo>
                  <a:pt x="2278" y="2563"/>
                </a:lnTo>
                <a:lnTo>
                  <a:pt x="2224" y="2590"/>
                </a:lnTo>
                <a:cubicBezTo>
                  <a:pt x="2195" y="2604"/>
                  <a:pt x="2162" y="2613"/>
                  <a:pt x="2152" y="2609"/>
                </a:cubicBezTo>
                <a:cubicBezTo>
                  <a:pt x="2131" y="2601"/>
                  <a:pt x="2005" y="2384"/>
                  <a:pt x="2005" y="2356"/>
                </a:cubicBezTo>
                <a:cubicBezTo>
                  <a:pt x="2005" y="2345"/>
                  <a:pt x="2025" y="2325"/>
                  <a:pt x="2049" y="2311"/>
                </a:cubicBezTo>
                <a:cubicBezTo>
                  <a:pt x="2088" y="2287"/>
                  <a:pt x="2093" y="2279"/>
                  <a:pt x="2093" y="2230"/>
                </a:cubicBezTo>
                <a:cubicBezTo>
                  <a:pt x="2093" y="2179"/>
                  <a:pt x="2089" y="2173"/>
                  <a:pt x="2042" y="2143"/>
                </a:cubicBezTo>
                <a:cubicBezTo>
                  <a:pt x="2014" y="2126"/>
                  <a:pt x="1989" y="2104"/>
                  <a:pt x="1985" y="2095"/>
                </a:cubicBezTo>
                <a:cubicBezTo>
                  <a:pt x="1978" y="2075"/>
                  <a:pt x="2114" y="1838"/>
                  <a:pt x="2138" y="1829"/>
                </a:cubicBezTo>
                <a:cubicBezTo>
                  <a:pt x="2147" y="1825"/>
                  <a:pt x="2174" y="1834"/>
                  <a:pt x="2197" y="1849"/>
                </a:cubicBezTo>
                <a:lnTo>
                  <a:pt x="2240" y="1876"/>
                </a:lnTo>
                <a:lnTo>
                  <a:pt x="2288" y="1843"/>
                </a:lnTo>
                <a:cubicBezTo>
                  <a:pt x="2331" y="1814"/>
                  <a:pt x="2337" y="1804"/>
                  <a:pt x="2343" y="1746"/>
                </a:cubicBezTo>
                <a:lnTo>
                  <a:pt x="2349" y="1681"/>
                </a:lnTo>
                <a:lnTo>
                  <a:pt x="2399" y="1675"/>
                </a:lnTo>
                <a:lnTo>
                  <a:pt x="2449" y="1669"/>
                </a:lnTo>
                <a:lnTo>
                  <a:pt x="2449" y="1406"/>
                </a:lnTo>
                <a:lnTo>
                  <a:pt x="2449" y="1144"/>
                </a:lnTo>
                <a:lnTo>
                  <a:pt x="2205" y="1137"/>
                </a:lnTo>
                <a:lnTo>
                  <a:pt x="1961" y="1131"/>
                </a:lnTo>
                <a:lnTo>
                  <a:pt x="1958" y="884"/>
                </a:lnTo>
                <a:lnTo>
                  <a:pt x="1955" y="637"/>
                </a:lnTo>
                <a:lnTo>
                  <a:pt x="1361" y="637"/>
                </a:lnTo>
                <a:lnTo>
                  <a:pt x="768" y="637"/>
                </a:lnTo>
                <a:lnTo>
                  <a:pt x="768" y="1825"/>
                </a:lnTo>
                <a:lnTo>
                  <a:pt x="768" y="3012"/>
                </a:lnTo>
                <a:lnTo>
                  <a:pt x="1081" y="3012"/>
                </a:lnTo>
                <a:lnTo>
                  <a:pt x="1394" y="3012"/>
                </a:lnTo>
                <a:lnTo>
                  <a:pt x="1390" y="2928"/>
                </a:lnTo>
                <a:close/>
                <a:moveTo>
                  <a:pt x="897" y="2631"/>
                </a:moveTo>
                <a:cubicBezTo>
                  <a:pt x="893" y="2621"/>
                  <a:pt x="893" y="2604"/>
                  <a:pt x="897" y="2594"/>
                </a:cubicBezTo>
                <a:cubicBezTo>
                  <a:pt x="903" y="2578"/>
                  <a:pt x="941" y="2575"/>
                  <a:pt x="1128" y="2575"/>
                </a:cubicBezTo>
                <a:cubicBezTo>
                  <a:pt x="1362" y="2575"/>
                  <a:pt x="1391" y="2581"/>
                  <a:pt x="1373" y="2630"/>
                </a:cubicBezTo>
                <a:cubicBezTo>
                  <a:pt x="1366" y="2647"/>
                  <a:pt x="1336" y="2650"/>
                  <a:pt x="1135" y="2650"/>
                </a:cubicBezTo>
                <a:cubicBezTo>
                  <a:pt x="941" y="2650"/>
                  <a:pt x="903" y="2647"/>
                  <a:pt x="897" y="2631"/>
                </a:cubicBezTo>
                <a:close/>
                <a:moveTo>
                  <a:pt x="897" y="2194"/>
                </a:moveTo>
                <a:cubicBezTo>
                  <a:pt x="893" y="2183"/>
                  <a:pt x="893" y="2166"/>
                  <a:pt x="897" y="2156"/>
                </a:cubicBezTo>
                <a:cubicBezTo>
                  <a:pt x="903" y="2139"/>
                  <a:pt x="959" y="2137"/>
                  <a:pt x="1327" y="2140"/>
                </a:cubicBezTo>
                <a:lnTo>
                  <a:pt x="1749" y="2144"/>
                </a:lnTo>
                <a:lnTo>
                  <a:pt x="1749" y="2175"/>
                </a:lnTo>
                <a:lnTo>
                  <a:pt x="1749" y="2206"/>
                </a:lnTo>
                <a:lnTo>
                  <a:pt x="1327" y="2209"/>
                </a:lnTo>
                <a:cubicBezTo>
                  <a:pt x="959" y="2212"/>
                  <a:pt x="903" y="2210"/>
                  <a:pt x="897" y="2194"/>
                </a:cubicBezTo>
                <a:close/>
                <a:moveTo>
                  <a:pt x="897" y="1756"/>
                </a:moveTo>
                <a:cubicBezTo>
                  <a:pt x="893" y="1746"/>
                  <a:pt x="893" y="1729"/>
                  <a:pt x="897" y="1718"/>
                </a:cubicBezTo>
                <a:cubicBezTo>
                  <a:pt x="903" y="1702"/>
                  <a:pt x="976" y="1700"/>
                  <a:pt x="1477" y="1703"/>
                </a:cubicBezTo>
                <a:lnTo>
                  <a:pt x="2049" y="1706"/>
                </a:lnTo>
                <a:lnTo>
                  <a:pt x="2049" y="1737"/>
                </a:lnTo>
                <a:lnTo>
                  <a:pt x="2049" y="1769"/>
                </a:lnTo>
                <a:lnTo>
                  <a:pt x="1477" y="1772"/>
                </a:lnTo>
                <a:cubicBezTo>
                  <a:pt x="976" y="1775"/>
                  <a:pt x="903" y="1773"/>
                  <a:pt x="897" y="1756"/>
                </a:cubicBezTo>
                <a:close/>
                <a:moveTo>
                  <a:pt x="908" y="1472"/>
                </a:moveTo>
                <a:cubicBezTo>
                  <a:pt x="897" y="1461"/>
                  <a:pt x="893" y="1371"/>
                  <a:pt x="893" y="1142"/>
                </a:cubicBezTo>
                <a:cubicBezTo>
                  <a:pt x="893" y="867"/>
                  <a:pt x="895" y="827"/>
                  <a:pt x="912" y="820"/>
                </a:cubicBezTo>
                <a:cubicBezTo>
                  <a:pt x="923" y="816"/>
                  <a:pt x="1041" y="812"/>
                  <a:pt x="1174" y="812"/>
                </a:cubicBezTo>
                <a:cubicBezTo>
                  <a:pt x="1377" y="812"/>
                  <a:pt x="1419" y="815"/>
                  <a:pt x="1435" y="832"/>
                </a:cubicBezTo>
                <a:cubicBezTo>
                  <a:pt x="1465" y="861"/>
                  <a:pt x="1465" y="1438"/>
                  <a:pt x="1435" y="1468"/>
                </a:cubicBezTo>
                <a:cubicBezTo>
                  <a:pt x="1419" y="1484"/>
                  <a:pt x="1377" y="1487"/>
                  <a:pt x="1169" y="1487"/>
                </a:cubicBezTo>
                <a:cubicBezTo>
                  <a:pt x="994" y="1487"/>
                  <a:pt x="918" y="1483"/>
                  <a:pt x="908" y="1472"/>
                </a:cubicBezTo>
                <a:close/>
                <a:moveTo>
                  <a:pt x="1380" y="1150"/>
                </a:moveTo>
                <a:lnTo>
                  <a:pt x="1380" y="887"/>
                </a:lnTo>
                <a:lnTo>
                  <a:pt x="1174" y="887"/>
                </a:lnTo>
                <a:lnTo>
                  <a:pt x="968" y="887"/>
                </a:lnTo>
                <a:lnTo>
                  <a:pt x="968" y="1150"/>
                </a:lnTo>
                <a:lnTo>
                  <a:pt x="968" y="1412"/>
                </a:lnTo>
                <a:lnTo>
                  <a:pt x="1174" y="1412"/>
                </a:lnTo>
                <a:lnTo>
                  <a:pt x="1380" y="1412"/>
                </a:lnTo>
                <a:lnTo>
                  <a:pt x="1380" y="1150"/>
                </a:lnTo>
                <a:close/>
                <a:moveTo>
                  <a:pt x="693" y="1645"/>
                </a:moveTo>
                <a:cubicBezTo>
                  <a:pt x="693" y="683"/>
                  <a:pt x="694" y="577"/>
                  <a:pt x="712" y="570"/>
                </a:cubicBezTo>
                <a:cubicBezTo>
                  <a:pt x="723" y="566"/>
                  <a:pt x="1017" y="562"/>
                  <a:pt x="1365" y="562"/>
                </a:cubicBezTo>
                <a:lnTo>
                  <a:pt x="1998" y="562"/>
                </a:lnTo>
                <a:lnTo>
                  <a:pt x="2058" y="621"/>
                </a:lnTo>
                <a:lnTo>
                  <a:pt x="2118" y="680"/>
                </a:lnTo>
                <a:lnTo>
                  <a:pt x="2118" y="515"/>
                </a:lnTo>
                <a:lnTo>
                  <a:pt x="2118" y="350"/>
                </a:lnTo>
                <a:lnTo>
                  <a:pt x="1274" y="350"/>
                </a:lnTo>
                <a:lnTo>
                  <a:pt x="430" y="350"/>
                </a:lnTo>
                <a:lnTo>
                  <a:pt x="430" y="1531"/>
                </a:lnTo>
                <a:lnTo>
                  <a:pt x="430" y="2712"/>
                </a:lnTo>
                <a:lnTo>
                  <a:pt x="561" y="2712"/>
                </a:lnTo>
                <a:lnTo>
                  <a:pt x="693" y="2712"/>
                </a:lnTo>
                <a:lnTo>
                  <a:pt x="693" y="1645"/>
                </a:lnTo>
                <a:close/>
                <a:moveTo>
                  <a:pt x="2630" y="2613"/>
                </a:moveTo>
                <a:cubicBezTo>
                  <a:pt x="2630" y="2558"/>
                  <a:pt x="2631" y="2557"/>
                  <a:pt x="2730" y="2493"/>
                </a:cubicBezTo>
                <a:cubicBezTo>
                  <a:pt x="2796" y="2449"/>
                  <a:pt x="2799" y="2448"/>
                  <a:pt x="2832" y="2468"/>
                </a:cubicBezTo>
                <a:cubicBezTo>
                  <a:pt x="2850" y="2478"/>
                  <a:pt x="2871" y="2487"/>
                  <a:pt x="2878" y="2487"/>
                </a:cubicBezTo>
                <a:cubicBezTo>
                  <a:pt x="2890" y="2487"/>
                  <a:pt x="2968" y="2360"/>
                  <a:pt x="2968" y="2340"/>
                </a:cubicBezTo>
                <a:cubicBezTo>
                  <a:pt x="2968" y="2334"/>
                  <a:pt x="2948" y="2320"/>
                  <a:pt x="2924" y="2309"/>
                </a:cubicBezTo>
                <a:cubicBezTo>
                  <a:pt x="2883" y="2289"/>
                  <a:pt x="2880" y="2284"/>
                  <a:pt x="2880" y="2227"/>
                </a:cubicBezTo>
                <a:cubicBezTo>
                  <a:pt x="2880" y="2193"/>
                  <a:pt x="2877" y="2149"/>
                  <a:pt x="2873" y="2128"/>
                </a:cubicBezTo>
                <a:cubicBezTo>
                  <a:pt x="2866" y="2096"/>
                  <a:pt x="2871" y="2088"/>
                  <a:pt x="2910" y="2065"/>
                </a:cubicBezTo>
                <a:lnTo>
                  <a:pt x="2955" y="2038"/>
                </a:lnTo>
                <a:lnTo>
                  <a:pt x="2912" y="1966"/>
                </a:lnTo>
                <a:cubicBezTo>
                  <a:pt x="2867" y="1891"/>
                  <a:pt x="2861" y="1888"/>
                  <a:pt x="2798" y="1913"/>
                </a:cubicBezTo>
                <a:cubicBezTo>
                  <a:pt x="2764" y="1927"/>
                  <a:pt x="2753" y="1924"/>
                  <a:pt x="2680" y="1886"/>
                </a:cubicBezTo>
                <a:cubicBezTo>
                  <a:pt x="2604" y="1846"/>
                  <a:pt x="2599" y="1840"/>
                  <a:pt x="2595" y="1797"/>
                </a:cubicBezTo>
                <a:lnTo>
                  <a:pt x="2591" y="1750"/>
                </a:lnTo>
                <a:lnTo>
                  <a:pt x="2498" y="1750"/>
                </a:lnTo>
                <a:lnTo>
                  <a:pt x="2405" y="1750"/>
                </a:lnTo>
                <a:lnTo>
                  <a:pt x="2405" y="1803"/>
                </a:lnTo>
                <a:cubicBezTo>
                  <a:pt x="2405" y="1855"/>
                  <a:pt x="2403" y="1859"/>
                  <a:pt x="2327" y="1908"/>
                </a:cubicBezTo>
                <a:lnTo>
                  <a:pt x="2249" y="1960"/>
                </a:lnTo>
                <a:lnTo>
                  <a:pt x="2204" y="1937"/>
                </a:lnTo>
                <a:cubicBezTo>
                  <a:pt x="2159" y="1914"/>
                  <a:pt x="2158" y="1914"/>
                  <a:pt x="2145" y="1941"/>
                </a:cubicBezTo>
                <a:cubicBezTo>
                  <a:pt x="2138" y="1956"/>
                  <a:pt x="2117" y="1992"/>
                  <a:pt x="2099" y="2021"/>
                </a:cubicBezTo>
                <a:lnTo>
                  <a:pt x="2067" y="2074"/>
                </a:lnTo>
                <a:lnTo>
                  <a:pt x="2117" y="2100"/>
                </a:lnTo>
                <a:lnTo>
                  <a:pt x="2168" y="2125"/>
                </a:lnTo>
                <a:lnTo>
                  <a:pt x="2168" y="2225"/>
                </a:lnTo>
                <a:cubicBezTo>
                  <a:pt x="2168" y="2320"/>
                  <a:pt x="2166" y="2325"/>
                  <a:pt x="2133" y="2346"/>
                </a:cubicBezTo>
                <a:cubicBezTo>
                  <a:pt x="2114" y="2358"/>
                  <a:pt x="2097" y="2369"/>
                  <a:pt x="2094" y="2370"/>
                </a:cubicBezTo>
                <a:cubicBezTo>
                  <a:pt x="2091" y="2373"/>
                  <a:pt x="2161" y="2506"/>
                  <a:pt x="2176" y="2524"/>
                </a:cubicBezTo>
                <a:cubicBezTo>
                  <a:pt x="2178" y="2527"/>
                  <a:pt x="2201" y="2518"/>
                  <a:pt x="2227" y="2503"/>
                </a:cubicBezTo>
                <a:lnTo>
                  <a:pt x="2274" y="2478"/>
                </a:lnTo>
                <a:lnTo>
                  <a:pt x="2361" y="2523"/>
                </a:lnTo>
                <a:cubicBezTo>
                  <a:pt x="2444" y="2567"/>
                  <a:pt x="2449" y="2572"/>
                  <a:pt x="2453" y="2616"/>
                </a:cubicBezTo>
                <a:lnTo>
                  <a:pt x="2457" y="2662"/>
                </a:lnTo>
                <a:lnTo>
                  <a:pt x="2543" y="2662"/>
                </a:lnTo>
                <a:lnTo>
                  <a:pt x="2630" y="2662"/>
                </a:lnTo>
                <a:lnTo>
                  <a:pt x="2630" y="2613"/>
                </a:lnTo>
                <a:close/>
                <a:moveTo>
                  <a:pt x="2469" y="2425"/>
                </a:moveTo>
                <a:cubicBezTo>
                  <a:pt x="2416" y="2412"/>
                  <a:pt x="2369" y="2378"/>
                  <a:pt x="2333" y="2325"/>
                </a:cubicBezTo>
                <a:cubicBezTo>
                  <a:pt x="2273" y="2237"/>
                  <a:pt x="2286" y="2128"/>
                  <a:pt x="2366" y="2048"/>
                </a:cubicBezTo>
                <a:cubicBezTo>
                  <a:pt x="2471" y="1944"/>
                  <a:pt x="2630" y="1961"/>
                  <a:pt x="2714" y="2086"/>
                </a:cubicBezTo>
                <a:cubicBezTo>
                  <a:pt x="2746" y="2133"/>
                  <a:pt x="2753" y="2233"/>
                  <a:pt x="2729" y="2296"/>
                </a:cubicBezTo>
                <a:cubicBezTo>
                  <a:pt x="2692" y="2393"/>
                  <a:pt x="2577" y="2450"/>
                  <a:pt x="2469" y="2425"/>
                </a:cubicBezTo>
                <a:close/>
                <a:moveTo>
                  <a:pt x="2584" y="2343"/>
                </a:moveTo>
                <a:cubicBezTo>
                  <a:pt x="2641" y="2316"/>
                  <a:pt x="2672" y="2268"/>
                  <a:pt x="2672" y="2207"/>
                </a:cubicBezTo>
                <a:cubicBezTo>
                  <a:pt x="2672" y="2070"/>
                  <a:pt x="2513" y="2003"/>
                  <a:pt x="2417" y="2099"/>
                </a:cubicBezTo>
                <a:cubicBezTo>
                  <a:pt x="2344" y="2171"/>
                  <a:pt x="2364" y="2295"/>
                  <a:pt x="2455" y="2340"/>
                </a:cubicBezTo>
                <a:cubicBezTo>
                  <a:pt x="2509" y="2367"/>
                  <a:pt x="2534" y="2368"/>
                  <a:pt x="2584" y="2343"/>
                </a:cubicBezTo>
                <a:close/>
                <a:moveTo>
                  <a:pt x="355" y="1371"/>
                </a:moveTo>
                <a:cubicBezTo>
                  <a:pt x="355" y="558"/>
                  <a:pt x="359" y="301"/>
                  <a:pt x="370" y="290"/>
                </a:cubicBezTo>
                <a:cubicBezTo>
                  <a:pt x="381" y="279"/>
                  <a:pt x="555" y="275"/>
                  <a:pt x="1076" y="275"/>
                </a:cubicBezTo>
                <a:lnTo>
                  <a:pt x="1768" y="275"/>
                </a:lnTo>
                <a:lnTo>
                  <a:pt x="1768" y="168"/>
                </a:lnTo>
                <a:lnTo>
                  <a:pt x="1768" y="62"/>
                </a:lnTo>
                <a:lnTo>
                  <a:pt x="927" y="65"/>
                </a:lnTo>
                <a:lnTo>
                  <a:pt x="86" y="69"/>
                </a:lnTo>
                <a:lnTo>
                  <a:pt x="83" y="1237"/>
                </a:lnTo>
                <a:cubicBezTo>
                  <a:pt x="81" y="1880"/>
                  <a:pt x="83" y="2413"/>
                  <a:pt x="86" y="2422"/>
                </a:cubicBezTo>
                <a:cubicBezTo>
                  <a:pt x="90" y="2433"/>
                  <a:pt x="130" y="2437"/>
                  <a:pt x="223" y="2437"/>
                </a:cubicBezTo>
                <a:lnTo>
                  <a:pt x="355" y="2437"/>
                </a:lnTo>
                <a:lnTo>
                  <a:pt x="355" y="1371"/>
                </a:lnTo>
                <a:close/>
                <a:moveTo>
                  <a:pt x="2393" y="1059"/>
                </a:moveTo>
                <a:cubicBezTo>
                  <a:pt x="2393" y="1057"/>
                  <a:pt x="2311" y="974"/>
                  <a:pt x="2211" y="875"/>
                </a:cubicBezTo>
                <a:lnTo>
                  <a:pt x="2030" y="694"/>
                </a:lnTo>
                <a:lnTo>
                  <a:pt x="2030" y="878"/>
                </a:lnTo>
                <a:lnTo>
                  <a:pt x="2030" y="1062"/>
                </a:lnTo>
                <a:lnTo>
                  <a:pt x="2211" y="1062"/>
                </a:lnTo>
                <a:cubicBezTo>
                  <a:pt x="2311" y="1062"/>
                  <a:pt x="2393" y="1061"/>
                  <a:pt x="2393" y="1059"/>
                </a:cubicBezTo>
                <a:close/>
              </a:path>
            </a:pathLst>
          </a:custGeom>
          <a:solidFill>
            <a:srgbClr val="0033A0"/>
          </a:solidFill>
          <a:ln>
            <a:noFill/>
          </a:ln>
        </p:spPr>
        <p:txBody>
          <a:bodyPr spcFirstLastPara="1" wrap="square" lIns="121900" tIns="60933" rIns="121900" bIns="60933"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67" b="0" i="0" u="none" strike="noStrike" kern="1200" cap="none" spc="0" normalizeH="0" baseline="0" noProof="0">
              <a:ln>
                <a:noFill/>
              </a:ln>
              <a:solidFill>
                <a:srgbClr val="000000"/>
              </a:solidFill>
              <a:effectLst/>
              <a:uLnTx/>
              <a:uFillTx/>
              <a:latin typeface="Arial"/>
              <a:ea typeface="Arial"/>
              <a:cs typeface="Arial"/>
              <a:sym typeface="Arial"/>
            </a:endParaRPr>
          </a:p>
        </p:txBody>
      </p:sp>
      <p:grpSp>
        <p:nvGrpSpPr>
          <p:cNvPr id="95" name="Shape15_20200717_142329">
            <a:extLst>
              <a:ext uri="{FF2B5EF4-FFF2-40B4-BE49-F238E27FC236}">
                <a16:creationId xmlns:a16="http://schemas.microsoft.com/office/drawing/2014/main" id="{88A43278-F821-D729-C8A4-2DED35C47BE6}"/>
              </a:ext>
            </a:extLst>
          </p:cNvPr>
          <p:cNvGrpSpPr>
            <a:grpSpLocks noChangeAspect="1"/>
          </p:cNvGrpSpPr>
          <p:nvPr/>
        </p:nvGrpSpPr>
        <p:grpSpPr>
          <a:xfrm>
            <a:off x="315475" y="4719673"/>
            <a:ext cx="375151" cy="372510"/>
            <a:chOff x="-6899275" y="2409826"/>
            <a:chExt cx="225425" cy="223837"/>
          </a:xfrm>
          <a:solidFill>
            <a:srgbClr val="0033A0"/>
          </a:solidFill>
        </p:grpSpPr>
        <p:sp>
          <p:nvSpPr>
            <p:cNvPr id="96" name="Freeform 783">
              <a:extLst>
                <a:ext uri="{FF2B5EF4-FFF2-40B4-BE49-F238E27FC236}">
                  <a16:creationId xmlns:a16="http://schemas.microsoft.com/office/drawing/2014/main" id="{48B76C74-CB22-4119-34EB-FDB73C500C89}"/>
                </a:ext>
              </a:extLst>
            </p:cNvPr>
            <p:cNvSpPr>
              <a:spLocks noEditPoints="1"/>
            </p:cNvSpPr>
            <p:nvPr/>
          </p:nvSpPr>
          <p:spPr bwMode="auto">
            <a:xfrm>
              <a:off x="-6899275" y="2409826"/>
              <a:ext cx="174625" cy="174625"/>
            </a:xfrm>
            <a:custGeom>
              <a:avLst/>
              <a:gdLst>
                <a:gd name="T0" fmla="*/ 73 w 146"/>
                <a:gd name="T1" fmla="*/ 146 h 146"/>
                <a:gd name="T2" fmla="*/ 0 w 146"/>
                <a:gd name="T3" fmla="*/ 73 h 146"/>
                <a:gd name="T4" fmla="*/ 73 w 146"/>
                <a:gd name="T5" fmla="*/ 0 h 146"/>
                <a:gd name="T6" fmla="*/ 146 w 146"/>
                <a:gd name="T7" fmla="*/ 73 h 146"/>
                <a:gd name="T8" fmla="*/ 73 w 146"/>
                <a:gd name="T9" fmla="*/ 146 h 146"/>
                <a:gd name="T10" fmla="*/ 73 w 146"/>
                <a:gd name="T11" fmla="*/ 7 h 146"/>
                <a:gd name="T12" fmla="*/ 7 w 146"/>
                <a:gd name="T13" fmla="*/ 73 h 146"/>
                <a:gd name="T14" fmla="*/ 73 w 146"/>
                <a:gd name="T15" fmla="*/ 139 h 146"/>
                <a:gd name="T16" fmla="*/ 139 w 146"/>
                <a:gd name="T17" fmla="*/ 73 h 146"/>
                <a:gd name="T18" fmla="*/ 73 w 146"/>
                <a:gd name="T19" fmla="*/ 7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6" h="146">
                  <a:moveTo>
                    <a:pt x="73" y="146"/>
                  </a:moveTo>
                  <a:cubicBezTo>
                    <a:pt x="32" y="146"/>
                    <a:pt x="0" y="114"/>
                    <a:pt x="0" y="73"/>
                  </a:cubicBezTo>
                  <a:cubicBezTo>
                    <a:pt x="0" y="33"/>
                    <a:pt x="32" y="0"/>
                    <a:pt x="73" y="0"/>
                  </a:cubicBezTo>
                  <a:cubicBezTo>
                    <a:pt x="113" y="0"/>
                    <a:pt x="146" y="33"/>
                    <a:pt x="146" y="73"/>
                  </a:cubicBezTo>
                  <a:cubicBezTo>
                    <a:pt x="146" y="114"/>
                    <a:pt x="113" y="146"/>
                    <a:pt x="73" y="146"/>
                  </a:cubicBezTo>
                  <a:close/>
                  <a:moveTo>
                    <a:pt x="73" y="7"/>
                  </a:moveTo>
                  <a:cubicBezTo>
                    <a:pt x="36" y="7"/>
                    <a:pt x="7" y="37"/>
                    <a:pt x="7" y="73"/>
                  </a:cubicBezTo>
                  <a:cubicBezTo>
                    <a:pt x="7" y="110"/>
                    <a:pt x="36" y="139"/>
                    <a:pt x="73" y="139"/>
                  </a:cubicBezTo>
                  <a:cubicBezTo>
                    <a:pt x="109" y="139"/>
                    <a:pt x="139" y="110"/>
                    <a:pt x="139" y="73"/>
                  </a:cubicBezTo>
                  <a:cubicBezTo>
                    <a:pt x="139" y="37"/>
                    <a:pt x="109" y="7"/>
                    <a:pt x="73"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54565B"/>
                </a:solidFill>
                <a:effectLst/>
                <a:uLnTx/>
                <a:uFillTx/>
                <a:latin typeface="Arial" panose="020B0604020202020204"/>
                <a:ea typeface="+mn-ea"/>
                <a:cs typeface="+mn-cs"/>
              </a:endParaRPr>
            </a:p>
          </p:txBody>
        </p:sp>
        <p:sp>
          <p:nvSpPr>
            <p:cNvPr id="97" name="Freeform 784">
              <a:extLst>
                <a:ext uri="{FF2B5EF4-FFF2-40B4-BE49-F238E27FC236}">
                  <a16:creationId xmlns:a16="http://schemas.microsoft.com/office/drawing/2014/main" id="{EFC0DD4A-AA25-5570-A702-764F698DDAB1}"/>
                </a:ext>
              </a:extLst>
            </p:cNvPr>
            <p:cNvSpPr>
              <a:spLocks noEditPoints="1"/>
            </p:cNvSpPr>
            <p:nvPr/>
          </p:nvSpPr>
          <p:spPr bwMode="auto">
            <a:xfrm>
              <a:off x="-6765925" y="2544763"/>
              <a:ext cx="92075" cy="88900"/>
            </a:xfrm>
            <a:custGeom>
              <a:avLst/>
              <a:gdLst>
                <a:gd name="T0" fmla="*/ 61 w 77"/>
                <a:gd name="T1" fmla="*/ 75 h 75"/>
                <a:gd name="T2" fmla="*/ 51 w 77"/>
                <a:gd name="T3" fmla="*/ 71 h 75"/>
                <a:gd name="T4" fmla="*/ 51 w 77"/>
                <a:gd name="T5" fmla="*/ 71 h 75"/>
                <a:gd name="T6" fmla="*/ 2 w 77"/>
                <a:gd name="T7" fmla="*/ 21 h 75"/>
                <a:gd name="T8" fmla="*/ 2 w 77"/>
                <a:gd name="T9" fmla="*/ 16 h 75"/>
                <a:gd name="T10" fmla="*/ 17 w 77"/>
                <a:gd name="T11" fmla="*/ 1 h 75"/>
                <a:gd name="T12" fmla="*/ 22 w 77"/>
                <a:gd name="T13" fmla="*/ 1 h 75"/>
                <a:gd name="T14" fmla="*/ 71 w 77"/>
                <a:gd name="T15" fmla="*/ 51 h 75"/>
                <a:gd name="T16" fmla="*/ 71 w 77"/>
                <a:gd name="T17" fmla="*/ 71 h 75"/>
                <a:gd name="T18" fmla="*/ 61 w 77"/>
                <a:gd name="T19" fmla="*/ 75 h 75"/>
                <a:gd name="T20" fmla="*/ 57 w 77"/>
                <a:gd name="T21" fmla="*/ 66 h 75"/>
                <a:gd name="T22" fmla="*/ 66 w 77"/>
                <a:gd name="T23" fmla="*/ 66 h 75"/>
                <a:gd name="T24" fmla="*/ 66 w 77"/>
                <a:gd name="T25" fmla="*/ 56 h 75"/>
                <a:gd name="T26" fmla="*/ 19 w 77"/>
                <a:gd name="T27" fmla="*/ 9 h 75"/>
                <a:gd name="T28" fmla="*/ 9 w 77"/>
                <a:gd name="T29" fmla="*/ 18 h 75"/>
                <a:gd name="T30" fmla="*/ 57 w 77"/>
                <a:gd name="T31" fmla="*/ 66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7" h="75">
                  <a:moveTo>
                    <a:pt x="61" y="75"/>
                  </a:moveTo>
                  <a:cubicBezTo>
                    <a:pt x="58" y="75"/>
                    <a:pt x="54" y="73"/>
                    <a:pt x="51" y="71"/>
                  </a:cubicBezTo>
                  <a:cubicBezTo>
                    <a:pt x="51" y="71"/>
                    <a:pt x="51" y="71"/>
                    <a:pt x="51" y="71"/>
                  </a:cubicBezTo>
                  <a:cubicBezTo>
                    <a:pt x="2" y="21"/>
                    <a:pt x="2" y="21"/>
                    <a:pt x="2" y="21"/>
                  </a:cubicBezTo>
                  <a:cubicBezTo>
                    <a:pt x="0" y="20"/>
                    <a:pt x="0" y="17"/>
                    <a:pt x="2" y="16"/>
                  </a:cubicBezTo>
                  <a:cubicBezTo>
                    <a:pt x="17" y="1"/>
                    <a:pt x="17" y="1"/>
                    <a:pt x="17" y="1"/>
                  </a:cubicBezTo>
                  <a:cubicBezTo>
                    <a:pt x="18" y="0"/>
                    <a:pt x="20" y="0"/>
                    <a:pt x="22" y="1"/>
                  </a:cubicBezTo>
                  <a:cubicBezTo>
                    <a:pt x="71" y="51"/>
                    <a:pt x="71" y="51"/>
                    <a:pt x="71" y="51"/>
                  </a:cubicBezTo>
                  <a:cubicBezTo>
                    <a:pt x="77" y="56"/>
                    <a:pt x="77" y="65"/>
                    <a:pt x="71" y="71"/>
                  </a:cubicBezTo>
                  <a:cubicBezTo>
                    <a:pt x="69" y="73"/>
                    <a:pt x="65" y="75"/>
                    <a:pt x="61" y="75"/>
                  </a:cubicBezTo>
                  <a:close/>
                  <a:moveTo>
                    <a:pt x="57" y="66"/>
                  </a:moveTo>
                  <a:cubicBezTo>
                    <a:pt x="59" y="68"/>
                    <a:pt x="64" y="68"/>
                    <a:pt x="66" y="66"/>
                  </a:cubicBezTo>
                  <a:cubicBezTo>
                    <a:pt x="69" y="63"/>
                    <a:pt x="69" y="59"/>
                    <a:pt x="66" y="56"/>
                  </a:cubicBezTo>
                  <a:cubicBezTo>
                    <a:pt x="19" y="9"/>
                    <a:pt x="19" y="9"/>
                    <a:pt x="19" y="9"/>
                  </a:cubicBezTo>
                  <a:cubicBezTo>
                    <a:pt x="9" y="18"/>
                    <a:pt x="9" y="18"/>
                    <a:pt x="9" y="18"/>
                  </a:cubicBezTo>
                  <a:cubicBezTo>
                    <a:pt x="57" y="66"/>
                    <a:pt x="57" y="66"/>
                    <a:pt x="57" y="6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54565B"/>
                </a:solidFill>
                <a:effectLst/>
                <a:uLnTx/>
                <a:uFillTx/>
                <a:latin typeface="Arial" panose="020B0604020202020204"/>
                <a:ea typeface="+mn-ea"/>
                <a:cs typeface="+mn-cs"/>
              </a:endParaRPr>
            </a:p>
          </p:txBody>
        </p:sp>
        <p:sp>
          <p:nvSpPr>
            <p:cNvPr id="98" name="Freeform 785">
              <a:extLst>
                <a:ext uri="{FF2B5EF4-FFF2-40B4-BE49-F238E27FC236}">
                  <a16:creationId xmlns:a16="http://schemas.microsoft.com/office/drawing/2014/main" id="{4B943DC0-5453-943C-4D6C-783EFCE96964}"/>
                </a:ext>
              </a:extLst>
            </p:cNvPr>
            <p:cNvSpPr>
              <a:spLocks/>
            </p:cNvSpPr>
            <p:nvPr/>
          </p:nvSpPr>
          <p:spPr bwMode="auto">
            <a:xfrm>
              <a:off x="-6869113" y="2439988"/>
              <a:ext cx="60325" cy="61913"/>
            </a:xfrm>
            <a:custGeom>
              <a:avLst/>
              <a:gdLst>
                <a:gd name="T0" fmla="*/ 3 w 51"/>
                <a:gd name="T1" fmla="*/ 52 h 52"/>
                <a:gd name="T2" fmla="*/ 0 w 51"/>
                <a:gd name="T3" fmla="*/ 48 h 52"/>
                <a:gd name="T4" fmla="*/ 48 w 51"/>
                <a:gd name="T5" fmla="*/ 0 h 52"/>
                <a:gd name="T6" fmla="*/ 51 w 51"/>
                <a:gd name="T7" fmla="*/ 4 h 52"/>
                <a:gd name="T8" fmla="*/ 48 w 51"/>
                <a:gd name="T9" fmla="*/ 7 h 52"/>
                <a:gd name="T10" fmla="*/ 7 w 51"/>
                <a:gd name="T11" fmla="*/ 48 h 52"/>
                <a:gd name="T12" fmla="*/ 3 w 51"/>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51" h="52">
                  <a:moveTo>
                    <a:pt x="3" y="52"/>
                  </a:moveTo>
                  <a:cubicBezTo>
                    <a:pt x="1" y="52"/>
                    <a:pt x="0" y="50"/>
                    <a:pt x="0" y="48"/>
                  </a:cubicBezTo>
                  <a:cubicBezTo>
                    <a:pt x="0" y="22"/>
                    <a:pt x="21" y="0"/>
                    <a:pt x="48" y="0"/>
                  </a:cubicBezTo>
                  <a:cubicBezTo>
                    <a:pt x="50" y="0"/>
                    <a:pt x="51" y="2"/>
                    <a:pt x="51" y="4"/>
                  </a:cubicBezTo>
                  <a:cubicBezTo>
                    <a:pt x="51" y="6"/>
                    <a:pt x="50" y="7"/>
                    <a:pt x="48" y="7"/>
                  </a:cubicBezTo>
                  <a:cubicBezTo>
                    <a:pt x="25" y="7"/>
                    <a:pt x="7" y="26"/>
                    <a:pt x="7" y="48"/>
                  </a:cubicBezTo>
                  <a:cubicBezTo>
                    <a:pt x="7" y="50"/>
                    <a:pt x="5" y="52"/>
                    <a:pt x="3" y="5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54565B"/>
                </a:solidFill>
                <a:effectLst/>
                <a:uLnTx/>
                <a:uFillTx/>
                <a:latin typeface="Arial" panose="020B0604020202020204"/>
                <a:ea typeface="+mn-ea"/>
                <a:cs typeface="+mn-cs"/>
              </a:endParaRPr>
            </a:p>
          </p:txBody>
        </p:sp>
      </p:grpSp>
      <p:grpSp>
        <p:nvGrpSpPr>
          <p:cNvPr id="99" name="Group 98">
            <a:extLst>
              <a:ext uri="{FF2B5EF4-FFF2-40B4-BE49-F238E27FC236}">
                <a16:creationId xmlns:a16="http://schemas.microsoft.com/office/drawing/2014/main" id="{E378C203-9C54-9F50-18F7-9AFC574BBBEB}"/>
              </a:ext>
            </a:extLst>
          </p:cNvPr>
          <p:cNvGrpSpPr>
            <a:grpSpLocks noChangeAspect="1"/>
          </p:cNvGrpSpPr>
          <p:nvPr/>
        </p:nvGrpSpPr>
        <p:grpSpPr>
          <a:xfrm>
            <a:off x="343922" y="5540935"/>
            <a:ext cx="318204" cy="308744"/>
            <a:chOff x="15287625" y="2447925"/>
            <a:chExt cx="587375" cy="569913"/>
          </a:xfrm>
          <a:solidFill>
            <a:srgbClr val="0033A0"/>
          </a:solidFill>
        </p:grpSpPr>
        <p:sp>
          <p:nvSpPr>
            <p:cNvPr id="100" name="Freeform 174">
              <a:extLst>
                <a:ext uri="{FF2B5EF4-FFF2-40B4-BE49-F238E27FC236}">
                  <a16:creationId xmlns:a16="http://schemas.microsoft.com/office/drawing/2014/main" id="{034CCEF4-E685-DCE7-A68F-FEB5440F21B1}"/>
                </a:ext>
              </a:extLst>
            </p:cNvPr>
            <p:cNvSpPr>
              <a:spLocks/>
            </p:cNvSpPr>
            <p:nvPr/>
          </p:nvSpPr>
          <p:spPr bwMode="auto">
            <a:xfrm>
              <a:off x="15287625" y="2692400"/>
              <a:ext cx="527050" cy="298450"/>
            </a:xfrm>
            <a:custGeom>
              <a:avLst/>
              <a:gdLst>
                <a:gd name="T0" fmla="*/ 13 w 140"/>
                <a:gd name="T1" fmla="*/ 79 h 79"/>
                <a:gd name="T2" fmla="*/ 2 w 140"/>
                <a:gd name="T3" fmla="*/ 68 h 79"/>
                <a:gd name="T4" fmla="*/ 1 w 140"/>
                <a:gd name="T5" fmla="*/ 61 h 79"/>
                <a:gd name="T6" fmla="*/ 2 w 140"/>
                <a:gd name="T7" fmla="*/ 26 h 79"/>
                <a:gd name="T8" fmla="*/ 46 w 140"/>
                <a:gd name="T9" fmla="*/ 0 h 79"/>
                <a:gd name="T10" fmla="*/ 101 w 140"/>
                <a:gd name="T11" fmla="*/ 0 h 79"/>
                <a:gd name="T12" fmla="*/ 140 w 140"/>
                <a:gd name="T13" fmla="*/ 32 h 79"/>
                <a:gd name="T14" fmla="*/ 140 w 140"/>
                <a:gd name="T15" fmla="*/ 35 h 79"/>
                <a:gd name="T16" fmla="*/ 138 w 140"/>
                <a:gd name="T17" fmla="*/ 37 h 79"/>
                <a:gd name="T18" fmla="*/ 135 w 140"/>
                <a:gd name="T19" fmla="*/ 35 h 79"/>
                <a:gd name="T20" fmla="*/ 135 w 140"/>
                <a:gd name="T21" fmla="*/ 32 h 79"/>
                <a:gd name="T22" fmla="*/ 101 w 140"/>
                <a:gd name="T23" fmla="*/ 5 h 79"/>
                <a:gd name="T24" fmla="*/ 46 w 140"/>
                <a:gd name="T25" fmla="*/ 5 h 79"/>
                <a:gd name="T26" fmla="*/ 7 w 140"/>
                <a:gd name="T27" fmla="*/ 26 h 79"/>
                <a:gd name="T28" fmla="*/ 7 w 140"/>
                <a:gd name="T29" fmla="*/ 61 h 79"/>
                <a:gd name="T30" fmla="*/ 7 w 140"/>
                <a:gd name="T31" fmla="*/ 68 h 79"/>
                <a:gd name="T32" fmla="*/ 13 w 140"/>
                <a:gd name="T33" fmla="*/ 74 h 79"/>
                <a:gd name="T34" fmla="*/ 13 w 140"/>
                <a:gd name="T35" fmla="*/ 74 h 79"/>
                <a:gd name="T36" fmla="*/ 25 w 140"/>
                <a:gd name="T37" fmla="*/ 74 h 79"/>
                <a:gd name="T38" fmla="*/ 31 w 140"/>
                <a:gd name="T39" fmla="*/ 68 h 79"/>
                <a:gd name="T40" fmla="*/ 31 w 140"/>
                <a:gd name="T41" fmla="*/ 47 h 79"/>
                <a:gd name="T42" fmla="*/ 34 w 140"/>
                <a:gd name="T43" fmla="*/ 44 h 79"/>
                <a:gd name="T44" fmla="*/ 36 w 140"/>
                <a:gd name="T45" fmla="*/ 47 h 79"/>
                <a:gd name="T46" fmla="*/ 36 w 140"/>
                <a:gd name="T47" fmla="*/ 69 h 79"/>
                <a:gd name="T48" fmla="*/ 41 w 140"/>
                <a:gd name="T49" fmla="*/ 74 h 79"/>
                <a:gd name="T50" fmla="*/ 100 w 140"/>
                <a:gd name="T51" fmla="*/ 74 h 79"/>
                <a:gd name="T52" fmla="*/ 105 w 140"/>
                <a:gd name="T53" fmla="*/ 71 h 79"/>
                <a:gd name="T54" fmla="*/ 108 w 140"/>
                <a:gd name="T55" fmla="*/ 70 h 79"/>
                <a:gd name="T56" fmla="*/ 110 w 140"/>
                <a:gd name="T57" fmla="*/ 73 h 79"/>
                <a:gd name="T58" fmla="*/ 100 w 140"/>
                <a:gd name="T59" fmla="*/ 79 h 79"/>
                <a:gd name="T60" fmla="*/ 41 w 140"/>
                <a:gd name="T61" fmla="*/ 79 h 79"/>
                <a:gd name="T62" fmla="*/ 33 w 140"/>
                <a:gd name="T63" fmla="*/ 76 h 79"/>
                <a:gd name="T64" fmla="*/ 25 w 140"/>
                <a:gd name="T65" fmla="*/ 79 h 79"/>
                <a:gd name="T66" fmla="*/ 13 w 140"/>
                <a:gd name="T67" fmla="*/ 79 h 79"/>
                <a:gd name="T68" fmla="*/ 13 w 140"/>
                <a:gd name="T69" fmla="*/ 7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40" h="79">
                  <a:moveTo>
                    <a:pt x="13" y="79"/>
                  </a:moveTo>
                  <a:cubicBezTo>
                    <a:pt x="7" y="79"/>
                    <a:pt x="2" y="74"/>
                    <a:pt x="2" y="68"/>
                  </a:cubicBezTo>
                  <a:cubicBezTo>
                    <a:pt x="2" y="66"/>
                    <a:pt x="2" y="64"/>
                    <a:pt x="1" y="61"/>
                  </a:cubicBezTo>
                  <a:cubicBezTo>
                    <a:pt x="1" y="49"/>
                    <a:pt x="0" y="37"/>
                    <a:pt x="2" y="26"/>
                  </a:cubicBezTo>
                  <a:cubicBezTo>
                    <a:pt x="7" y="3"/>
                    <a:pt x="27" y="0"/>
                    <a:pt x="46" y="0"/>
                  </a:cubicBezTo>
                  <a:cubicBezTo>
                    <a:pt x="101" y="0"/>
                    <a:pt x="101" y="0"/>
                    <a:pt x="101" y="0"/>
                  </a:cubicBezTo>
                  <a:cubicBezTo>
                    <a:pt x="125" y="0"/>
                    <a:pt x="139" y="12"/>
                    <a:pt x="140" y="32"/>
                  </a:cubicBezTo>
                  <a:cubicBezTo>
                    <a:pt x="140" y="33"/>
                    <a:pt x="140" y="34"/>
                    <a:pt x="140" y="35"/>
                  </a:cubicBezTo>
                  <a:cubicBezTo>
                    <a:pt x="140" y="36"/>
                    <a:pt x="139" y="37"/>
                    <a:pt x="138" y="37"/>
                  </a:cubicBezTo>
                  <a:cubicBezTo>
                    <a:pt x="136" y="37"/>
                    <a:pt x="135" y="36"/>
                    <a:pt x="135" y="35"/>
                  </a:cubicBezTo>
                  <a:cubicBezTo>
                    <a:pt x="135" y="34"/>
                    <a:pt x="135" y="33"/>
                    <a:pt x="135" y="32"/>
                  </a:cubicBezTo>
                  <a:cubicBezTo>
                    <a:pt x="134" y="7"/>
                    <a:pt x="111" y="5"/>
                    <a:pt x="101" y="5"/>
                  </a:cubicBezTo>
                  <a:cubicBezTo>
                    <a:pt x="46" y="5"/>
                    <a:pt x="46" y="5"/>
                    <a:pt x="46" y="5"/>
                  </a:cubicBezTo>
                  <a:cubicBezTo>
                    <a:pt x="28" y="5"/>
                    <a:pt x="11" y="7"/>
                    <a:pt x="7" y="26"/>
                  </a:cubicBezTo>
                  <a:cubicBezTo>
                    <a:pt x="5" y="37"/>
                    <a:pt x="6" y="49"/>
                    <a:pt x="7" y="61"/>
                  </a:cubicBezTo>
                  <a:cubicBezTo>
                    <a:pt x="7" y="63"/>
                    <a:pt x="7" y="65"/>
                    <a:pt x="7" y="68"/>
                  </a:cubicBezTo>
                  <a:cubicBezTo>
                    <a:pt x="7" y="71"/>
                    <a:pt x="10" y="74"/>
                    <a:pt x="13" y="74"/>
                  </a:cubicBezTo>
                  <a:cubicBezTo>
                    <a:pt x="13" y="74"/>
                    <a:pt x="13" y="74"/>
                    <a:pt x="13" y="74"/>
                  </a:cubicBezTo>
                  <a:cubicBezTo>
                    <a:pt x="25" y="74"/>
                    <a:pt x="25" y="74"/>
                    <a:pt x="25" y="74"/>
                  </a:cubicBezTo>
                  <a:cubicBezTo>
                    <a:pt x="28" y="74"/>
                    <a:pt x="31" y="71"/>
                    <a:pt x="31" y="68"/>
                  </a:cubicBezTo>
                  <a:cubicBezTo>
                    <a:pt x="31" y="47"/>
                    <a:pt x="31" y="47"/>
                    <a:pt x="31" y="47"/>
                  </a:cubicBezTo>
                  <a:cubicBezTo>
                    <a:pt x="31" y="45"/>
                    <a:pt x="32" y="44"/>
                    <a:pt x="34" y="44"/>
                  </a:cubicBezTo>
                  <a:cubicBezTo>
                    <a:pt x="35" y="44"/>
                    <a:pt x="36" y="45"/>
                    <a:pt x="36" y="47"/>
                  </a:cubicBezTo>
                  <a:cubicBezTo>
                    <a:pt x="36" y="69"/>
                    <a:pt x="36" y="69"/>
                    <a:pt x="36" y="69"/>
                  </a:cubicBezTo>
                  <a:cubicBezTo>
                    <a:pt x="36" y="72"/>
                    <a:pt x="39" y="74"/>
                    <a:pt x="41" y="74"/>
                  </a:cubicBezTo>
                  <a:cubicBezTo>
                    <a:pt x="100" y="74"/>
                    <a:pt x="100" y="74"/>
                    <a:pt x="100" y="74"/>
                  </a:cubicBezTo>
                  <a:cubicBezTo>
                    <a:pt x="102" y="74"/>
                    <a:pt x="104" y="73"/>
                    <a:pt x="105" y="71"/>
                  </a:cubicBezTo>
                  <a:cubicBezTo>
                    <a:pt x="106" y="70"/>
                    <a:pt x="107" y="69"/>
                    <a:pt x="108" y="70"/>
                  </a:cubicBezTo>
                  <a:cubicBezTo>
                    <a:pt x="110" y="70"/>
                    <a:pt x="111" y="72"/>
                    <a:pt x="110" y="73"/>
                  </a:cubicBezTo>
                  <a:cubicBezTo>
                    <a:pt x="108" y="77"/>
                    <a:pt x="104" y="79"/>
                    <a:pt x="100" y="79"/>
                  </a:cubicBezTo>
                  <a:cubicBezTo>
                    <a:pt x="41" y="79"/>
                    <a:pt x="41" y="79"/>
                    <a:pt x="41" y="79"/>
                  </a:cubicBezTo>
                  <a:cubicBezTo>
                    <a:pt x="38" y="79"/>
                    <a:pt x="35" y="78"/>
                    <a:pt x="33" y="76"/>
                  </a:cubicBezTo>
                  <a:cubicBezTo>
                    <a:pt x="31" y="78"/>
                    <a:pt x="28" y="79"/>
                    <a:pt x="25" y="79"/>
                  </a:cubicBezTo>
                  <a:cubicBezTo>
                    <a:pt x="13" y="79"/>
                    <a:pt x="13" y="79"/>
                    <a:pt x="13" y="79"/>
                  </a:cubicBezTo>
                  <a:cubicBezTo>
                    <a:pt x="13" y="79"/>
                    <a:pt x="13" y="79"/>
                    <a:pt x="13" y="7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54565B"/>
                </a:solidFill>
                <a:effectLst/>
                <a:uLnTx/>
                <a:uFillTx/>
                <a:latin typeface="Arial" panose="020B0604020202020204"/>
                <a:ea typeface="+mn-ea"/>
                <a:cs typeface="+mn-cs"/>
              </a:endParaRPr>
            </a:p>
          </p:txBody>
        </p:sp>
        <p:sp>
          <p:nvSpPr>
            <p:cNvPr id="101" name="Freeform 175">
              <a:extLst>
                <a:ext uri="{FF2B5EF4-FFF2-40B4-BE49-F238E27FC236}">
                  <a16:creationId xmlns:a16="http://schemas.microsoft.com/office/drawing/2014/main" id="{6D7FA209-28A0-5720-C873-31D21138C8FD}"/>
                </a:ext>
              </a:extLst>
            </p:cNvPr>
            <p:cNvSpPr>
              <a:spLocks noEditPoints="1"/>
            </p:cNvSpPr>
            <p:nvPr/>
          </p:nvSpPr>
          <p:spPr bwMode="auto">
            <a:xfrm>
              <a:off x="15452725" y="2447925"/>
              <a:ext cx="207963" cy="207963"/>
            </a:xfrm>
            <a:custGeom>
              <a:avLst/>
              <a:gdLst>
                <a:gd name="T0" fmla="*/ 27 w 55"/>
                <a:gd name="T1" fmla="*/ 55 h 55"/>
                <a:gd name="T2" fmla="*/ 0 w 55"/>
                <a:gd name="T3" fmla="*/ 28 h 55"/>
                <a:gd name="T4" fmla="*/ 27 w 55"/>
                <a:gd name="T5" fmla="*/ 0 h 55"/>
                <a:gd name="T6" fmla="*/ 55 w 55"/>
                <a:gd name="T7" fmla="*/ 28 h 55"/>
                <a:gd name="T8" fmla="*/ 27 w 55"/>
                <a:gd name="T9" fmla="*/ 55 h 55"/>
                <a:gd name="T10" fmla="*/ 27 w 55"/>
                <a:gd name="T11" fmla="*/ 6 h 55"/>
                <a:gd name="T12" fmla="*/ 5 w 55"/>
                <a:gd name="T13" fmla="*/ 28 h 55"/>
                <a:gd name="T14" fmla="*/ 27 w 55"/>
                <a:gd name="T15" fmla="*/ 50 h 55"/>
                <a:gd name="T16" fmla="*/ 49 w 55"/>
                <a:gd name="T17" fmla="*/ 28 h 55"/>
                <a:gd name="T18" fmla="*/ 27 w 55"/>
                <a:gd name="T19" fmla="*/ 6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5" h="55">
                  <a:moveTo>
                    <a:pt x="27" y="55"/>
                  </a:moveTo>
                  <a:cubicBezTo>
                    <a:pt x="12" y="55"/>
                    <a:pt x="0" y="43"/>
                    <a:pt x="0" y="28"/>
                  </a:cubicBezTo>
                  <a:cubicBezTo>
                    <a:pt x="0" y="13"/>
                    <a:pt x="12" y="0"/>
                    <a:pt x="27" y="0"/>
                  </a:cubicBezTo>
                  <a:cubicBezTo>
                    <a:pt x="42" y="0"/>
                    <a:pt x="55" y="13"/>
                    <a:pt x="55" y="28"/>
                  </a:cubicBezTo>
                  <a:cubicBezTo>
                    <a:pt x="54" y="43"/>
                    <a:pt x="42" y="55"/>
                    <a:pt x="27" y="55"/>
                  </a:cubicBezTo>
                  <a:close/>
                  <a:moveTo>
                    <a:pt x="27" y="6"/>
                  </a:moveTo>
                  <a:cubicBezTo>
                    <a:pt x="15" y="6"/>
                    <a:pt x="5" y="15"/>
                    <a:pt x="5" y="28"/>
                  </a:cubicBezTo>
                  <a:cubicBezTo>
                    <a:pt x="5" y="40"/>
                    <a:pt x="15" y="50"/>
                    <a:pt x="27" y="50"/>
                  </a:cubicBezTo>
                  <a:cubicBezTo>
                    <a:pt x="39" y="50"/>
                    <a:pt x="49" y="40"/>
                    <a:pt x="49" y="28"/>
                  </a:cubicBezTo>
                  <a:cubicBezTo>
                    <a:pt x="49" y="15"/>
                    <a:pt x="39" y="6"/>
                    <a:pt x="2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54565B"/>
                </a:solidFill>
                <a:effectLst/>
                <a:uLnTx/>
                <a:uFillTx/>
                <a:latin typeface="Arial" panose="020B0604020202020204"/>
                <a:ea typeface="+mn-ea"/>
                <a:cs typeface="+mn-cs"/>
              </a:endParaRPr>
            </a:p>
          </p:txBody>
        </p:sp>
        <p:sp>
          <p:nvSpPr>
            <p:cNvPr id="102" name="Freeform 176">
              <a:extLst>
                <a:ext uri="{FF2B5EF4-FFF2-40B4-BE49-F238E27FC236}">
                  <a16:creationId xmlns:a16="http://schemas.microsoft.com/office/drawing/2014/main" id="{7F846066-B5B3-88AF-1470-7A1563E1C099}"/>
                </a:ext>
              </a:extLst>
            </p:cNvPr>
            <p:cNvSpPr>
              <a:spLocks noEditPoints="1"/>
            </p:cNvSpPr>
            <p:nvPr/>
          </p:nvSpPr>
          <p:spPr bwMode="auto">
            <a:xfrm>
              <a:off x="15668625" y="2809875"/>
              <a:ext cx="206375" cy="207963"/>
            </a:xfrm>
            <a:custGeom>
              <a:avLst/>
              <a:gdLst>
                <a:gd name="T0" fmla="*/ 28 w 55"/>
                <a:gd name="T1" fmla="*/ 55 h 55"/>
                <a:gd name="T2" fmla="*/ 0 w 55"/>
                <a:gd name="T3" fmla="*/ 27 h 55"/>
                <a:gd name="T4" fmla="*/ 28 w 55"/>
                <a:gd name="T5" fmla="*/ 0 h 55"/>
                <a:gd name="T6" fmla="*/ 55 w 55"/>
                <a:gd name="T7" fmla="*/ 27 h 55"/>
                <a:gd name="T8" fmla="*/ 28 w 55"/>
                <a:gd name="T9" fmla="*/ 55 h 55"/>
                <a:gd name="T10" fmla="*/ 28 w 55"/>
                <a:gd name="T11" fmla="*/ 6 h 55"/>
                <a:gd name="T12" fmla="*/ 5 w 55"/>
                <a:gd name="T13" fmla="*/ 28 h 55"/>
                <a:gd name="T14" fmla="*/ 28 w 55"/>
                <a:gd name="T15" fmla="*/ 50 h 55"/>
                <a:gd name="T16" fmla="*/ 50 w 55"/>
                <a:gd name="T17" fmla="*/ 28 h 55"/>
                <a:gd name="T18" fmla="*/ 28 w 55"/>
                <a:gd name="T19" fmla="*/ 6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5" h="55">
                  <a:moveTo>
                    <a:pt x="28" y="55"/>
                  </a:moveTo>
                  <a:cubicBezTo>
                    <a:pt x="13" y="55"/>
                    <a:pt x="0" y="42"/>
                    <a:pt x="0" y="27"/>
                  </a:cubicBezTo>
                  <a:cubicBezTo>
                    <a:pt x="0" y="13"/>
                    <a:pt x="13" y="0"/>
                    <a:pt x="28" y="0"/>
                  </a:cubicBezTo>
                  <a:cubicBezTo>
                    <a:pt x="42" y="0"/>
                    <a:pt x="55" y="13"/>
                    <a:pt x="55" y="27"/>
                  </a:cubicBezTo>
                  <a:cubicBezTo>
                    <a:pt x="55" y="43"/>
                    <a:pt x="42" y="55"/>
                    <a:pt x="28" y="55"/>
                  </a:cubicBezTo>
                  <a:close/>
                  <a:moveTo>
                    <a:pt x="28" y="6"/>
                  </a:moveTo>
                  <a:cubicBezTo>
                    <a:pt x="15" y="6"/>
                    <a:pt x="5" y="16"/>
                    <a:pt x="5" y="28"/>
                  </a:cubicBezTo>
                  <a:cubicBezTo>
                    <a:pt x="5" y="40"/>
                    <a:pt x="15" y="50"/>
                    <a:pt x="28" y="50"/>
                  </a:cubicBezTo>
                  <a:cubicBezTo>
                    <a:pt x="40" y="50"/>
                    <a:pt x="50" y="40"/>
                    <a:pt x="50" y="28"/>
                  </a:cubicBezTo>
                  <a:cubicBezTo>
                    <a:pt x="49" y="16"/>
                    <a:pt x="40" y="6"/>
                    <a:pt x="2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54565B"/>
                </a:solidFill>
                <a:effectLst/>
                <a:uLnTx/>
                <a:uFillTx/>
                <a:latin typeface="Arial" panose="020B0604020202020204"/>
                <a:ea typeface="+mn-ea"/>
                <a:cs typeface="+mn-cs"/>
              </a:endParaRPr>
            </a:p>
          </p:txBody>
        </p:sp>
        <p:sp>
          <p:nvSpPr>
            <p:cNvPr id="103" name="Freeform 177">
              <a:extLst>
                <a:ext uri="{FF2B5EF4-FFF2-40B4-BE49-F238E27FC236}">
                  <a16:creationId xmlns:a16="http://schemas.microsoft.com/office/drawing/2014/main" id="{4DFE99EA-E57E-240C-96F3-389177A2ED30}"/>
                </a:ext>
              </a:extLst>
            </p:cNvPr>
            <p:cNvSpPr>
              <a:spLocks/>
            </p:cNvSpPr>
            <p:nvPr/>
          </p:nvSpPr>
          <p:spPr bwMode="auto">
            <a:xfrm>
              <a:off x="15762288" y="2859088"/>
              <a:ext cx="19050" cy="109538"/>
            </a:xfrm>
            <a:custGeom>
              <a:avLst/>
              <a:gdLst>
                <a:gd name="T0" fmla="*/ 3 w 5"/>
                <a:gd name="T1" fmla="*/ 29 h 29"/>
                <a:gd name="T2" fmla="*/ 0 w 5"/>
                <a:gd name="T3" fmla="*/ 26 h 29"/>
                <a:gd name="T4" fmla="*/ 0 w 5"/>
                <a:gd name="T5" fmla="*/ 3 h 29"/>
                <a:gd name="T6" fmla="*/ 3 w 5"/>
                <a:gd name="T7" fmla="*/ 0 h 29"/>
                <a:gd name="T8" fmla="*/ 5 w 5"/>
                <a:gd name="T9" fmla="*/ 3 h 29"/>
                <a:gd name="T10" fmla="*/ 5 w 5"/>
                <a:gd name="T11" fmla="*/ 26 h 29"/>
                <a:gd name="T12" fmla="*/ 3 w 5"/>
                <a:gd name="T13" fmla="*/ 29 h 29"/>
              </a:gdLst>
              <a:ahLst/>
              <a:cxnLst>
                <a:cxn ang="0">
                  <a:pos x="T0" y="T1"/>
                </a:cxn>
                <a:cxn ang="0">
                  <a:pos x="T2" y="T3"/>
                </a:cxn>
                <a:cxn ang="0">
                  <a:pos x="T4" y="T5"/>
                </a:cxn>
                <a:cxn ang="0">
                  <a:pos x="T6" y="T7"/>
                </a:cxn>
                <a:cxn ang="0">
                  <a:pos x="T8" y="T9"/>
                </a:cxn>
                <a:cxn ang="0">
                  <a:pos x="T10" y="T11"/>
                </a:cxn>
                <a:cxn ang="0">
                  <a:pos x="T12" y="T13"/>
                </a:cxn>
              </a:cxnLst>
              <a:rect l="0" t="0" r="r" b="b"/>
              <a:pathLst>
                <a:path w="5" h="29">
                  <a:moveTo>
                    <a:pt x="3" y="29"/>
                  </a:moveTo>
                  <a:cubicBezTo>
                    <a:pt x="1" y="29"/>
                    <a:pt x="0" y="28"/>
                    <a:pt x="0" y="26"/>
                  </a:cubicBezTo>
                  <a:cubicBezTo>
                    <a:pt x="0" y="3"/>
                    <a:pt x="0" y="3"/>
                    <a:pt x="0" y="3"/>
                  </a:cubicBezTo>
                  <a:cubicBezTo>
                    <a:pt x="0" y="1"/>
                    <a:pt x="1" y="0"/>
                    <a:pt x="3" y="0"/>
                  </a:cubicBezTo>
                  <a:cubicBezTo>
                    <a:pt x="4" y="0"/>
                    <a:pt x="5" y="1"/>
                    <a:pt x="5" y="3"/>
                  </a:cubicBezTo>
                  <a:cubicBezTo>
                    <a:pt x="5" y="26"/>
                    <a:pt x="5" y="26"/>
                    <a:pt x="5" y="26"/>
                  </a:cubicBezTo>
                  <a:cubicBezTo>
                    <a:pt x="5" y="28"/>
                    <a:pt x="4" y="29"/>
                    <a:pt x="3"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54565B"/>
                </a:solidFill>
                <a:effectLst/>
                <a:uLnTx/>
                <a:uFillTx/>
                <a:latin typeface="Arial" panose="020B0604020202020204"/>
                <a:ea typeface="+mn-ea"/>
                <a:cs typeface="+mn-cs"/>
              </a:endParaRPr>
            </a:p>
          </p:txBody>
        </p:sp>
        <p:sp>
          <p:nvSpPr>
            <p:cNvPr id="104" name="Freeform 178">
              <a:extLst>
                <a:ext uri="{FF2B5EF4-FFF2-40B4-BE49-F238E27FC236}">
                  <a16:creationId xmlns:a16="http://schemas.microsoft.com/office/drawing/2014/main" id="{B95765A4-02B3-DCBB-6D9D-49AFECE92389}"/>
                </a:ext>
              </a:extLst>
            </p:cNvPr>
            <p:cNvSpPr>
              <a:spLocks/>
            </p:cNvSpPr>
            <p:nvPr/>
          </p:nvSpPr>
          <p:spPr bwMode="auto">
            <a:xfrm>
              <a:off x="15717838" y="2905125"/>
              <a:ext cx="107950" cy="17463"/>
            </a:xfrm>
            <a:custGeom>
              <a:avLst/>
              <a:gdLst>
                <a:gd name="T0" fmla="*/ 27 w 29"/>
                <a:gd name="T1" fmla="*/ 5 h 5"/>
                <a:gd name="T2" fmla="*/ 3 w 29"/>
                <a:gd name="T3" fmla="*/ 5 h 5"/>
                <a:gd name="T4" fmla="*/ 0 w 29"/>
                <a:gd name="T5" fmla="*/ 2 h 5"/>
                <a:gd name="T6" fmla="*/ 3 w 29"/>
                <a:gd name="T7" fmla="*/ 0 h 5"/>
                <a:gd name="T8" fmla="*/ 27 w 29"/>
                <a:gd name="T9" fmla="*/ 0 h 5"/>
                <a:gd name="T10" fmla="*/ 29 w 29"/>
                <a:gd name="T11" fmla="*/ 2 h 5"/>
                <a:gd name="T12" fmla="*/ 27 w 29"/>
                <a:gd name="T13" fmla="*/ 5 h 5"/>
              </a:gdLst>
              <a:ahLst/>
              <a:cxnLst>
                <a:cxn ang="0">
                  <a:pos x="T0" y="T1"/>
                </a:cxn>
                <a:cxn ang="0">
                  <a:pos x="T2" y="T3"/>
                </a:cxn>
                <a:cxn ang="0">
                  <a:pos x="T4" y="T5"/>
                </a:cxn>
                <a:cxn ang="0">
                  <a:pos x="T6" y="T7"/>
                </a:cxn>
                <a:cxn ang="0">
                  <a:pos x="T8" y="T9"/>
                </a:cxn>
                <a:cxn ang="0">
                  <a:pos x="T10" y="T11"/>
                </a:cxn>
                <a:cxn ang="0">
                  <a:pos x="T12" y="T13"/>
                </a:cxn>
              </a:cxnLst>
              <a:rect l="0" t="0" r="r" b="b"/>
              <a:pathLst>
                <a:path w="29" h="5">
                  <a:moveTo>
                    <a:pt x="27" y="5"/>
                  </a:moveTo>
                  <a:cubicBezTo>
                    <a:pt x="3" y="5"/>
                    <a:pt x="3" y="5"/>
                    <a:pt x="3" y="5"/>
                  </a:cubicBezTo>
                  <a:cubicBezTo>
                    <a:pt x="1" y="5"/>
                    <a:pt x="0" y="4"/>
                    <a:pt x="0" y="2"/>
                  </a:cubicBezTo>
                  <a:cubicBezTo>
                    <a:pt x="0" y="1"/>
                    <a:pt x="1" y="0"/>
                    <a:pt x="3" y="0"/>
                  </a:cubicBezTo>
                  <a:cubicBezTo>
                    <a:pt x="27" y="0"/>
                    <a:pt x="27" y="0"/>
                    <a:pt x="27" y="0"/>
                  </a:cubicBezTo>
                  <a:cubicBezTo>
                    <a:pt x="28" y="0"/>
                    <a:pt x="29" y="1"/>
                    <a:pt x="29" y="2"/>
                  </a:cubicBezTo>
                  <a:cubicBezTo>
                    <a:pt x="29" y="4"/>
                    <a:pt x="28" y="5"/>
                    <a:pt x="2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54565B"/>
                </a:solidFill>
                <a:effectLst/>
                <a:uLnTx/>
                <a:uFillTx/>
                <a:latin typeface="Arial" panose="020B0604020202020204"/>
                <a:ea typeface="+mn-ea"/>
                <a:cs typeface="+mn-cs"/>
              </a:endParaRPr>
            </a:p>
          </p:txBody>
        </p:sp>
      </p:grpSp>
      <p:sp>
        <p:nvSpPr>
          <p:cNvPr id="105" name="TextBox 104">
            <a:extLst>
              <a:ext uri="{FF2B5EF4-FFF2-40B4-BE49-F238E27FC236}">
                <a16:creationId xmlns:a16="http://schemas.microsoft.com/office/drawing/2014/main" id="{97179944-7D39-7AC4-554E-7AB5E299C835}"/>
              </a:ext>
            </a:extLst>
          </p:cNvPr>
          <p:cNvSpPr txBox="1"/>
          <p:nvPr/>
        </p:nvSpPr>
        <p:spPr>
          <a:xfrm>
            <a:off x="310587" y="2045289"/>
            <a:ext cx="5233063" cy="400110"/>
          </a:xfrm>
          <a:prstGeom prst="rect">
            <a:avLst/>
          </a:prstGeom>
          <a:noFill/>
        </p:spPr>
        <p:txBody>
          <a:bodyPr wrap="square" lIns="45720" tIns="45720" rIns="45720" bIns="4572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1" u="none" strike="noStrike" kern="1200" cap="none" spc="0" normalizeH="0" baseline="0" noProof="0">
                <a:ln>
                  <a:noFill/>
                </a:ln>
                <a:solidFill>
                  <a:srgbClr val="203661"/>
                </a:solidFill>
                <a:effectLst/>
                <a:uLnTx/>
                <a:uFillTx/>
                <a:latin typeface="Trebuchet MS" panose="020B0603020202020204" pitchFamily="34" charset="0"/>
                <a:ea typeface="+mn-ea"/>
                <a:cs typeface="+mn-cs"/>
              </a:rPr>
              <a:t>What is RBQM?</a:t>
            </a:r>
          </a:p>
        </p:txBody>
      </p:sp>
      <p:sp>
        <p:nvSpPr>
          <p:cNvPr id="106" name="TextBox 105">
            <a:extLst>
              <a:ext uri="{FF2B5EF4-FFF2-40B4-BE49-F238E27FC236}">
                <a16:creationId xmlns:a16="http://schemas.microsoft.com/office/drawing/2014/main" id="{9235588E-784D-A925-2CDB-7AB7219D28D1}"/>
              </a:ext>
            </a:extLst>
          </p:cNvPr>
          <p:cNvSpPr txBox="1">
            <a:spLocks/>
          </p:cNvSpPr>
          <p:nvPr/>
        </p:nvSpPr>
        <p:spPr>
          <a:xfrm>
            <a:off x="815052" y="2420974"/>
            <a:ext cx="4803494" cy="1384995"/>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300"/>
              </a:spcBef>
              <a:spcAft>
                <a:spcPts val="300"/>
              </a:spcAft>
              <a:buClr>
                <a:srgbClr val="54565B"/>
              </a:buClr>
              <a:buSzTx/>
              <a:buFontTx/>
              <a:buNone/>
              <a:tabLst/>
              <a:defRPr/>
            </a:pPr>
            <a:r>
              <a:rPr kumimoji="0" lang="en-US" sz="1500" b="0" i="0" u="none" strike="noStrike" kern="1200" cap="none" spc="0" normalizeH="0" baseline="0" noProof="0" dirty="0">
                <a:ln>
                  <a:noFill/>
                </a:ln>
                <a:solidFill>
                  <a:srgbClr val="54565B"/>
                </a:solidFill>
                <a:effectLst>
                  <a:glow>
                    <a:srgbClr val="000000"/>
                  </a:glow>
                </a:effectLst>
                <a:uLnTx/>
                <a:uFillTx/>
                <a:latin typeface="Trebuchet MS" panose="020B0603020202020204" pitchFamily="34" charset="0"/>
                <a:ea typeface="+mn-ea"/>
                <a:cs typeface="+mn-cs"/>
              </a:rPr>
              <a:t>An </a:t>
            </a:r>
            <a:r>
              <a:rPr kumimoji="0" lang="en-US" sz="1500" b="1" i="0" u="none" strike="noStrike" kern="1200" cap="none" spc="0" normalizeH="0" baseline="0" noProof="0" dirty="0">
                <a:ln>
                  <a:noFill/>
                </a:ln>
                <a:solidFill>
                  <a:srgbClr val="203661"/>
                </a:solidFill>
                <a:effectLst>
                  <a:glow>
                    <a:srgbClr val="000000"/>
                  </a:glow>
                </a:effectLst>
                <a:uLnTx/>
                <a:uFillTx/>
                <a:latin typeface="Trebuchet MS" panose="020B0603020202020204" pitchFamily="34" charset="0"/>
                <a:ea typeface="+mn-ea"/>
                <a:cs typeface="+mn-cs"/>
              </a:rPr>
              <a:t>adaptive, cross-functional, study monitoring process</a:t>
            </a:r>
            <a:r>
              <a:rPr kumimoji="0" lang="en-US" sz="1500" b="0" i="0" u="none" strike="noStrike" kern="1200" cap="none" spc="0" normalizeH="0" baseline="0" noProof="0" dirty="0">
                <a:ln>
                  <a:noFill/>
                </a:ln>
                <a:solidFill>
                  <a:srgbClr val="203661"/>
                </a:solidFill>
                <a:effectLst>
                  <a:glow>
                    <a:srgbClr val="000000"/>
                  </a:glow>
                </a:effectLst>
                <a:uLnTx/>
                <a:uFillTx/>
                <a:latin typeface="Trebuchet MS" panose="020B0603020202020204" pitchFamily="34" charset="0"/>
                <a:ea typeface="+mn-ea"/>
                <a:cs typeface="+mn-cs"/>
              </a:rPr>
              <a:t> </a:t>
            </a:r>
            <a:r>
              <a:rPr kumimoji="0" lang="en-US" sz="1500" b="0" i="0" u="none" strike="noStrike" kern="1200" cap="none" spc="0" normalizeH="0" baseline="0" noProof="0" dirty="0">
                <a:ln>
                  <a:noFill/>
                </a:ln>
                <a:solidFill>
                  <a:srgbClr val="54565B"/>
                </a:solidFill>
                <a:effectLst>
                  <a:glow>
                    <a:srgbClr val="000000"/>
                  </a:glow>
                </a:effectLst>
                <a:uLnTx/>
                <a:uFillTx/>
                <a:latin typeface="Trebuchet MS" panose="020B0603020202020204" pitchFamily="34" charset="0"/>
                <a:ea typeface="+mn-ea"/>
                <a:cs typeface="+mn-cs"/>
              </a:rPr>
              <a:t>that begins with protocol design (including Quality by Design), </a:t>
            </a:r>
            <a:r>
              <a:rPr kumimoji="0" lang="en-US" sz="1500" b="1" i="0" u="none" strike="noStrike" kern="1200" cap="none" spc="0" normalizeH="0" baseline="0" noProof="0" dirty="0">
                <a:ln>
                  <a:noFill/>
                </a:ln>
                <a:solidFill>
                  <a:srgbClr val="203661"/>
                </a:solidFill>
                <a:effectLst>
                  <a:glow>
                    <a:srgbClr val="000000"/>
                  </a:glow>
                </a:effectLst>
                <a:uLnTx/>
                <a:uFillTx/>
                <a:latin typeface="Trebuchet MS" panose="020B0603020202020204" pitchFamily="34" charset="0"/>
                <a:ea typeface="+mn-ea"/>
                <a:cs typeface="+mn-cs"/>
              </a:rPr>
              <a:t>identifies areas most critical to the study (including </a:t>
            </a:r>
            <a:r>
              <a:rPr kumimoji="0" lang="en-US" sz="1500" b="1" i="0" u="none" strike="noStrike" kern="1200" cap="none" spc="0" normalizeH="0" baseline="0" noProof="0" dirty="0" err="1">
                <a:ln>
                  <a:noFill/>
                </a:ln>
                <a:solidFill>
                  <a:srgbClr val="203661"/>
                </a:solidFill>
                <a:effectLst>
                  <a:glow>
                    <a:srgbClr val="000000"/>
                  </a:glow>
                </a:effectLst>
                <a:uLnTx/>
                <a:uFillTx/>
                <a:latin typeface="Trebuchet MS" panose="020B0603020202020204" pitchFamily="34" charset="0"/>
                <a:ea typeface="+mn-ea"/>
                <a:cs typeface="+mn-cs"/>
              </a:rPr>
              <a:t>critica</a:t>
            </a:r>
            <a:r>
              <a:rPr lang="en-US" sz="1500" b="1" kern="1200" dirty="0">
                <a:solidFill>
                  <a:srgbClr val="203661"/>
                </a:solidFill>
                <a:effectLst>
                  <a:glow>
                    <a:srgbClr val="000000"/>
                  </a:glow>
                </a:effectLst>
                <a:latin typeface="Trebuchet MS" panose="020B0603020202020204" pitchFamily="34" charset="0"/>
                <a:ea typeface="+mn-ea"/>
                <a:cs typeface="+mn-cs"/>
              </a:rPr>
              <a:t>l data and critical processes)</a:t>
            </a:r>
            <a:r>
              <a:rPr kumimoji="0" lang="en-US" sz="1500" b="1" i="0" u="none" strike="noStrike" kern="1200" cap="none" spc="0" normalizeH="0" baseline="0" noProof="0" dirty="0">
                <a:ln>
                  <a:noFill/>
                </a:ln>
                <a:solidFill>
                  <a:srgbClr val="203661"/>
                </a:solidFill>
                <a:effectLst>
                  <a:glow>
                    <a:srgbClr val="000000"/>
                  </a:glow>
                </a:effectLst>
                <a:uLnTx/>
                <a:uFillTx/>
                <a:latin typeface="Trebuchet MS" panose="020B0603020202020204" pitchFamily="34" charset="0"/>
                <a:ea typeface="+mn-ea"/>
                <a:cs typeface="+mn-cs"/>
              </a:rPr>
              <a:t>,</a:t>
            </a:r>
            <a:r>
              <a:rPr kumimoji="0" lang="en-US" sz="1500" b="0" i="0" u="none" strike="noStrike" kern="1200" cap="none" spc="0" normalizeH="0" baseline="0" noProof="0" dirty="0">
                <a:ln>
                  <a:noFill/>
                </a:ln>
                <a:solidFill>
                  <a:srgbClr val="54565B"/>
                </a:solidFill>
                <a:effectLst>
                  <a:glow>
                    <a:srgbClr val="000000"/>
                  </a:glow>
                </a:effectLst>
                <a:uLnTx/>
                <a:uFillTx/>
                <a:latin typeface="Trebuchet MS" panose="020B0603020202020204" pitchFamily="34" charset="0"/>
                <a:ea typeface="+mn-ea"/>
                <a:cs typeface="+mn-cs"/>
              </a:rPr>
              <a:t> &amp; directs monitoring focus to risks &amp; factors </a:t>
            </a:r>
            <a:r>
              <a:rPr kumimoji="0" lang="en-US" sz="1500" b="1" i="0" u="none" strike="noStrike" kern="1200" cap="none" spc="0" normalizeH="0" baseline="0" noProof="0" dirty="0">
                <a:ln>
                  <a:noFill/>
                </a:ln>
                <a:solidFill>
                  <a:srgbClr val="C00000"/>
                </a:solidFill>
                <a:effectLst>
                  <a:glow>
                    <a:srgbClr val="000000"/>
                  </a:glow>
                </a:effectLst>
                <a:uLnTx/>
                <a:uFillTx/>
                <a:latin typeface="Trebuchet MS" panose="020B0603020202020204" pitchFamily="34" charset="0"/>
                <a:ea typeface="+mn-ea"/>
                <a:cs typeface="+mn-cs"/>
              </a:rPr>
              <a:t>critical to safety &amp; quality.</a:t>
            </a:r>
            <a:endParaRPr kumimoji="0" lang="en-US" sz="1500" b="1" i="0" u="none" strike="noStrike" kern="1200" cap="none" spc="0" normalizeH="0" baseline="0" noProof="0" dirty="0">
              <a:ln>
                <a:noFill/>
              </a:ln>
              <a:solidFill>
                <a:srgbClr val="C00000"/>
              </a:solidFill>
              <a:effectLst>
                <a:glow>
                  <a:srgbClr val="000000"/>
                </a:glow>
              </a:effectLst>
              <a:uLnTx/>
              <a:uFillTx/>
              <a:latin typeface="Trebuchet MS" panose="020B0603020202020204" pitchFamily="34" charset="0"/>
              <a:ea typeface="+mn-ea"/>
              <a:cs typeface="Arial" panose="020B0604020202020204" pitchFamily="34" charset="0"/>
            </a:endParaRPr>
          </a:p>
        </p:txBody>
      </p:sp>
      <p:sp>
        <p:nvSpPr>
          <p:cNvPr id="107" name="TextBox 106">
            <a:extLst>
              <a:ext uri="{FF2B5EF4-FFF2-40B4-BE49-F238E27FC236}">
                <a16:creationId xmlns:a16="http://schemas.microsoft.com/office/drawing/2014/main" id="{6D0DAB61-679E-CF17-6F65-499236024C7F}"/>
              </a:ext>
            </a:extLst>
          </p:cNvPr>
          <p:cNvSpPr txBox="1">
            <a:spLocks/>
          </p:cNvSpPr>
          <p:nvPr/>
        </p:nvSpPr>
        <p:spPr>
          <a:xfrm>
            <a:off x="855902" y="3770273"/>
            <a:ext cx="4803494" cy="69249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300"/>
              </a:spcBef>
              <a:spcAft>
                <a:spcPts val="300"/>
              </a:spcAft>
              <a:buClr>
                <a:srgbClr val="54565B"/>
              </a:buClr>
              <a:buSzTx/>
              <a:buFontTx/>
              <a:buNone/>
              <a:tabLst/>
              <a:defRPr/>
            </a:pPr>
            <a:r>
              <a:rPr kumimoji="0" lang="en-US" sz="1500" b="1" i="0" u="none" strike="noStrike" kern="1200" cap="none" spc="0" normalizeH="0" baseline="0" noProof="0">
                <a:ln>
                  <a:noFill/>
                </a:ln>
                <a:solidFill>
                  <a:srgbClr val="203661"/>
                </a:solidFill>
                <a:effectLst>
                  <a:glow>
                    <a:srgbClr val="000000"/>
                  </a:glow>
                </a:effectLst>
                <a:uLnTx/>
                <a:uFillTx/>
                <a:latin typeface="Trebuchet MS" panose="020B0603020202020204" pitchFamily="34" charset="0"/>
                <a:ea typeface="+mn-ea"/>
                <a:cs typeface="+mn-cs"/>
              </a:rPr>
              <a:t>Leverages technology </a:t>
            </a:r>
            <a:r>
              <a:rPr kumimoji="0" lang="en-US" sz="1500" b="0" i="0" u="none" strike="noStrike" kern="1200" cap="none" spc="0" normalizeH="0" baseline="0" noProof="0">
                <a:ln>
                  <a:noFill/>
                </a:ln>
                <a:solidFill>
                  <a:srgbClr val="54565B"/>
                </a:solidFill>
                <a:effectLst>
                  <a:glow>
                    <a:srgbClr val="000000"/>
                  </a:glow>
                </a:effectLst>
                <a:uLnTx/>
                <a:uFillTx/>
                <a:latin typeface="Trebuchet MS" panose="020B0603020202020204" pitchFamily="34" charset="0"/>
                <a:ea typeface="+mn-ea"/>
                <a:cs typeface="+mn-cs"/>
              </a:rPr>
              <a:t>for ongoing remote data surveillance &amp; </a:t>
            </a:r>
            <a:r>
              <a:rPr kumimoji="0" lang="en-US" sz="1500" b="1" i="0" u="none" strike="noStrike" kern="1200" cap="none" spc="0" normalizeH="0" baseline="0" noProof="0">
                <a:ln>
                  <a:noFill/>
                </a:ln>
                <a:solidFill>
                  <a:srgbClr val="203661"/>
                </a:solidFill>
                <a:effectLst>
                  <a:glow>
                    <a:srgbClr val="000000"/>
                  </a:glow>
                </a:effectLst>
                <a:uLnTx/>
                <a:uFillTx/>
                <a:latin typeface="Trebuchet MS" panose="020B0603020202020204" pitchFamily="34" charset="0"/>
                <a:ea typeface="+mn-ea"/>
                <a:cs typeface="+mn-cs"/>
              </a:rPr>
              <a:t>comprehensive risk management throughout the trial lifecycle.</a:t>
            </a:r>
            <a:endParaRPr kumimoji="0" lang="en-US" sz="1500" b="1" i="0" u="none" strike="noStrike" kern="1200" cap="none" spc="0" normalizeH="0" baseline="0" noProof="0">
              <a:ln>
                <a:noFill/>
              </a:ln>
              <a:solidFill>
                <a:srgbClr val="203661"/>
              </a:solidFill>
              <a:effectLst>
                <a:glow>
                  <a:srgbClr val="000000"/>
                </a:glow>
              </a:effectLst>
              <a:uLnTx/>
              <a:uFillTx/>
              <a:latin typeface="Trebuchet MS" panose="020B0603020202020204" pitchFamily="34" charset="0"/>
              <a:ea typeface="+mn-ea"/>
              <a:cs typeface="Arial" panose="020B0604020202020204" pitchFamily="34" charset="0"/>
            </a:endParaRPr>
          </a:p>
        </p:txBody>
      </p:sp>
      <p:sp>
        <p:nvSpPr>
          <p:cNvPr id="108" name="TextBox 107">
            <a:extLst>
              <a:ext uri="{FF2B5EF4-FFF2-40B4-BE49-F238E27FC236}">
                <a16:creationId xmlns:a16="http://schemas.microsoft.com/office/drawing/2014/main" id="{1D65F5BB-2CC2-FF2A-8CB7-BA6355C81177}"/>
              </a:ext>
            </a:extLst>
          </p:cNvPr>
          <p:cNvSpPr txBox="1">
            <a:spLocks/>
          </p:cNvSpPr>
          <p:nvPr/>
        </p:nvSpPr>
        <p:spPr>
          <a:xfrm>
            <a:off x="855902" y="4675084"/>
            <a:ext cx="4803494" cy="461665"/>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300"/>
              </a:spcBef>
              <a:spcAft>
                <a:spcPts val="300"/>
              </a:spcAft>
              <a:buClr>
                <a:srgbClr val="54565B"/>
              </a:buClr>
              <a:buSzTx/>
              <a:buFontTx/>
              <a:buNone/>
              <a:tabLst/>
              <a:defRPr/>
            </a:pPr>
            <a:r>
              <a:rPr kumimoji="0" lang="en-US" sz="1500" b="0" i="0" u="none" strike="noStrike" kern="1200" cap="none" spc="0" normalizeH="0" baseline="0" noProof="0">
                <a:ln>
                  <a:noFill/>
                </a:ln>
                <a:solidFill>
                  <a:srgbClr val="54565B"/>
                </a:solidFill>
                <a:effectLst>
                  <a:glow>
                    <a:srgbClr val="000000"/>
                  </a:glow>
                </a:effectLst>
                <a:uLnTx/>
                <a:uFillTx/>
                <a:latin typeface="Trebuchet MS" panose="020B0603020202020204" pitchFamily="34" charset="0"/>
                <a:ea typeface="+mn-ea"/>
                <a:cs typeface="+mn-cs"/>
              </a:rPr>
              <a:t>Employs various tools, platforms and dashboards </a:t>
            </a:r>
            <a:r>
              <a:rPr kumimoji="0" lang="en-US" sz="1500" b="1" i="0" u="none" strike="noStrike" kern="1200" cap="none" spc="0" normalizeH="0" baseline="0" noProof="0">
                <a:ln>
                  <a:noFill/>
                </a:ln>
                <a:solidFill>
                  <a:srgbClr val="203661"/>
                </a:solidFill>
                <a:effectLst>
                  <a:glow>
                    <a:srgbClr val="000000"/>
                  </a:glow>
                </a:effectLst>
                <a:uLnTx/>
                <a:uFillTx/>
                <a:latin typeface="Trebuchet MS" panose="020B0603020202020204" pitchFamily="34" charset="0"/>
                <a:ea typeface="+mn-ea"/>
                <a:cs typeface="+mn-cs"/>
              </a:rPr>
              <a:t>to identify signals</a:t>
            </a:r>
            <a:r>
              <a:rPr kumimoji="0" lang="en-US" sz="1500" b="0" i="0" u="none" strike="noStrike" kern="1200" cap="none" spc="0" normalizeH="0" baseline="0" noProof="0">
                <a:ln>
                  <a:noFill/>
                </a:ln>
                <a:solidFill>
                  <a:srgbClr val="203661"/>
                </a:solidFill>
                <a:effectLst>
                  <a:glow>
                    <a:srgbClr val="000000"/>
                  </a:glow>
                </a:effectLst>
                <a:uLnTx/>
                <a:uFillTx/>
                <a:latin typeface="Trebuchet MS" panose="020B0603020202020204" pitchFamily="34" charset="0"/>
                <a:ea typeface="+mn-ea"/>
                <a:cs typeface="+mn-cs"/>
              </a:rPr>
              <a:t>,</a:t>
            </a:r>
            <a:r>
              <a:rPr kumimoji="0" lang="en-US" sz="1500" b="0" i="0" u="none" strike="noStrike" kern="1200" cap="none" spc="0" normalizeH="0" baseline="0" noProof="0">
                <a:ln>
                  <a:noFill/>
                </a:ln>
                <a:solidFill>
                  <a:srgbClr val="54565B"/>
                </a:solidFill>
                <a:effectLst>
                  <a:glow>
                    <a:srgbClr val="000000"/>
                  </a:glow>
                </a:effectLst>
                <a:uLnTx/>
                <a:uFillTx/>
                <a:latin typeface="Trebuchet MS" panose="020B0603020202020204" pitchFamily="34" charset="0"/>
                <a:ea typeface="+mn-ea"/>
                <a:cs typeface="+mn-cs"/>
              </a:rPr>
              <a:t> which indicate </a:t>
            </a:r>
            <a:r>
              <a:rPr kumimoji="0" lang="en-US" sz="1500" b="1" i="0" u="none" strike="noStrike" kern="1200" cap="none" spc="0" normalizeH="0" baseline="0" noProof="0">
                <a:ln>
                  <a:noFill/>
                </a:ln>
                <a:solidFill>
                  <a:srgbClr val="203661"/>
                </a:solidFill>
                <a:effectLst>
                  <a:glow>
                    <a:srgbClr val="000000"/>
                  </a:glow>
                </a:effectLst>
                <a:uLnTx/>
                <a:uFillTx/>
                <a:latin typeface="Trebuchet MS" panose="020B0603020202020204" pitchFamily="34" charset="0"/>
                <a:ea typeface="+mn-ea"/>
                <a:cs typeface="+mn-cs"/>
              </a:rPr>
              <a:t>potential issues.</a:t>
            </a:r>
            <a:endParaRPr kumimoji="0" lang="en-US" sz="1500" b="1" i="0" u="none" strike="noStrike" kern="1200" cap="none" spc="0" normalizeH="0" baseline="0" noProof="0">
              <a:ln>
                <a:noFill/>
              </a:ln>
              <a:solidFill>
                <a:srgbClr val="203661"/>
              </a:solidFill>
              <a:effectLst>
                <a:glow>
                  <a:srgbClr val="000000"/>
                </a:glow>
              </a:effectLst>
              <a:uLnTx/>
              <a:uFillTx/>
              <a:latin typeface="Trebuchet MS" panose="020B0603020202020204" pitchFamily="34" charset="0"/>
              <a:ea typeface="+mn-ea"/>
              <a:cs typeface="Arial" panose="020B0604020202020204" pitchFamily="34" charset="0"/>
            </a:endParaRPr>
          </a:p>
        </p:txBody>
      </p:sp>
      <p:sp>
        <p:nvSpPr>
          <p:cNvPr id="109" name="TextBox 108">
            <a:extLst>
              <a:ext uri="{FF2B5EF4-FFF2-40B4-BE49-F238E27FC236}">
                <a16:creationId xmlns:a16="http://schemas.microsoft.com/office/drawing/2014/main" id="{DEB34761-7F23-273F-A79B-6E1DA3219B31}"/>
              </a:ext>
            </a:extLst>
          </p:cNvPr>
          <p:cNvSpPr txBox="1">
            <a:spLocks/>
          </p:cNvSpPr>
          <p:nvPr/>
        </p:nvSpPr>
        <p:spPr>
          <a:xfrm>
            <a:off x="855902" y="5349063"/>
            <a:ext cx="4803494" cy="69249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300"/>
              </a:spcBef>
              <a:spcAft>
                <a:spcPts val="300"/>
              </a:spcAft>
              <a:buClr>
                <a:srgbClr val="54565B"/>
              </a:buClr>
              <a:buSzTx/>
              <a:buFontTx/>
              <a:buNone/>
              <a:tabLst/>
              <a:defRPr/>
            </a:pPr>
            <a:r>
              <a:rPr kumimoji="0" lang="en-US" sz="1500" b="0" i="0" u="none" strike="noStrike" kern="1200" cap="none" spc="0" normalizeH="0" baseline="0" noProof="0" dirty="0">
                <a:ln>
                  <a:noFill/>
                </a:ln>
                <a:solidFill>
                  <a:srgbClr val="54565B"/>
                </a:solidFill>
                <a:effectLst>
                  <a:glow>
                    <a:srgbClr val="000000"/>
                  </a:glow>
                </a:effectLst>
                <a:uLnTx/>
                <a:uFillTx/>
                <a:latin typeface="Trebuchet MS" panose="020B0603020202020204" pitchFamily="34" charset="0"/>
                <a:ea typeface="+mn-ea"/>
                <a:cs typeface="+mn-cs"/>
              </a:rPr>
              <a:t>Allows study teams to </a:t>
            </a:r>
            <a:r>
              <a:rPr kumimoji="0" lang="en-US" sz="1500" b="1" i="0" u="none" strike="noStrike" kern="1200" cap="none" spc="0" normalizeH="0" baseline="0" noProof="0" dirty="0">
                <a:ln>
                  <a:noFill/>
                </a:ln>
                <a:solidFill>
                  <a:srgbClr val="203661"/>
                </a:solidFill>
                <a:effectLst>
                  <a:glow>
                    <a:srgbClr val="000000"/>
                  </a:glow>
                </a:effectLst>
                <a:uLnTx/>
                <a:uFillTx/>
                <a:latin typeface="Trebuchet MS" panose="020B0603020202020204" pitchFamily="34" charset="0"/>
                <a:ea typeface="+mn-ea"/>
                <a:cs typeface="+mn-cs"/>
              </a:rPr>
              <a:t>concentrate on high value tasks </a:t>
            </a:r>
            <a:r>
              <a:rPr kumimoji="0" lang="en-US" sz="1500" b="0" i="0" u="none" strike="noStrike" kern="1200" cap="none" spc="0" normalizeH="0" baseline="0" noProof="0" dirty="0">
                <a:ln>
                  <a:noFill/>
                </a:ln>
                <a:solidFill>
                  <a:srgbClr val="54565B"/>
                </a:solidFill>
                <a:effectLst>
                  <a:glow>
                    <a:srgbClr val="000000"/>
                  </a:glow>
                </a:effectLst>
                <a:uLnTx/>
                <a:uFillTx/>
                <a:latin typeface="Trebuchet MS" panose="020B0603020202020204" pitchFamily="34" charset="0"/>
                <a:ea typeface="+mn-ea"/>
                <a:cs typeface="+mn-cs"/>
              </a:rPr>
              <a:t>and focuses resources on activities with the </a:t>
            </a:r>
            <a:r>
              <a:rPr kumimoji="0" lang="en-US" sz="1500" b="1" i="0" u="none" strike="noStrike" kern="1200" cap="none" spc="0" normalizeH="0" baseline="0" noProof="0" dirty="0">
                <a:ln>
                  <a:noFill/>
                </a:ln>
                <a:solidFill>
                  <a:srgbClr val="203661"/>
                </a:solidFill>
                <a:effectLst>
                  <a:glow>
                    <a:srgbClr val="000000"/>
                  </a:glow>
                </a:effectLst>
                <a:uLnTx/>
                <a:uFillTx/>
                <a:latin typeface="Trebuchet MS" panose="020B0603020202020204" pitchFamily="34" charset="0"/>
                <a:ea typeface="+mn-ea"/>
                <a:cs typeface="+mn-cs"/>
              </a:rPr>
              <a:t>most potential to impact patient safety and data quality</a:t>
            </a:r>
            <a:r>
              <a:rPr kumimoji="0" lang="en-US" sz="1500" b="0" i="0" u="none" strike="noStrike" kern="1200" cap="none" spc="0" normalizeH="0" baseline="0" noProof="0" dirty="0">
                <a:ln>
                  <a:noFill/>
                </a:ln>
                <a:solidFill>
                  <a:srgbClr val="203661"/>
                </a:solidFill>
                <a:effectLst>
                  <a:glow>
                    <a:srgbClr val="000000"/>
                  </a:glow>
                </a:effectLst>
                <a:uLnTx/>
                <a:uFillTx/>
                <a:latin typeface="Trebuchet MS" panose="020B0603020202020204" pitchFamily="34" charset="0"/>
                <a:ea typeface="+mn-ea"/>
                <a:cs typeface="+mn-cs"/>
              </a:rPr>
              <a:t>.</a:t>
            </a:r>
            <a:endParaRPr kumimoji="0" lang="en-IN" sz="1500" b="0" i="0" u="none" strike="noStrike" kern="1200" cap="none" spc="0" normalizeH="0" baseline="0" noProof="0" dirty="0">
              <a:ln>
                <a:noFill/>
              </a:ln>
              <a:solidFill>
                <a:srgbClr val="203661"/>
              </a:solidFill>
              <a:effectLst>
                <a:glow>
                  <a:srgbClr val="000000"/>
                </a:glow>
              </a:effectLst>
              <a:uLnTx/>
              <a:uFillTx/>
              <a:latin typeface="Trebuchet MS" panose="020B0603020202020204" pitchFamily="34" charset="0"/>
              <a:ea typeface="+mn-ea"/>
              <a:cs typeface="Arial" panose="020B0604020202020204" pitchFamily="34" charset="0"/>
            </a:endParaRPr>
          </a:p>
        </p:txBody>
      </p:sp>
      <p:sp>
        <p:nvSpPr>
          <p:cNvPr id="111" name="Title 110">
            <a:extLst>
              <a:ext uri="{FF2B5EF4-FFF2-40B4-BE49-F238E27FC236}">
                <a16:creationId xmlns:a16="http://schemas.microsoft.com/office/drawing/2014/main" id="{2B5EC3ED-18B4-F183-A810-169A005696E3}"/>
              </a:ext>
            </a:extLst>
          </p:cNvPr>
          <p:cNvSpPr>
            <a:spLocks noGrp="1"/>
          </p:cNvSpPr>
          <p:nvPr>
            <p:ph type="title"/>
          </p:nvPr>
        </p:nvSpPr>
        <p:spPr/>
        <p:txBody>
          <a:bodyPr/>
          <a:lstStyle/>
          <a:p>
            <a:pPr>
              <a:buClr>
                <a:srgbClr val="BBBCBC"/>
              </a:buClr>
              <a:buSzPts val="3600"/>
            </a:pPr>
            <a:r>
              <a:rPr lang="en-US" sz="3600" b="1">
                <a:solidFill>
                  <a:srgbClr val="BBBCBC"/>
                </a:solidFill>
              </a:rPr>
              <a:t>RBQM</a:t>
            </a:r>
          </a:p>
        </p:txBody>
      </p:sp>
      <p:sp>
        <p:nvSpPr>
          <p:cNvPr id="2" name="TextBox 1">
            <a:extLst>
              <a:ext uri="{FF2B5EF4-FFF2-40B4-BE49-F238E27FC236}">
                <a16:creationId xmlns:a16="http://schemas.microsoft.com/office/drawing/2014/main" id="{1F48655F-4870-BD18-0698-268EFEC6067C}"/>
              </a:ext>
            </a:extLst>
          </p:cNvPr>
          <p:cNvSpPr txBox="1"/>
          <p:nvPr/>
        </p:nvSpPr>
        <p:spPr>
          <a:xfrm>
            <a:off x="310587" y="6176191"/>
            <a:ext cx="5158520" cy="738664"/>
          </a:xfrm>
          <a:prstGeom prst="rect">
            <a:avLst/>
          </a:prstGeom>
          <a:noFill/>
        </p:spPr>
        <p:txBody>
          <a:bodyPr wrap="square" rtlCol="0">
            <a:spAutoFit/>
          </a:bodyPr>
          <a:lstStyle/>
          <a:p>
            <a:r>
              <a:rPr lang="en-GB" dirty="0"/>
              <a:t>Also can lead to Transparently &amp; proactively sharing </a:t>
            </a:r>
            <a:r>
              <a:rPr lang="en-GB" b="1" dirty="0"/>
              <a:t>the end to end compliance story</a:t>
            </a:r>
            <a:r>
              <a:rPr lang="en-GB" dirty="0"/>
              <a:t>, (</a:t>
            </a:r>
            <a:r>
              <a:rPr lang="en-GB" b="1" dirty="0">
                <a:solidFill>
                  <a:srgbClr val="FF0000"/>
                </a:solidFill>
              </a:rPr>
              <a:t>RBQM Quality Brief </a:t>
            </a:r>
            <a:r>
              <a:rPr lang="en-GB" dirty="0"/>
              <a:t>‘output’ to Regulators</a:t>
            </a:r>
          </a:p>
        </p:txBody>
      </p:sp>
    </p:spTree>
    <p:extLst>
      <p:ext uri="{BB962C8B-B14F-4D97-AF65-F5344CB8AC3E}">
        <p14:creationId xmlns:p14="http://schemas.microsoft.com/office/powerpoint/2010/main" val="6455618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view of a mountain&#10;&#10;Description automatically generated">
            <a:extLst>
              <a:ext uri="{FF2B5EF4-FFF2-40B4-BE49-F238E27FC236}">
                <a16:creationId xmlns:a16="http://schemas.microsoft.com/office/drawing/2014/main" id="{EA84F914-F2D5-43EF-B899-BD217292FF04}"/>
              </a:ext>
            </a:extLst>
          </p:cNvPr>
          <p:cNvPicPr>
            <a:picLocks noChangeAspect="1"/>
          </p:cNvPicPr>
          <p:nvPr/>
        </p:nvPicPr>
        <p:blipFill rotWithShape="1">
          <a:blip r:embed="rId4"/>
          <a:srcRect t="25939" b="7882"/>
          <a:stretch/>
        </p:blipFill>
        <p:spPr>
          <a:xfrm>
            <a:off x="1" y="1473798"/>
            <a:ext cx="12191999" cy="5377775"/>
          </a:xfrm>
          <a:prstGeom prst="rect">
            <a:avLst/>
          </a:prstGeom>
        </p:spPr>
      </p:pic>
      <p:sp>
        <p:nvSpPr>
          <p:cNvPr id="3" name="Rectangle 2">
            <a:extLst>
              <a:ext uri="{FF2B5EF4-FFF2-40B4-BE49-F238E27FC236}">
                <a16:creationId xmlns:a16="http://schemas.microsoft.com/office/drawing/2014/main" id="{AC45A4F0-0240-3585-1ED9-94A76FC1D4F3}"/>
              </a:ext>
            </a:extLst>
          </p:cNvPr>
          <p:cNvSpPr/>
          <p:nvPr/>
        </p:nvSpPr>
        <p:spPr>
          <a:xfrm>
            <a:off x="0" y="1473798"/>
            <a:ext cx="12192000" cy="5384201"/>
          </a:xfrm>
          <a:prstGeom prst="rect">
            <a:avLst/>
          </a:prstGeom>
          <a:solidFill>
            <a:srgbClr val="C6C9C9">
              <a:alpha val="3568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F9651B78-CEEF-418A-853A-350E0BF108C5}"/>
              </a:ext>
            </a:extLst>
          </p:cNvPr>
          <p:cNvSpPr/>
          <p:nvPr/>
        </p:nvSpPr>
        <p:spPr>
          <a:xfrm>
            <a:off x="3500268" y="3052468"/>
            <a:ext cx="6928883" cy="1107996"/>
          </a:xfrm>
          <a:prstGeom prst="rect">
            <a:avLst/>
          </a:prstGeom>
          <a:effectLst/>
        </p:spPr>
        <p:txBody>
          <a:bodyPr wrap="square" lIns="0" tIns="0" rIns="0" bIns="0" anchor="ctr">
            <a:spAutoFit/>
          </a:bodyPr>
          <a:lstStyle/>
          <a:p>
            <a:pPr>
              <a:spcBef>
                <a:spcPts val="75"/>
              </a:spcBef>
              <a:spcAft>
                <a:spcPts val="75"/>
              </a:spcAft>
              <a:defRPr/>
            </a:pPr>
            <a:r>
              <a:rPr lang="en-US" sz="3600" b="1" i="1">
                <a:latin typeface="Trebuchet MS" panose="020B0603020202020204" pitchFamily="34" charset="0"/>
                <a:cs typeface="Arial" panose="020B0604020202020204" pitchFamily="34" charset="0"/>
              </a:rPr>
              <a:t>Quality is the absence of meaningful errors. </a:t>
            </a:r>
          </a:p>
        </p:txBody>
      </p:sp>
      <p:sp>
        <p:nvSpPr>
          <p:cNvPr id="5" name="Freeform 5">
            <a:extLst>
              <a:ext uri="{FF2B5EF4-FFF2-40B4-BE49-F238E27FC236}">
                <a16:creationId xmlns:a16="http://schemas.microsoft.com/office/drawing/2014/main" id="{B9793048-D6CB-4ACF-85E1-F58A72A30AA1}"/>
              </a:ext>
            </a:extLst>
          </p:cNvPr>
          <p:cNvSpPr>
            <a:spLocks noEditPoints="1"/>
          </p:cNvSpPr>
          <p:nvPr/>
        </p:nvSpPr>
        <p:spPr bwMode="auto">
          <a:xfrm flipV="1">
            <a:off x="1590339" y="2189960"/>
            <a:ext cx="840580" cy="688044"/>
          </a:xfrm>
          <a:custGeom>
            <a:avLst/>
            <a:gdLst>
              <a:gd name="T0" fmla="*/ 397 w 2270"/>
              <a:gd name="T1" fmla="*/ 1625 h 1691"/>
              <a:gd name="T2" fmla="*/ 39 w 2270"/>
              <a:gd name="T3" fmla="*/ 1267 h 1691"/>
              <a:gd name="T4" fmla="*/ 39 w 2270"/>
              <a:gd name="T5" fmla="*/ 762 h 1691"/>
              <a:gd name="T6" fmla="*/ 632 w 2270"/>
              <a:gd name="T7" fmla="*/ 82 h 1691"/>
              <a:gd name="T8" fmla="*/ 896 w 2270"/>
              <a:gd name="T9" fmla="*/ 10 h 1691"/>
              <a:gd name="T10" fmla="*/ 935 w 2270"/>
              <a:gd name="T11" fmla="*/ 63 h 1691"/>
              <a:gd name="T12" fmla="*/ 934 w 2270"/>
              <a:gd name="T13" fmla="*/ 131 h 1691"/>
              <a:gd name="T14" fmla="*/ 873 w 2270"/>
              <a:gd name="T15" fmla="*/ 162 h 1691"/>
              <a:gd name="T16" fmla="*/ 561 w 2270"/>
              <a:gd name="T17" fmla="*/ 319 h 1691"/>
              <a:gd name="T18" fmla="*/ 345 w 2270"/>
              <a:gd name="T19" fmla="*/ 588 h 1691"/>
              <a:gd name="T20" fmla="*/ 271 w 2270"/>
              <a:gd name="T21" fmla="*/ 853 h 1691"/>
              <a:gd name="T22" fmla="*/ 339 w 2270"/>
              <a:gd name="T23" fmla="*/ 803 h 1691"/>
              <a:gd name="T24" fmla="*/ 651 w 2270"/>
              <a:gd name="T25" fmla="*/ 708 h 1691"/>
              <a:gd name="T26" fmla="*/ 936 w 2270"/>
              <a:gd name="T27" fmla="*/ 827 h 1691"/>
              <a:gd name="T28" fmla="*/ 923 w 2270"/>
              <a:gd name="T29" fmla="*/ 1496 h 1691"/>
              <a:gd name="T30" fmla="*/ 397 w 2270"/>
              <a:gd name="T31" fmla="*/ 1625 h 1691"/>
              <a:gd name="T32" fmla="*/ 1541 w 2270"/>
              <a:gd name="T33" fmla="*/ 1623 h 1691"/>
              <a:gd name="T34" fmla="*/ 1184 w 2270"/>
              <a:gd name="T35" fmla="*/ 837 h 1691"/>
              <a:gd name="T36" fmla="*/ 1737 w 2270"/>
              <a:gd name="T37" fmla="*/ 107 h 1691"/>
              <a:gd name="T38" fmla="*/ 2029 w 2270"/>
              <a:gd name="T39" fmla="*/ 6 h 1691"/>
              <a:gd name="T40" fmla="*/ 2103 w 2270"/>
              <a:gd name="T41" fmla="*/ 92 h 1691"/>
              <a:gd name="T42" fmla="*/ 1997 w 2270"/>
              <a:gd name="T43" fmla="*/ 175 h 1691"/>
              <a:gd name="T44" fmla="*/ 1451 w 2270"/>
              <a:gd name="T45" fmla="*/ 744 h 1691"/>
              <a:gd name="T46" fmla="*/ 1432 w 2270"/>
              <a:gd name="T47" fmla="*/ 852 h 1691"/>
              <a:gd name="T48" fmla="*/ 1485 w 2270"/>
              <a:gd name="T49" fmla="*/ 812 h 1691"/>
              <a:gd name="T50" fmla="*/ 1784 w 2270"/>
              <a:gd name="T51" fmla="*/ 712 h 1691"/>
              <a:gd name="T52" fmla="*/ 1985 w 2270"/>
              <a:gd name="T53" fmla="*/ 745 h 1691"/>
              <a:gd name="T54" fmla="*/ 2165 w 2270"/>
              <a:gd name="T55" fmla="*/ 1374 h 1691"/>
              <a:gd name="T56" fmla="*/ 1541 w 2270"/>
              <a:gd name="T57" fmla="*/ 1623 h 16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270" h="1691">
                <a:moveTo>
                  <a:pt x="397" y="1625"/>
                </a:moveTo>
                <a:cubicBezTo>
                  <a:pt x="215" y="1581"/>
                  <a:pt x="100" y="1465"/>
                  <a:pt x="39" y="1267"/>
                </a:cubicBezTo>
                <a:cubicBezTo>
                  <a:pt x="0" y="1141"/>
                  <a:pt x="0" y="910"/>
                  <a:pt x="39" y="762"/>
                </a:cubicBezTo>
                <a:cubicBezTo>
                  <a:pt x="123" y="448"/>
                  <a:pt x="333" y="207"/>
                  <a:pt x="632" y="82"/>
                </a:cubicBezTo>
                <a:cubicBezTo>
                  <a:pt x="750" y="33"/>
                  <a:pt x="871" y="0"/>
                  <a:pt x="896" y="10"/>
                </a:cubicBezTo>
                <a:cubicBezTo>
                  <a:pt x="907" y="14"/>
                  <a:pt x="925" y="38"/>
                  <a:pt x="935" y="63"/>
                </a:cubicBezTo>
                <a:cubicBezTo>
                  <a:pt x="953" y="104"/>
                  <a:pt x="952" y="110"/>
                  <a:pt x="934" y="131"/>
                </a:cubicBezTo>
                <a:cubicBezTo>
                  <a:pt x="922" y="144"/>
                  <a:pt x="895" y="158"/>
                  <a:pt x="873" y="162"/>
                </a:cubicBezTo>
                <a:cubicBezTo>
                  <a:pt x="808" y="176"/>
                  <a:pt x="639" y="261"/>
                  <a:pt x="561" y="319"/>
                </a:cubicBezTo>
                <a:cubicBezTo>
                  <a:pt x="479" y="381"/>
                  <a:pt x="389" y="493"/>
                  <a:pt x="345" y="588"/>
                </a:cubicBezTo>
                <a:cubicBezTo>
                  <a:pt x="314" y="655"/>
                  <a:pt x="261" y="843"/>
                  <a:pt x="271" y="853"/>
                </a:cubicBezTo>
                <a:cubicBezTo>
                  <a:pt x="274" y="856"/>
                  <a:pt x="305" y="834"/>
                  <a:pt x="339" y="803"/>
                </a:cubicBezTo>
                <a:cubicBezTo>
                  <a:pt x="424" y="727"/>
                  <a:pt x="508" y="701"/>
                  <a:pt x="651" y="708"/>
                </a:cubicBezTo>
                <a:cubicBezTo>
                  <a:pt x="781" y="714"/>
                  <a:pt x="857" y="746"/>
                  <a:pt x="936" y="827"/>
                </a:cubicBezTo>
                <a:cubicBezTo>
                  <a:pt x="1095" y="990"/>
                  <a:pt x="1088" y="1326"/>
                  <a:pt x="923" y="1496"/>
                </a:cubicBezTo>
                <a:cubicBezTo>
                  <a:pt x="802" y="1619"/>
                  <a:pt x="587" y="1673"/>
                  <a:pt x="397" y="1625"/>
                </a:cubicBezTo>
                <a:close/>
                <a:moveTo>
                  <a:pt x="1541" y="1623"/>
                </a:moveTo>
                <a:cubicBezTo>
                  <a:pt x="1254" y="1546"/>
                  <a:pt x="1114" y="1238"/>
                  <a:pt x="1184" y="837"/>
                </a:cubicBezTo>
                <a:cubicBezTo>
                  <a:pt x="1241" y="513"/>
                  <a:pt x="1431" y="262"/>
                  <a:pt x="1737" y="107"/>
                </a:cubicBezTo>
                <a:cubicBezTo>
                  <a:pt x="1821" y="65"/>
                  <a:pt x="1992" y="6"/>
                  <a:pt x="2029" y="6"/>
                </a:cubicBezTo>
                <a:cubicBezTo>
                  <a:pt x="2065" y="6"/>
                  <a:pt x="2103" y="51"/>
                  <a:pt x="2103" y="92"/>
                </a:cubicBezTo>
                <a:cubicBezTo>
                  <a:pt x="2103" y="135"/>
                  <a:pt x="2097" y="140"/>
                  <a:pt x="1997" y="175"/>
                </a:cubicBezTo>
                <a:cubicBezTo>
                  <a:pt x="1703" y="278"/>
                  <a:pt x="1521" y="467"/>
                  <a:pt x="1451" y="744"/>
                </a:cubicBezTo>
                <a:cubicBezTo>
                  <a:pt x="1437" y="799"/>
                  <a:pt x="1429" y="848"/>
                  <a:pt x="1432" y="852"/>
                </a:cubicBezTo>
                <a:cubicBezTo>
                  <a:pt x="1436" y="855"/>
                  <a:pt x="1460" y="837"/>
                  <a:pt x="1485" y="812"/>
                </a:cubicBezTo>
                <a:cubicBezTo>
                  <a:pt x="1565" y="732"/>
                  <a:pt x="1626" y="712"/>
                  <a:pt x="1784" y="712"/>
                </a:cubicBezTo>
                <a:cubicBezTo>
                  <a:pt x="1909" y="712"/>
                  <a:pt x="1927" y="715"/>
                  <a:pt x="1985" y="745"/>
                </a:cubicBezTo>
                <a:cubicBezTo>
                  <a:pt x="2191" y="854"/>
                  <a:pt x="2270" y="1130"/>
                  <a:pt x="2165" y="1374"/>
                </a:cubicBezTo>
                <a:cubicBezTo>
                  <a:pt x="2078" y="1578"/>
                  <a:pt x="1794" y="1691"/>
                  <a:pt x="1541" y="1623"/>
                </a:cubicBezTo>
                <a:close/>
              </a:path>
            </a:pathLst>
          </a:custGeom>
          <a:solidFill>
            <a:schemeClr val="accent2"/>
          </a:solidFill>
          <a:ln w="0">
            <a:noFill/>
            <a:prstDash val="solid"/>
            <a:round/>
            <a:headEnd/>
            <a:tailEnd/>
          </a:ln>
        </p:spPr>
        <p:txBody>
          <a:bodyPr vert="horz" wrap="square" lIns="91440" tIns="45720" rIns="91440" bIns="45720" numCol="1" anchor="t" anchorCtr="0" compatLnSpc="1">
            <a:prstTxWarp prst="textNoShape">
              <a:avLst/>
            </a:prstTxWarp>
          </a:bodyPr>
          <a:lstStyle/>
          <a:p>
            <a:pPr>
              <a:defRPr/>
            </a:pPr>
            <a:endParaRPr lang="en-US" sz="2400">
              <a:solidFill>
                <a:prstClr val="black"/>
              </a:solidFill>
              <a:latin typeface="Trebuchet MS" panose="020B0603020202020204" pitchFamily="34" charset="0"/>
              <a:cs typeface="Arial" panose="020B0604020202020204" pitchFamily="34" charset="0"/>
            </a:endParaRPr>
          </a:p>
        </p:txBody>
      </p:sp>
      <p:cxnSp>
        <p:nvCxnSpPr>
          <p:cNvPr id="6" name="Straight Connector 5">
            <a:extLst>
              <a:ext uri="{FF2B5EF4-FFF2-40B4-BE49-F238E27FC236}">
                <a16:creationId xmlns:a16="http://schemas.microsoft.com/office/drawing/2014/main" id="{C130C343-7E86-47DC-BE76-22B432081C6D}"/>
              </a:ext>
            </a:extLst>
          </p:cNvPr>
          <p:cNvCxnSpPr>
            <a:cxnSpLocks/>
          </p:cNvCxnSpPr>
          <p:nvPr/>
        </p:nvCxnSpPr>
        <p:spPr>
          <a:xfrm flipV="1">
            <a:off x="2701319" y="2533983"/>
            <a:ext cx="8305548" cy="1"/>
          </a:xfrm>
          <a:prstGeom prst="line">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7" name="Freeform 5">
            <a:extLst>
              <a:ext uri="{FF2B5EF4-FFF2-40B4-BE49-F238E27FC236}">
                <a16:creationId xmlns:a16="http://schemas.microsoft.com/office/drawing/2014/main" id="{8FB03FD4-AE66-4C14-AB24-8E63E8CBF56D}"/>
              </a:ext>
            </a:extLst>
          </p:cNvPr>
          <p:cNvSpPr>
            <a:spLocks noEditPoints="1"/>
          </p:cNvSpPr>
          <p:nvPr/>
        </p:nvSpPr>
        <p:spPr bwMode="auto">
          <a:xfrm rot="10800000">
            <a:off x="10699551" y="4369920"/>
            <a:ext cx="840580" cy="624739"/>
          </a:xfrm>
          <a:custGeom>
            <a:avLst/>
            <a:gdLst>
              <a:gd name="T0" fmla="*/ 397 w 2270"/>
              <a:gd name="T1" fmla="*/ 1625 h 1691"/>
              <a:gd name="T2" fmla="*/ 39 w 2270"/>
              <a:gd name="T3" fmla="*/ 1267 h 1691"/>
              <a:gd name="T4" fmla="*/ 39 w 2270"/>
              <a:gd name="T5" fmla="*/ 762 h 1691"/>
              <a:gd name="T6" fmla="*/ 632 w 2270"/>
              <a:gd name="T7" fmla="*/ 82 h 1691"/>
              <a:gd name="T8" fmla="*/ 896 w 2270"/>
              <a:gd name="T9" fmla="*/ 10 h 1691"/>
              <a:gd name="T10" fmla="*/ 935 w 2270"/>
              <a:gd name="T11" fmla="*/ 63 h 1691"/>
              <a:gd name="T12" fmla="*/ 934 w 2270"/>
              <a:gd name="T13" fmla="*/ 131 h 1691"/>
              <a:gd name="T14" fmla="*/ 873 w 2270"/>
              <a:gd name="T15" fmla="*/ 162 h 1691"/>
              <a:gd name="T16" fmla="*/ 561 w 2270"/>
              <a:gd name="T17" fmla="*/ 319 h 1691"/>
              <a:gd name="T18" fmla="*/ 345 w 2270"/>
              <a:gd name="T19" fmla="*/ 588 h 1691"/>
              <a:gd name="T20" fmla="*/ 271 w 2270"/>
              <a:gd name="T21" fmla="*/ 853 h 1691"/>
              <a:gd name="T22" fmla="*/ 339 w 2270"/>
              <a:gd name="T23" fmla="*/ 803 h 1691"/>
              <a:gd name="T24" fmla="*/ 651 w 2270"/>
              <a:gd name="T25" fmla="*/ 708 h 1691"/>
              <a:gd name="T26" fmla="*/ 936 w 2270"/>
              <a:gd name="T27" fmla="*/ 827 h 1691"/>
              <a:gd name="T28" fmla="*/ 923 w 2270"/>
              <a:gd name="T29" fmla="*/ 1496 h 1691"/>
              <a:gd name="T30" fmla="*/ 397 w 2270"/>
              <a:gd name="T31" fmla="*/ 1625 h 1691"/>
              <a:gd name="T32" fmla="*/ 1541 w 2270"/>
              <a:gd name="T33" fmla="*/ 1623 h 1691"/>
              <a:gd name="T34" fmla="*/ 1184 w 2270"/>
              <a:gd name="T35" fmla="*/ 837 h 1691"/>
              <a:gd name="T36" fmla="*/ 1737 w 2270"/>
              <a:gd name="T37" fmla="*/ 107 h 1691"/>
              <a:gd name="T38" fmla="*/ 2029 w 2270"/>
              <a:gd name="T39" fmla="*/ 6 h 1691"/>
              <a:gd name="T40" fmla="*/ 2103 w 2270"/>
              <a:gd name="T41" fmla="*/ 92 h 1691"/>
              <a:gd name="T42" fmla="*/ 1997 w 2270"/>
              <a:gd name="T43" fmla="*/ 175 h 1691"/>
              <a:gd name="T44" fmla="*/ 1451 w 2270"/>
              <a:gd name="T45" fmla="*/ 744 h 1691"/>
              <a:gd name="T46" fmla="*/ 1432 w 2270"/>
              <a:gd name="T47" fmla="*/ 852 h 1691"/>
              <a:gd name="T48" fmla="*/ 1485 w 2270"/>
              <a:gd name="T49" fmla="*/ 812 h 1691"/>
              <a:gd name="T50" fmla="*/ 1784 w 2270"/>
              <a:gd name="T51" fmla="*/ 712 h 1691"/>
              <a:gd name="T52" fmla="*/ 1985 w 2270"/>
              <a:gd name="T53" fmla="*/ 745 h 1691"/>
              <a:gd name="T54" fmla="*/ 2165 w 2270"/>
              <a:gd name="T55" fmla="*/ 1374 h 1691"/>
              <a:gd name="T56" fmla="*/ 1541 w 2270"/>
              <a:gd name="T57" fmla="*/ 1623 h 16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270" h="1691">
                <a:moveTo>
                  <a:pt x="397" y="1625"/>
                </a:moveTo>
                <a:cubicBezTo>
                  <a:pt x="215" y="1581"/>
                  <a:pt x="100" y="1465"/>
                  <a:pt x="39" y="1267"/>
                </a:cubicBezTo>
                <a:cubicBezTo>
                  <a:pt x="0" y="1141"/>
                  <a:pt x="0" y="910"/>
                  <a:pt x="39" y="762"/>
                </a:cubicBezTo>
                <a:cubicBezTo>
                  <a:pt x="123" y="448"/>
                  <a:pt x="333" y="207"/>
                  <a:pt x="632" y="82"/>
                </a:cubicBezTo>
                <a:cubicBezTo>
                  <a:pt x="750" y="33"/>
                  <a:pt x="871" y="0"/>
                  <a:pt x="896" y="10"/>
                </a:cubicBezTo>
                <a:cubicBezTo>
                  <a:pt x="907" y="14"/>
                  <a:pt x="925" y="38"/>
                  <a:pt x="935" y="63"/>
                </a:cubicBezTo>
                <a:cubicBezTo>
                  <a:pt x="953" y="104"/>
                  <a:pt x="952" y="110"/>
                  <a:pt x="934" y="131"/>
                </a:cubicBezTo>
                <a:cubicBezTo>
                  <a:pt x="922" y="144"/>
                  <a:pt x="895" y="158"/>
                  <a:pt x="873" y="162"/>
                </a:cubicBezTo>
                <a:cubicBezTo>
                  <a:pt x="808" y="176"/>
                  <a:pt x="639" y="261"/>
                  <a:pt x="561" y="319"/>
                </a:cubicBezTo>
                <a:cubicBezTo>
                  <a:pt x="479" y="381"/>
                  <a:pt x="389" y="493"/>
                  <a:pt x="345" y="588"/>
                </a:cubicBezTo>
                <a:cubicBezTo>
                  <a:pt x="314" y="655"/>
                  <a:pt x="261" y="843"/>
                  <a:pt x="271" y="853"/>
                </a:cubicBezTo>
                <a:cubicBezTo>
                  <a:pt x="274" y="856"/>
                  <a:pt x="305" y="834"/>
                  <a:pt x="339" y="803"/>
                </a:cubicBezTo>
                <a:cubicBezTo>
                  <a:pt x="424" y="727"/>
                  <a:pt x="508" y="701"/>
                  <a:pt x="651" y="708"/>
                </a:cubicBezTo>
                <a:cubicBezTo>
                  <a:pt x="781" y="714"/>
                  <a:pt x="857" y="746"/>
                  <a:pt x="936" y="827"/>
                </a:cubicBezTo>
                <a:cubicBezTo>
                  <a:pt x="1095" y="990"/>
                  <a:pt x="1088" y="1326"/>
                  <a:pt x="923" y="1496"/>
                </a:cubicBezTo>
                <a:cubicBezTo>
                  <a:pt x="802" y="1619"/>
                  <a:pt x="587" y="1673"/>
                  <a:pt x="397" y="1625"/>
                </a:cubicBezTo>
                <a:close/>
                <a:moveTo>
                  <a:pt x="1541" y="1623"/>
                </a:moveTo>
                <a:cubicBezTo>
                  <a:pt x="1254" y="1546"/>
                  <a:pt x="1114" y="1238"/>
                  <a:pt x="1184" y="837"/>
                </a:cubicBezTo>
                <a:cubicBezTo>
                  <a:pt x="1241" y="513"/>
                  <a:pt x="1431" y="262"/>
                  <a:pt x="1737" y="107"/>
                </a:cubicBezTo>
                <a:cubicBezTo>
                  <a:pt x="1821" y="65"/>
                  <a:pt x="1992" y="6"/>
                  <a:pt x="2029" y="6"/>
                </a:cubicBezTo>
                <a:cubicBezTo>
                  <a:pt x="2065" y="6"/>
                  <a:pt x="2103" y="51"/>
                  <a:pt x="2103" y="92"/>
                </a:cubicBezTo>
                <a:cubicBezTo>
                  <a:pt x="2103" y="135"/>
                  <a:pt x="2097" y="140"/>
                  <a:pt x="1997" y="175"/>
                </a:cubicBezTo>
                <a:cubicBezTo>
                  <a:pt x="1703" y="278"/>
                  <a:pt x="1521" y="467"/>
                  <a:pt x="1451" y="744"/>
                </a:cubicBezTo>
                <a:cubicBezTo>
                  <a:pt x="1437" y="799"/>
                  <a:pt x="1429" y="848"/>
                  <a:pt x="1432" y="852"/>
                </a:cubicBezTo>
                <a:cubicBezTo>
                  <a:pt x="1436" y="855"/>
                  <a:pt x="1460" y="837"/>
                  <a:pt x="1485" y="812"/>
                </a:cubicBezTo>
                <a:cubicBezTo>
                  <a:pt x="1565" y="732"/>
                  <a:pt x="1626" y="712"/>
                  <a:pt x="1784" y="712"/>
                </a:cubicBezTo>
                <a:cubicBezTo>
                  <a:pt x="1909" y="712"/>
                  <a:pt x="1927" y="715"/>
                  <a:pt x="1985" y="745"/>
                </a:cubicBezTo>
                <a:cubicBezTo>
                  <a:pt x="2191" y="854"/>
                  <a:pt x="2270" y="1130"/>
                  <a:pt x="2165" y="1374"/>
                </a:cubicBezTo>
                <a:cubicBezTo>
                  <a:pt x="2078" y="1578"/>
                  <a:pt x="1794" y="1691"/>
                  <a:pt x="1541" y="1623"/>
                </a:cubicBezTo>
                <a:close/>
              </a:path>
            </a:pathLst>
          </a:custGeom>
          <a:solidFill>
            <a:schemeClr val="accent2"/>
          </a:solidFill>
          <a:ln w="0">
            <a:noFill/>
            <a:prstDash val="solid"/>
            <a:round/>
            <a:headEnd/>
            <a:tailEnd/>
          </a:ln>
        </p:spPr>
        <p:txBody>
          <a:bodyPr vert="horz" wrap="square" lIns="91440" tIns="45720" rIns="91440" bIns="45720" numCol="1" anchor="t" anchorCtr="0" compatLnSpc="1">
            <a:prstTxWarp prst="textNoShape">
              <a:avLst/>
            </a:prstTxWarp>
          </a:bodyPr>
          <a:lstStyle/>
          <a:p>
            <a:pPr>
              <a:defRPr/>
            </a:pPr>
            <a:endParaRPr lang="en-US" sz="2400">
              <a:solidFill>
                <a:prstClr val="black"/>
              </a:solidFill>
              <a:latin typeface="Trebuchet MS" panose="020B0603020202020204" pitchFamily="34" charset="0"/>
              <a:cs typeface="Arial" panose="020B0604020202020204" pitchFamily="34" charset="0"/>
            </a:endParaRPr>
          </a:p>
        </p:txBody>
      </p:sp>
      <p:cxnSp>
        <p:nvCxnSpPr>
          <p:cNvPr id="8" name="Straight Connector 7">
            <a:extLst>
              <a:ext uri="{FF2B5EF4-FFF2-40B4-BE49-F238E27FC236}">
                <a16:creationId xmlns:a16="http://schemas.microsoft.com/office/drawing/2014/main" id="{344AC9A4-2D9C-4784-AEB8-C98A69CBB948}"/>
              </a:ext>
            </a:extLst>
          </p:cNvPr>
          <p:cNvCxnSpPr>
            <a:cxnSpLocks/>
          </p:cNvCxnSpPr>
          <p:nvPr/>
        </p:nvCxnSpPr>
        <p:spPr>
          <a:xfrm flipH="1" flipV="1">
            <a:off x="3500268" y="4678950"/>
            <a:ext cx="6928883" cy="3339"/>
          </a:xfrm>
          <a:prstGeom prst="line">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10" name="Title 9">
            <a:extLst>
              <a:ext uri="{FF2B5EF4-FFF2-40B4-BE49-F238E27FC236}">
                <a16:creationId xmlns:a16="http://schemas.microsoft.com/office/drawing/2014/main" id="{F0732740-4FE8-C591-4CF5-B60AD875F743}"/>
              </a:ext>
            </a:extLst>
          </p:cNvPr>
          <p:cNvSpPr>
            <a:spLocks noGrp="1"/>
          </p:cNvSpPr>
          <p:nvPr>
            <p:ph type="title"/>
          </p:nvPr>
        </p:nvSpPr>
        <p:spPr/>
        <p:txBody>
          <a:bodyPr/>
          <a:lstStyle/>
          <a:p>
            <a:pPr>
              <a:buClr>
                <a:srgbClr val="BBBCBC"/>
              </a:buClr>
              <a:buSzPts val="3600"/>
            </a:pPr>
            <a:r>
              <a:rPr lang="en-US" sz="3600" b="1">
                <a:solidFill>
                  <a:srgbClr val="BBBCBC"/>
                </a:solidFill>
              </a:rPr>
              <a:t>Quality</a:t>
            </a:r>
          </a:p>
        </p:txBody>
      </p:sp>
    </p:spTree>
    <p:custDataLst>
      <p:tags r:id="rId1"/>
    </p:custDataLst>
    <p:extLst>
      <p:ext uri="{BB962C8B-B14F-4D97-AF65-F5344CB8AC3E}">
        <p14:creationId xmlns:p14="http://schemas.microsoft.com/office/powerpoint/2010/main" val="23467098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B8897E88-FC6E-DF99-D199-68CC2E6D0844}"/>
              </a:ext>
            </a:extLst>
          </p:cNvPr>
          <p:cNvGrpSpPr/>
          <p:nvPr/>
        </p:nvGrpSpPr>
        <p:grpSpPr>
          <a:xfrm>
            <a:off x="1280160" y="1881070"/>
            <a:ext cx="9385818" cy="5343926"/>
            <a:chOff x="-294997" y="1782644"/>
            <a:chExt cx="12763988" cy="4877443"/>
          </a:xfrm>
        </p:grpSpPr>
        <p:grpSp>
          <p:nvGrpSpPr>
            <p:cNvPr id="3" name="Group 2">
              <a:extLst>
                <a:ext uri="{FF2B5EF4-FFF2-40B4-BE49-F238E27FC236}">
                  <a16:creationId xmlns:a16="http://schemas.microsoft.com/office/drawing/2014/main" id="{4550FE04-CB6D-28E6-DBDD-D5B3FA188A67}"/>
                </a:ext>
              </a:extLst>
            </p:cNvPr>
            <p:cNvGrpSpPr/>
            <p:nvPr/>
          </p:nvGrpSpPr>
          <p:grpSpPr>
            <a:xfrm>
              <a:off x="5774094" y="1782644"/>
              <a:ext cx="643812" cy="4877443"/>
              <a:chOff x="5774094" y="1782644"/>
              <a:chExt cx="643812" cy="4877443"/>
            </a:xfrm>
            <a:solidFill>
              <a:srgbClr val="C50E3C"/>
            </a:solidFill>
          </p:grpSpPr>
          <p:sp>
            <p:nvSpPr>
              <p:cNvPr id="10" name="Rectangle: Rounded Corners 16">
                <a:extLst>
                  <a:ext uri="{FF2B5EF4-FFF2-40B4-BE49-F238E27FC236}">
                    <a16:creationId xmlns:a16="http://schemas.microsoft.com/office/drawing/2014/main" id="{134B87AF-7355-95F0-2D0C-29D3C8E85124}"/>
                  </a:ext>
                </a:extLst>
              </p:cNvPr>
              <p:cNvSpPr/>
              <p:nvPr/>
            </p:nvSpPr>
            <p:spPr bwMode="gray">
              <a:xfrm rot="5400000">
                <a:off x="3870325" y="4007336"/>
                <a:ext cx="4451350" cy="151428"/>
              </a:xfrm>
              <a:prstGeom prst="roundRect">
                <a:avLst>
                  <a:gd name="adj" fmla="val 50000"/>
                </a:avLst>
              </a:prstGeom>
              <a:solidFill>
                <a:schemeClr val="tx1">
                  <a:lumMod val="75000"/>
                  <a:lumOff val="25000"/>
                </a:schemeClr>
              </a:solidFill>
              <a:ln w="81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A6C8A"/>
                  </a:solidFill>
                  <a:effectLst/>
                  <a:uLnTx/>
                  <a:uFillTx/>
                  <a:latin typeface="Trebuchet MS"/>
                </a:endParaRPr>
              </a:p>
            </p:txBody>
          </p:sp>
          <p:sp>
            <p:nvSpPr>
              <p:cNvPr id="11" name="Partial Circle 17">
                <a:extLst>
                  <a:ext uri="{FF2B5EF4-FFF2-40B4-BE49-F238E27FC236}">
                    <a16:creationId xmlns:a16="http://schemas.microsoft.com/office/drawing/2014/main" id="{462A49B3-A284-83D4-B345-67A1C59B8AB9}"/>
                  </a:ext>
                </a:extLst>
              </p:cNvPr>
              <p:cNvSpPr/>
              <p:nvPr/>
            </p:nvSpPr>
            <p:spPr>
              <a:xfrm rot="10800000">
                <a:off x="5774094" y="6074752"/>
                <a:ext cx="643812" cy="585335"/>
              </a:xfrm>
              <a:prstGeom prst="pie">
                <a:avLst>
                  <a:gd name="adj1" fmla="val 0"/>
                  <a:gd name="adj2" fmla="val 10803974"/>
                </a:avLst>
              </a:prstGeom>
              <a:solidFill>
                <a:schemeClr val="tx1">
                  <a:lumMod val="75000"/>
                  <a:lumOff val="25000"/>
                </a:schemeClr>
              </a:solidFill>
              <a:ln w="9525" cap="flat" cmpd="sng" algn="ctr">
                <a:noFill/>
                <a:prstDash val="solid"/>
                <a:miter lim="800000"/>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600"/>
                  </a:spcBef>
                  <a:spcAft>
                    <a:spcPts val="0"/>
                  </a:spcAft>
                  <a:buClrTx/>
                  <a:buSzTx/>
                  <a:buFontTx/>
                  <a:buNone/>
                  <a:tabLst/>
                  <a:defRPr/>
                </a:pPr>
                <a:endParaRPr kumimoji="0" lang="en-IN" sz="1800" b="0" i="0" u="none" strike="noStrike" kern="0" cap="none" spc="0" normalizeH="0" baseline="0" noProof="0">
                  <a:ln>
                    <a:noFill/>
                  </a:ln>
                  <a:solidFill>
                    <a:srgbClr val="54565B"/>
                  </a:solidFill>
                  <a:effectLst/>
                  <a:uLnTx/>
                  <a:uFillTx/>
                  <a:latin typeface="Trebuchet MS"/>
                  <a:ea typeface="+mn-ea"/>
                  <a:cs typeface="+mn-cs"/>
                </a:endParaRPr>
              </a:p>
            </p:txBody>
          </p:sp>
          <p:sp>
            <p:nvSpPr>
              <p:cNvPr id="12" name="Flowchart: Connector 18">
                <a:extLst>
                  <a:ext uri="{FF2B5EF4-FFF2-40B4-BE49-F238E27FC236}">
                    <a16:creationId xmlns:a16="http://schemas.microsoft.com/office/drawing/2014/main" id="{D942B7CD-0180-7E7B-9DEF-8EC3A21FAF3F}"/>
                  </a:ext>
                </a:extLst>
              </p:cNvPr>
              <p:cNvSpPr/>
              <p:nvPr/>
            </p:nvSpPr>
            <p:spPr>
              <a:xfrm rot="10800000">
                <a:off x="5964425" y="1782644"/>
                <a:ext cx="248703" cy="166916"/>
              </a:xfrm>
              <a:prstGeom prst="flowChartConnector">
                <a:avLst/>
              </a:prstGeom>
              <a:solidFill>
                <a:schemeClr val="tx1">
                  <a:lumMod val="75000"/>
                  <a:lumOff val="25000"/>
                </a:schemeClr>
              </a:solidFill>
              <a:ln w="9525" cap="flat" cmpd="sng" algn="ctr">
                <a:noFill/>
                <a:prstDash val="solid"/>
                <a:miter lim="800000"/>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600"/>
                  </a:spcBef>
                  <a:spcAft>
                    <a:spcPts val="0"/>
                  </a:spcAft>
                  <a:buClrTx/>
                  <a:buSzTx/>
                  <a:buFontTx/>
                  <a:buNone/>
                  <a:tabLst/>
                  <a:defRPr/>
                </a:pPr>
                <a:endParaRPr kumimoji="0" lang="en-IN" sz="1800" b="0" i="0" u="none" strike="noStrike" kern="0" cap="none" spc="0" normalizeH="0" baseline="0" noProof="0">
                  <a:ln>
                    <a:noFill/>
                  </a:ln>
                  <a:solidFill>
                    <a:srgbClr val="54565B"/>
                  </a:solidFill>
                  <a:effectLst/>
                  <a:uLnTx/>
                  <a:uFillTx/>
                  <a:latin typeface="Trebuchet MS"/>
                  <a:ea typeface="+mn-ea"/>
                  <a:cs typeface="+mn-cs"/>
                </a:endParaRPr>
              </a:p>
            </p:txBody>
          </p:sp>
        </p:grpSp>
        <p:grpSp>
          <p:nvGrpSpPr>
            <p:cNvPr id="4" name="Group 3">
              <a:extLst>
                <a:ext uri="{FF2B5EF4-FFF2-40B4-BE49-F238E27FC236}">
                  <a16:creationId xmlns:a16="http://schemas.microsoft.com/office/drawing/2014/main" id="{C2A9FEB1-F5D5-9663-AA64-D8FA9BAC7F5D}"/>
                </a:ext>
              </a:extLst>
            </p:cNvPr>
            <p:cNvGrpSpPr/>
            <p:nvPr/>
          </p:nvGrpSpPr>
          <p:grpSpPr>
            <a:xfrm>
              <a:off x="-294997" y="2039892"/>
              <a:ext cx="6110582" cy="3239779"/>
              <a:chOff x="-294997" y="2039892"/>
              <a:chExt cx="6110582" cy="3239779"/>
            </a:xfrm>
          </p:grpSpPr>
          <p:sp>
            <p:nvSpPr>
              <p:cNvPr id="8" name="Arrow: Pentagon 8">
                <a:extLst>
                  <a:ext uri="{FF2B5EF4-FFF2-40B4-BE49-F238E27FC236}">
                    <a16:creationId xmlns:a16="http://schemas.microsoft.com/office/drawing/2014/main" id="{2A9F4D29-86AF-4253-AA49-AAD73F6BC9E9}"/>
                  </a:ext>
                </a:extLst>
              </p:cNvPr>
              <p:cNvSpPr>
                <a:spLocks/>
              </p:cNvSpPr>
              <p:nvPr/>
            </p:nvSpPr>
            <p:spPr>
              <a:xfrm flipH="1">
                <a:off x="-294997" y="2039892"/>
                <a:ext cx="6093213" cy="751122"/>
              </a:xfrm>
              <a:prstGeom prst="homePlate">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1500"/>
                  </a:spcBef>
                  <a:spcAft>
                    <a:spcPts val="0"/>
                  </a:spcAft>
                  <a:buClrTx/>
                  <a:buSzTx/>
                  <a:buFontTx/>
                  <a:buNone/>
                  <a:tabLst/>
                  <a:defRPr/>
                </a:pPr>
                <a:r>
                  <a:rPr kumimoji="0" lang="en-US" sz="2000" b="1" i="0" u="none" strike="noStrike" kern="0" cap="none" spc="0" normalizeH="0" baseline="0" noProof="0">
                    <a:ln>
                      <a:noFill/>
                    </a:ln>
                    <a:solidFill>
                      <a:srgbClr val="FFFFFF"/>
                    </a:solidFill>
                    <a:effectLst/>
                    <a:uLnTx/>
                    <a:uFillTx/>
                    <a:latin typeface="Trebuchet MS"/>
                    <a:ea typeface="+mn-ea"/>
                    <a:cs typeface="Times New Roman" panose="02020603050405020304" pitchFamily="18" charset="0"/>
                  </a:rPr>
                  <a:t>Critical Data</a:t>
                </a:r>
                <a:endParaRPr kumimoji="0" lang="en-IN" sz="2000" b="1" i="0" u="none" strike="noStrike" kern="0" cap="none" spc="0" normalizeH="0" baseline="0" noProof="0">
                  <a:ln>
                    <a:noFill/>
                  </a:ln>
                  <a:solidFill>
                    <a:srgbClr val="FFFFFF"/>
                  </a:solidFill>
                  <a:effectLst/>
                  <a:uLnTx/>
                  <a:uFillTx/>
                  <a:latin typeface="Trebuchet MS"/>
                  <a:ea typeface="+mn-ea"/>
                  <a:cs typeface="+mn-cs"/>
                </a:endParaRPr>
              </a:p>
            </p:txBody>
          </p:sp>
          <p:sp>
            <p:nvSpPr>
              <p:cNvPr id="9" name="Rectangle 8">
                <a:extLst>
                  <a:ext uri="{FF2B5EF4-FFF2-40B4-BE49-F238E27FC236}">
                    <a16:creationId xmlns:a16="http://schemas.microsoft.com/office/drawing/2014/main" id="{67C21117-E276-7C46-DB9E-2F02B7C9ADD4}"/>
                  </a:ext>
                </a:extLst>
              </p:cNvPr>
              <p:cNvSpPr>
                <a:spLocks/>
              </p:cNvSpPr>
              <p:nvPr/>
            </p:nvSpPr>
            <p:spPr>
              <a:xfrm>
                <a:off x="231668" y="3032390"/>
                <a:ext cx="5583917" cy="2247281"/>
              </a:xfrm>
              <a:prstGeom prst="rect">
                <a:avLst/>
              </a:prstGeom>
            </p:spPr>
            <p:txBody>
              <a:bodyPr wrap="square" lIns="0" tIns="0" rIns="0" bIns="0" anchor="t">
                <a:spAutoFit/>
              </a:bodyPr>
              <a:lstStyle/>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a:ln>
                      <a:noFill/>
                    </a:ln>
                    <a:solidFill>
                      <a:srgbClr val="002060"/>
                    </a:solidFill>
                    <a:effectLst/>
                    <a:uLnTx/>
                    <a:uFillTx/>
                    <a:latin typeface="Trebuchet MS" panose="020B0603020202020204" pitchFamily="34" charset="0"/>
                  </a:rPr>
                  <a:t>Data deemed important to the reliability of the study findings, specifically those that support </a:t>
                </a:r>
                <a:r>
                  <a:rPr kumimoji="0" lang="en-US" sz="1600" b="0" i="0" u="none" strike="noStrike" kern="0" cap="none" spc="0" normalizeH="0" baseline="0" noProof="0">
                    <a:ln>
                      <a:noFill/>
                    </a:ln>
                    <a:solidFill>
                      <a:srgbClr val="27C4D6"/>
                    </a:solidFill>
                    <a:effectLst/>
                    <a:uLnTx/>
                    <a:uFillTx/>
                    <a:latin typeface="Trebuchet MS" panose="020B0603020202020204" pitchFamily="34" charset="0"/>
                  </a:rPr>
                  <a:t>primary and key secondary </a:t>
                </a:r>
                <a:r>
                  <a:rPr kumimoji="0" lang="en-US" sz="1600" b="0" i="0" u="none" strike="noStrike" kern="0" cap="none" spc="0" normalizeH="0" baseline="0" noProof="0">
                    <a:ln>
                      <a:noFill/>
                    </a:ln>
                    <a:solidFill>
                      <a:srgbClr val="002060"/>
                    </a:solidFill>
                    <a:effectLst/>
                    <a:uLnTx/>
                    <a:uFillTx/>
                    <a:latin typeface="Trebuchet MS" panose="020B0603020202020204" pitchFamily="34" charset="0"/>
                  </a:rPr>
                  <a:t>endpoints, as well as </a:t>
                </a:r>
                <a:r>
                  <a:rPr kumimoji="0" lang="en-US" sz="1600" b="0" i="0" u="none" strike="noStrike" kern="0" cap="none" spc="0" normalizeH="0" baseline="0" noProof="0">
                    <a:ln>
                      <a:noFill/>
                    </a:ln>
                    <a:solidFill>
                      <a:srgbClr val="27C4D6"/>
                    </a:solidFill>
                    <a:effectLst/>
                    <a:uLnTx/>
                    <a:uFillTx/>
                    <a:latin typeface="Trebuchet MS" panose="020B0603020202020204" pitchFamily="34" charset="0"/>
                  </a:rPr>
                  <a:t>data related to safety and key eligibility criteria</a:t>
                </a:r>
                <a:r>
                  <a:rPr kumimoji="0" lang="en-US" sz="1600" b="0" i="0" u="none" strike="noStrike" kern="0" cap="none" spc="0" normalizeH="0" baseline="0" noProof="0">
                    <a:ln>
                      <a:noFill/>
                    </a:ln>
                    <a:solidFill>
                      <a:srgbClr val="002060"/>
                    </a:solidFill>
                    <a:effectLst/>
                    <a:uLnTx/>
                    <a:uFillTx/>
                    <a:latin typeface="Trebuchet MS" panose="020B0603020202020204" pitchFamily="34" charset="0"/>
                  </a:rPr>
                  <a:t>. </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0" cap="none" spc="0" normalizeH="0" baseline="0" noProof="0">
                  <a:ln>
                    <a:noFill/>
                  </a:ln>
                  <a:solidFill>
                    <a:srgbClr val="002060"/>
                  </a:solidFill>
                  <a:effectLst/>
                  <a:uLnTx/>
                  <a:uFillTx/>
                  <a:latin typeface="Trebuchet MS" panose="020B0603020202020204" pitchFamily="34" charset="0"/>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a:ln>
                      <a:noFill/>
                    </a:ln>
                    <a:solidFill>
                      <a:srgbClr val="002060"/>
                    </a:solidFill>
                    <a:effectLst/>
                    <a:uLnTx/>
                    <a:uFillTx/>
                    <a:latin typeface="Trebuchet MS" panose="020B0603020202020204" pitchFamily="34" charset="0"/>
                  </a:rPr>
                  <a:t>(exploratory/tertiary Endpoints are not considered critical)</a:t>
                </a:r>
                <a:endParaRPr kumimoji="0" lang="en-US" sz="1600" b="0" i="0" u="none" strike="noStrike" kern="0" cap="none" spc="0" normalizeH="0" baseline="0" noProof="0">
                  <a:ln>
                    <a:noFill/>
                  </a:ln>
                  <a:solidFill>
                    <a:srgbClr val="002060"/>
                  </a:solidFill>
                  <a:effectLst/>
                  <a:uLnTx/>
                  <a:uFillTx/>
                  <a:latin typeface="Trebuchet MS" panose="020B0603020202020204" pitchFamily="34" charset="0"/>
                  <a:cs typeface="Calibri"/>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0" cap="none" spc="0" normalizeH="0" baseline="0" noProof="0">
                  <a:ln>
                    <a:noFill/>
                  </a:ln>
                  <a:solidFill>
                    <a:srgbClr val="002060"/>
                  </a:solidFill>
                  <a:effectLst/>
                  <a:uLnTx/>
                  <a:uFillTx/>
                  <a:latin typeface="Trebuchet MS" panose="020B0603020202020204" pitchFamily="34" charset="0"/>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0" cap="none" spc="0" normalizeH="0" baseline="0" noProof="0">
                  <a:ln>
                    <a:noFill/>
                  </a:ln>
                  <a:solidFill>
                    <a:srgbClr val="002060"/>
                  </a:solidFill>
                  <a:effectLst/>
                  <a:uLnTx/>
                  <a:uFillTx/>
                  <a:latin typeface="Trebuchet MS" panose="020B0603020202020204" pitchFamily="34" charset="0"/>
                </a:endParaRPr>
              </a:p>
            </p:txBody>
          </p:sp>
        </p:grpSp>
        <p:grpSp>
          <p:nvGrpSpPr>
            <p:cNvPr id="5" name="Group 4">
              <a:extLst>
                <a:ext uri="{FF2B5EF4-FFF2-40B4-BE49-F238E27FC236}">
                  <a16:creationId xmlns:a16="http://schemas.microsoft.com/office/drawing/2014/main" id="{7C07E5EE-6BD0-9352-6DCA-686FE13F42BD}"/>
                </a:ext>
              </a:extLst>
            </p:cNvPr>
            <p:cNvGrpSpPr/>
            <p:nvPr/>
          </p:nvGrpSpPr>
          <p:grpSpPr>
            <a:xfrm>
              <a:off x="6375779" y="2509197"/>
              <a:ext cx="6093212" cy="3484002"/>
              <a:chOff x="6375779" y="2509197"/>
              <a:chExt cx="6093212" cy="3484002"/>
            </a:xfrm>
          </p:grpSpPr>
          <p:sp>
            <p:nvSpPr>
              <p:cNvPr id="6" name="Arrow: Pentagon 6">
                <a:extLst>
                  <a:ext uri="{FF2B5EF4-FFF2-40B4-BE49-F238E27FC236}">
                    <a16:creationId xmlns:a16="http://schemas.microsoft.com/office/drawing/2014/main" id="{AE521AAA-C79A-0151-ADA2-FBCEBC689976}"/>
                  </a:ext>
                </a:extLst>
              </p:cNvPr>
              <p:cNvSpPr>
                <a:spLocks/>
              </p:cNvSpPr>
              <p:nvPr/>
            </p:nvSpPr>
            <p:spPr>
              <a:xfrm>
                <a:off x="6375779" y="2509197"/>
                <a:ext cx="6093212" cy="751122"/>
              </a:xfrm>
              <a:prstGeom prst="homePlate">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1500"/>
                  </a:spcBef>
                  <a:spcAft>
                    <a:spcPts val="0"/>
                  </a:spcAft>
                  <a:buClrTx/>
                  <a:buSzTx/>
                  <a:buFontTx/>
                  <a:buNone/>
                  <a:tabLst/>
                  <a:defRPr/>
                </a:pPr>
                <a:r>
                  <a:rPr kumimoji="0" lang="en-US" sz="2000" b="1" i="0" u="none" strike="noStrike" kern="0" cap="none" spc="0" normalizeH="0" baseline="0" noProof="0">
                    <a:ln>
                      <a:noFill/>
                    </a:ln>
                    <a:solidFill>
                      <a:srgbClr val="FFFFFF"/>
                    </a:solidFill>
                    <a:effectLst/>
                    <a:uLnTx/>
                    <a:uFillTx/>
                    <a:latin typeface="Trebuchet MS"/>
                    <a:ea typeface="+mn-ea"/>
                    <a:cs typeface="Times New Roman" panose="02020603050405020304" pitchFamily="18" charset="0"/>
                  </a:rPr>
                  <a:t>Critical Process</a:t>
                </a:r>
                <a:endParaRPr kumimoji="0" lang="en-IN" sz="2000" b="1" i="0" u="none" strike="noStrike" kern="0" cap="none" spc="0" normalizeH="0" baseline="0" noProof="0">
                  <a:ln>
                    <a:noFill/>
                  </a:ln>
                  <a:solidFill>
                    <a:srgbClr val="FFFFFF"/>
                  </a:solidFill>
                  <a:effectLst/>
                  <a:uLnTx/>
                  <a:uFillTx/>
                  <a:latin typeface="Trebuchet MS"/>
                  <a:ea typeface="+mn-ea"/>
                  <a:cs typeface="+mn-cs"/>
                </a:endParaRPr>
              </a:p>
            </p:txBody>
          </p:sp>
          <p:sp>
            <p:nvSpPr>
              <p:cNvPr id="7" name="Rectangle 6">
                <a:extLst>
                  <a:ext uri="{FF2B5EF4-FFF2-40B4-BE49-F238E27FC236}">
                    <a16:creationId xmlns:a16="http://schemas.microsoft.com/office/drawing/2014/main" id="{1B137349-E0AC-24E8-91AB-18230C9C5133}"/>
                  </a:ext>
                </a:extLst>
              </p:cNvPr>
              <p:cNvSpPr>
                <a:spLocks/>
              </p:cNvSpPr>
              <p:nvPr/>
            </p:nvSpPr>
            <p:spPr>
              <a:xfrm>
                <a:off x="6375780" y="3521190"/>
                <a:ext cx="5369354" cy="2472009"/>
              </a:xfrm>
              <a:prstGeom prst="rect">
                <a:avLst/>
              </a:prstGeom>
            </p:spPr>
            <p:txBody>
              <a:bodyPr wrap="square" lIns="0" tIns="0" rIns="0" bIns="0">
                <a:spAutoFit/>
              </a:bodyPr>
              <a:lstStyle/>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a:ln>
                      <a:noFill/>
                    </a:ln>
                    <a:solidFill>
                      <a:srgbClr val="002060"/>
                    </a:solidFill>
                    <a:effectLst/>
                    <a:uLnTx/>
                    <a:uFillTx/>
                    <a:latin typeface="Trebuchet MS" panose="020B0603020202020204" pitchFamily="34" charset="0"/>
                  </a:rPr>
                  <a:t>Any process that is essential to the reliability of study findings and/or related to ensuring participant safety and rights</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0" cap="none" spc="0" normalizeH="0" baseline="0" noProof="0">
                  <a:ln>
                    <a:noFill/>
                  </a:ln>
                  <a:solidFill>
                    <a:srgbClr val="002060"/>
                  </a:solidFill>
                  <a:effectLst/>
                  <a:uLnTx/>
                  <a:uFillTx/>
                  <a:latin typeface="Trebuchet MS" panose="020B0603020202020204" pitchFamily="34" charset="0"/>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a:ln>
                      <a:noFill/>
                    </a:ln>
                    <a:solidFill>
                      <a:srgbClr val="002060"/>
                    </a:solidFill>
                    <a:effectLst/>
                    <a:uLnTx/>
                    <a:uFillTx/>
                    <a:latin typeface="Trebuchet MS" panose="020B0603020202020204" pitchFamily="34" charset="0"/>
                  </a:rPr>
                  <a:t>Examples: </a:t>
                </a:r>
              </a:p>
              <a:p>
                <a:pPr marL="742950" marR="0" lvl="1"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a:ln>
                      <a:noFill/>
                    </a:ln>
                    <a:solidFill>
                      <a:srgbClr val="002060"/>
                    </a:solidFill>
                    <a:effectLst/>
                    <a:uLnTx/>
                    <a:uFillTx/>
                    <a:latin typeface="Trebuchet MS" panose="020B0603020202020204" pitchFamily="34" charset="0"/>
                  </a:rPr>
                  <a:t>Informed consent process</a:t>
                </a:r>
              </a:p>
              <a:p>
                <a:pPr marL="742950" marR="0" lvl="1"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a:ln>
                      <a:noFill/>
                    </a:ln>
                    <a:solidFill>
                      <a:srgbClr val="002060"/>
                    </a:solidFill>
                    <a:effectLst/>
                    <a:uLnTx/>
                    <a:uFillTx/>
                    <a:latin typeface="Trebuchet MS" panose="020B0603020202020204" pitchFamily="34" charset="0"/>
                  </a:rPr>
                  <a:t>Randomization process</a:t>
                </a:r>
              </a:p>
              <a:p>
                <a:pPr marL="742950" marR="0" lvl="1"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a:ln>
                      <a:noFill/>
                    </a:ln>
                    <a:solidFill>
                      <a:srgbClr val="002060"/>
                    </a:solidFill>
                    <a:effectLst/>
                    <a:uLnTx/>
                    <a:uFillTx/>
                    <a:latin typeface="Trebuchet MS" panose="020B0603020202020204" pitchFamily="34" charset="0"/>
                  </a:rPr>
                  <a:t>Protocol specific intervention or procedures</a:t>
                </a:r>
              </a:p>
              <a:p>
                <a:pPr marL="742950" marR="0" lvl="1"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a:ln>
                      <a:noFill/>
                    </a:ln>
                    <a:solidFill>
                      <a:srgbClr val="002060"/>
                    </a:solidFill>
                    <a:effectLst/>
                    <a:uLnTx/>
                    <a:uFillTx/>
                    <a:latin typeface="Trebuchet MS" panose="020B0603020202020204" pitchFamily="34" charset="0"/>
                  </a:rPr>
                  <a:t>Dosing</a:t>
                </a:r>
              </a:p>
            </p:txBody>
          </p:sp>
        </p:grpSp>
      </p:grpSp>
      <p:sp>
        <p:nvSpPr>
          <p:cNvPr id="13" name="Title 12">
            <a:extLst>
              <a:ext uri="{FF2B5EF4-FFF2-40B4-BE49-F238E27FC236}">
                <a16:creationId xmlns:a16="http://schemas.microsoft.com/office/drawing/2014/main" id="{27698958-6AE8-7E23-FFBB-7301088862EB}"/>
              </a:ext>
            </a:extLst>
          </p:cNvPr>
          <p:cNvSpPr>
            <a:spLocks noGrp="1"/>
          </p:cNvSpPr>
          <p:nvPr>
            <p:ph type="title"/>
          </p:nvPr>
        </p:nvSpPr>
        <p:spPr/>
        <p:txBody>
          <a:bodyPr/>
          <a:lstStyle/>
          <a:p>
            <a:pPr>
              <a:buClr>
                <a:srgbClr val="BBBCBC"/>
              </a:buClr>
              <a:buSzPts val="3600"/>
            </a:pPr>
            <a:r>
              <a:rPr lang="en-US" sz="3600" b="1">
                <a:solidFill>
                  <a:srgbClr val="BBBCBC"/>
                </a:solidFill>
              </a:rPr>
              <a:t>CtQ: Data &amp; Process</a:t>
            </a:r>
          </a:p>
        </p:txBody>
      </p:sp>
    </p:spTree>
    <p:extLst>
      <p:ext uri="{BB962C8B-B14F-4D97-AF65-F5344CB8AC3E}">
        <p14:creationId xmlns:p14="http://schemas.microsoft.com/office/powerpoint/2010/main" val="3392614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5F1FB-DED1-F522-4FE2-D84BDA818FC2}"/>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07247487-88F6-EBB1-91D3-83445668D18B}"/>
              </a:ext>
            </a:extLst>
          </p:cNvPr>
          <p:cNvSpPr>
            <a:spLocks noGrp="1"/>
          </p:cNvSpPr>
          <p:nvPr>
            <p:ph type="title"/>
          </p:nvPr>
        </p:nvSpPr>
        <p:spPr/>
        <p:txBody>
          <a:bodyPr/>
          <a:lstStyle/>
          <a:p>
            <a:pPr>
              <a:buClr>
                <a:srgbClr val="BBBCBC"/>
              </a:buClr>
              <a:buSzPts val="3600"/>
            </a:pPr>
            <a:r>
              <a:rPr lang="en-US" sz="3600" b="1" dirty="0">
                <a:solidFill>
                  <a:srgbClr val="BBBCBC"/>
                </a:solidFill>
              </a:rPr>
              <a:t>Quality – What is different this time?</a:t>
            </a:r>
          </a:p>
        </p:txBody>
      </p:sp>
      <p:pic>
        <p:nvPicPr>
          <p:cNvPr id="11" name="Picture 10">
            <a:extLst>
              <a:ext uri="{FF2B5EF4-FFF2-40B4-BE49-F238E27FC236}">
                <a16:creationId xmlns:a16="http://schemas.microsoft.com/office/drawing/2014/main" id="{DC83CCC4-50FB-0357-C36D-0C20BA14675B}"/>
              </a:ext>
            </a:extLst>
          </p:cNvPr>
          <p:cNvPicPr>
            <a:picLocks noChangeAspect="1"/>
          </p:cNvPicPr>
          <p:nvPr/>
        </p:nvPicPr>
        <p:blipFill>
          <a:blip r:embed="rId4"/>
          <a:stretch>
            <a:fillRect/>
          </a:stretch>
        </p:blipFill>
        <p:spPr>
          <a:xfrm>
            <a:off x="308738" y="1996315"/>
            <a:ext cx="11568733" cy="4540546"/>
          </a:xfrm>
          <a:prstGeom prst="rect">
            <a:avLst/>
          </a:prstGeom>
        </p:spPr>
      </p:pic>
    </p:spTree>
    <p:custDataLst>
      <p:tags r:id="rId1"/>
    </p:custDataLst>
    <p:extLst>
      <p:ext uri="{BB962C8B-B14F-4D97-AF65-F5344CB8AC3E}">
        <p14:creationId xmlns:p14="http://schemas.microsoft.com/office/powerpoint/2010/main" val="14955251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E84073A3-F344-B351-EC19-B4234954D2A5}"/>
              </a:ext>
            </a:extLst>
          </p:cNvPr>
          <p:cNvGrpSpPr/>
          <p:nvPr/>
        </p:nvGrpSpPr>
        <p:grpSpPr>
          <a:xfrm>
            <a:off x="6096000" y="2756453"/>
            <a:ext cx="6778492" cy="4499113"/>
            <a:chOff x="6316282" y="2756452"/>
            <a:chExt cx="6778492" cy="4499113"/>
          </a:xfrm>
        </p:grpSpPr>
        <p:pic>
          <p:nvPicPr>
            <p:cNvPr id="6" name="Picture 8" descr="Laptop computer with blank transparent screen and background- PNG ...">
              <a:extLst>
                <a:ext uri="{FF2B5EF4-FFF2-40B4-BE49-F238E27FC236}">
                  <a16:creationId xmlns:a16="http://schemas.microsoft.com/office/drawing/2014/main" id="{9B4833D0-1E35-7129-6AC9-71E05FD12B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16282" y="2756452"/>
              <a:ext cx="6778492" cy="4499113"/>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BDCC3562-F475-EAED-E438-D0B8B7A0A08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510" b="40945"/>
            <a:stretch/>
          </p:blipFill>
          <p:spPr bwMode="auto">
            <a:xfrm>
              <a:off x="7983357" y="3754278"/>
              <a:ext cx="3432361" cy="210349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 name="Group 2">
            <a:extLst>
              <a:ext uri="{FF2B5EF4-FFF2-40B4-BE49-F238E27FC236}">
                <a16:creationId xmlns:a16="http://schemas.microsoft.com/office/drawing/2014/main" id="{492E8D00-7098-C8BD-4B23-772EBA6212B3}"/>
              </a:ext>
            </a:extLst>
          </p:cNvPr>
          <p:cNvGrpSpPr/>
          <p:nvPr/>
        </p:nvGrpSpPr>
        <p:grpSpPr>
          <a:xfrm>
            <a:off x="485320" y="2756453"/>
            <a:ext cx="6778492" cy="4499113"/>
            <a:chOff x="-1177705" y="1848999"/>
            <a:chExt cx="7513502" cy="5009001"/>
          </a:xfrm>
        </p:grpSpPr>
        <p:pic>
          <p:nvPicPr>
            <p:cNvPr id="1032" name="Picture 8" descr="Laptop computer with blank transparent screen and background- PNG ...">
              <a:extLst>
                <a:ext uri="{FF2B5EF4-FFF2-40B4-BE49-F238E27FC236}">
                  <a16:creationId xmlns:a16="http://schemas.microsoft.com/office/drawing/2014/main" id="{D7F6FB67-1047-4572-8F11-98EA4DF76A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7705" y="1848999"/>
              <a:ext cx="7513502" cy="500900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Podiatry EMR Software - 1st Providers Choice">
              <a:extLst>
                <a:ext uri="{FF2B5EF4-FFF2-40B4-BE49-F238E27FC236}">
                  <a16:creationId xmlns:a16="http://schemas.microsoft.com/office/drawing/2014/main" id="{EF09433C-97C9-4F6A-592E-434EF83167C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98" r="838"/>
            <a:stretch/>
          </p:blipFill>
          <p:spPr bwMode="auto">
            <a:xfrm>
              <a:off x="627055" y="3036671"/>
              <a:ext cx="3863384" cy="2217121"/>
            </a:xfrm>
            <a:prstGeom prst="rect">
              <a:avLst/>
            </a:prstGeom>
            <a:noFill/>
            <a:extLst>
              <a:ext uri="{909E8E84-426E-40DD-AFC4-6F175D3DCCD1}">
                <a14:hiddenFill xmlns:a14="http://schemas.microsoft.com/office/drawing/2010/main">
                  <a:solidFill>
                    <a:srgbClr val="FFFFFF"/>
                  </a:solidFill>
                </a14:hiddenFill>
              </a:ext>
            </a:extLst>
          </p:spPr>
        </p:pic>
      </p:grpSp>
      <p:sp>
        <p:nvSpPr>
          <p:cNvPr id="9" name="Title 8">
            <a:extLst>
              <a:ext uri="{FF2B5EF4-FFF2-40B4-BE49-F238E27FC236}">
                <a16:creationId xmlns:a16="http://schemas.microsoft.com/office/drawing/2014/main" id="{95821002-4A26-4F59-CD38-90C014C80908}"/>
              </a:ext>
            </a:extLst>
          </p:cNvPr>
          <p:cNvSpPr>
            <a:spLocks noGrp="1"/>
          </p:cNvSpPr>
          <p:nvPr>
            <p:ph type="title"/>
          </p:nvPr>
        </p:nvSpPr>
        <p:spPr/>
        <p:txBody>
          <a:bodyPr/>
          <a:lstStyle/>
          <a:p>
            <a:pPr>
              <a:buClr>
                <a:srgbClr val="BBBCBC"/>
              </a:buClr>
              <a:buSzPts val="3600"/>
            </a:pPr>
            <a:r>
              <a:rPr lang="en-US" sz="3600" b="1">
                <a:solidFill>
                  <a:srgbClr val="BBBCBC"/>
                </a:solidFill>
              </a:rPr>
              <a:t>Centralized Monitoring (CM)</a:t>
            </a:r>
          </a:p>
        </p:txBody>
      </p:sp>
      <p:sp>
        <p:nvSpPr>
          <p:cNvPr id="10" name="Text Placeholder 1">
            <a:extLst>
              <a:ext uri="{FF2B5EF4-FFF2-40B4-BE49-F238E27FC236}">
                <a16:creationId xmlns:a16="http://schemas.microsoft.com/office/drawing/2014/main" id="{ECC53696-BD92-2D90-B5A9-741C3846A5C7}"/>
              </a:ext>
            </a:extLst>
          </p:cNvPr>
          <p:cNvSpPr txBox="1">
            <a:spLocks/>
          </p:cNvSpPr>
          <p:nvPr/>
        </p:nvSpPr>
        <p:spPr>
          <a:xfrm>
            <a:off x="353763" y="1600202"/>
            <a:ext cx="11159045" cy="383483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buFont typeface="Arial" panose="020B0604020202020204" pitchFamily="34" charset="0"/>
              <a:buChar char="•"/>
            </a:pPr>
            <a:r>
              <a:rPr lang="en-US"/>
              <a:t>Centralized monitoring is a holistic view of the data used to identify trends, patterns, unusual variation in the data (aligned with ICH)</a:t>
            </a:r>
          </a:p>
          <a:p>
            <a:pPr marL="285750" indent="-285750">
              <a:buFont typeface="Arial" panose="020B0604020202020204" pitchFamily="34" charset="0"/>
              <a:buChar char="•"/>
            </a:pPr>
            <a:r>
              <a:rPr lang="en-US"/>
              <a:t>This is a vantage point that operations teams do not have </a:t>
            </a:r>
          </a:p>
          <a:p>
            <a:pPr marL="285750" indent="-285750">
              <a:buFont typeface="Arial" panose="020B0604020202020204" pitchFamily="34" charset="0"/>
              <a:buChar char="•"/>
            </a:pPr>
            <a:r>
              <a:rPr lang="en-US"/>
              <a:t>Helps operations teams target specific process risks at the study, region, country, or site level</a:t>
            </a:r>
          </a:p>
          <a:p>
            <a:pPr marL="285750" indent="-285750">
              <a:buFont typeface="Arial" panose="020B0604020202020204" pitchFamily="34" charset="0"/>
              <a:buChar char="•"/>
            </a:pPr>
            <a:r>
              <a:rPr lang="en-US"/>
              <a:t>Should focus primarily on the CtQ factors identified for the study</a:t>
            </a:r>
          </a:p>
          <a:p>
            <a:pPr marL="285750" indent="-285750">
              <a:buFont typeface="Arial" panose="020B0604020202020204" pitchFamily="34" charset="0"/>
              <a:buChar char="•"/>
            </a:pPr>
            <a:endParaRPr lang="en-US"/>
          </a:p>
        </p:txBody>
      </p:sp>
      <p:pic>
        <p:nvPicPr>
          <p:cNvPr id="1028" name="Picture 4" descr="Medsurg Pct/cna/tech Report Summary Brain Sheet Layout / Nursing School ...">
            <a:extLst>
              <a:ext uri="{FF2B5EF4-FFF2-40B4-BE49-F238E27FC236}">
                <a16:creationId xmlns:a16="http://schemas.microsoft.com/office/drawing/2014/main" id="{7B7F312F-31A9-C546-32AC-94F092799C3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20492517">
            <a:off x="532865" y="4064097"/>
            <a:ext cx="1908382" cy="2400762"/>
          </a:xfrm>
          <a:prstGeom prst="rect">
            <a:avLst/>
          </a:prstGeom>
          <a:noFill/>
          <a:scene3d>
            <a:camera prst="orthographicFront">
              <a:rot lat="20418987" lon="21383012" rev="637652"/>
            </a:camera>
            <a:lightRig rig="threePt" dir="t"/>
          </a:scene3d>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76ED32E-1A52-319D-33A3-7E1E1F74DCFD}"/>
              </a:ext>
            </a:extLst>
          </p:cNvPr>
          <p:cNvSpPr txBox="1"/>
          <p:nvPr/>
        </p:nvSpPr>
        <p:spPr>
          <a:xfrm>
            <a:off x="927629" y="3071930"/>
            <a:ext cx="4678017" cy="338554"/>
          </a:xfrm>
          <a:prstGeom prst="rect">
            <a:avLst/>
          </a:prstGeom>
          <a:noFill/>
        </p:spPr>
        <p:txBody>
          <a:bodyPr wrap="square" rtlCol="0">
            <a:spAutoFit/>
          </a:bodyPr>
          <a:lstStyle/>
          <a:p>
            <a:r>
              <a:rPr lang="en-US" sz="1600" b="1"/>
              <a:t>What CRAs see is extremely limited.</a:t>
            </a:r>
          </a:p>
        </p:txBody>
      </p:sp>
      <p:sp>
        <p:nvSpPr>
          <p:cNvPr id="5" name="TextBox 4">
            <a:extLst>
              <a:ext uri="{FF2B5EF4-FFF2-40B4-BE49-F238E27FC236}">
                <a16:creationId xmlns:a16="http://schemas.microsoft.com/office/drawing/2014/main" id="{A1F93192-2872-8310-05FF-79FC1BBF864C}"/>
              </a:ext>
            </a:extLst>
          </p:cNvPr>
          <p:cNvSpPr txBox="1"/>
          <p:nvPr/>
        </p:nvSpPr>
        <p:spPr>
          <a:xfrm>
            <a:off x="7493417" y="3103723"/>
            <a:ext cx="3702019" cy="338554"/>
          </a:xfrm>
          <a:prstGeom prst="rect">
            <a:avLst/>
          </a:prstGeom>
          <a:noFill/>
        </p:spPr>
        <p:txBody>
          <a:bodyPr wrap="square" rtlCol="0">
            <a:spAutoFit/>
          </a:bodyPr>
          <a:lstStyle/>
          <a:p>
            <a:r>
              <a:rPr lang="en-US" sz="1600" b="1"/>
              <a:t>CM Enables a Unique, Holistic View.</a:t>
            </a:r>
          </a:p>
        </p:txBody>
      </p:sp>
    </p:spTree>
    <p:extLst>
      <p:ext uri="{BB962C8B-B14F-4D97-AF65-F5344CB8AC3E}">
        <p14:creationId xmlns:p14="http://schemas.microsoft.com/office/powerpoint/2010/main" val="8185283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597A52A7-22E5-D74D-680E-409B9CF746D8}"/>
              </a:ext>
            </a:extLst>
          </p:cNvPr>
          <p:cNvGrpSpPr/>
          <p:nvPr/>
        </p:nvGrpSpPr>
        <p:grpSpPr>
          <a:xfrm>
            <a:off x="-665276" y="1935071"/>
            <a:ext cx="5277914" cy="4047334"/>
            <a:chOff x="-464563" y="1935071"/>
            <a:chExt cx="5277914" cy="4047334"/>
          </a:xfrm>
        </p:grpSpPr>
        <p:pic>
          <p:nvPicPr>
            <p:cNvPr id="5" name="Picture 4">
              <a:extLst>
                <a:ext uri="{FF2B5EF4-FFF2-40B4-BE49-F238E27FC236}">
                  <a16:creationId xmlns:a16="http://schemas.microsoft.com/office/drawing/2014/main" id="{F189CD7D-52B2-F7ED-211D-329E949D345D}"/>
                </a:ext>
              </a:extLst>
            </p:cNvPr>
            <p:cNvPicPr>
              <a:picLocks noChangeAspect="1"/>
            </p:cNvPicPr>
            <p:nvPr/>
          </p:nvPicPr>
          <p:blipFill>
            <a:blip r:embed="rId3"/>
            <a:stretch>
              <a:fillRect/>
            </a:stretch>
          </p:blipFill>
          <p:spPr>
            <a:xfrm>
              <a:off x="-464563" y="2473680"/>
              <a:ext cx="5277914" cy="3508725"/>
            </a:xfrm>
            <a:prstGeom prst="rect">
              <a:avLst/>
            </a:prstGeom>
          </p:spPr>
        </p:pic>
        <p:sp>
          <p:nvSpPr>
            <p:cNvPr id="7" name="TextBox 6">
              <a:extLst>
                <a:ext uri="{FF2B5EF4-FFF2-40B4-BE49-F238E27FC236}">
                  <a16:creationId xmlns:a16="http://schemas.microsoft.com/office/drawing/2014/main" id="{0AEB0B46-A0AE-E17D-E4A7-3CDBC45BFD2F}"/>
                </a:ext>
              </a:extLst>
            </p:cNvPr>
            <p:cNvSpPr txBox="1"/>
            <p:nvPr/>
          </p:nvSpPr>
          <p:spPr>
            <a:xfrm>
              <a:off x="540286" y="1935071"/>
              <a:ext cx="3246951" cy="1077218"/>
            </a:xfrm>
            <a:prstGeom prst="rect">
              <a:avLst/>
            </a:prstGeom>
            <a:noFill/>
          </p:spPr>
          <p:txBody>
            <a:bodyPr wrap="square" rtlCol="0">
              <a:spAutoFit/>
            </a:bodyPr>
            <a:lstStyle/>
            <a:p>
              <a:pPr algn="just"/>
              <a:r>
                <a:rPr lang="en-US" sz="1600"/>
                <a:t>Central Monitor evaluates data signal &amp; translates into something operational teams can easily understand and action.  </a:t>
              </a:r>
            </a:p>
          </p:txBody>
        </p:sp>
      </p:grpSp>
      <p:grpSp>
        <p:nvGrpSpPr>
          <p:cNvPr id="20" name="Group 19">
            <a:extLst>
              <a:ext uri="{FF2B5EF4-FFF2-40B4-BE49-F238E27FC236}">
                <a16:creationId xmlns:a16="http://schemas.microsoft.com/office/drawing/2014/main" id="{894DB440-FAEE-C36B-7168-1A94AB18D5FD}"/>
              </a:ext>
            </a:extLst>
          </p:cNvPr>
          <p:cNvGrpSpPr/>
          <p:nvPr/>
        </p:nvGrpSpPr>
        <p:grpSpPr>
          <a:xfrm>
            <a:off x="3347738" y="1935071"/>
            <a:ext cx="5457091" cy="4047334"/>
            <a:chOff x="3502486" y="1935071"/>
            <a:chExt cx="5457091" cy="4047334"/>
          </a:xfrm>
        </p:grpSpPr>
        <p:grpSp>
          <p:nvGrpSpPr>
            <p:cNvPr id="12" name="Group 11">
              <a:extLst>
                <a:ext uri="{FF2B5EF4-FFF2-40B4-BE49-F238E27FC236}">
                  <a16:creationId xmlns:a16="http://schemas.microsoft.com/office/drawing/2014/main" id="{A0CC2F88-88FC-0B38-CF8C-2B2FE2238E0A}"/>
                </a:ext>
              </a:extLst>
            </p:cNvPr>
            <p:cNvGrpSpPr/>
            <p:nvPr/>
          </p:nvGrpSpPr>
          <p:grpSpPr>
            <a:xfrm>
              <a:off x="3502486" y="2360350"/>
              <a:ext cx="5457091" cy="3622055"/>
              <a:chOff x="3636577" y="2360350"/>
              <a:chExt cx="5457091" cy="3622055"/>
            </a:xfrm>
          </p:grpSpPr>
          <p:pic>
            <p:nvPicPr>
              <p:cNvPr id="8" name="Picture 8" descr="Laptop computer with blank transparent screen and background- PNG ...">
                <a:extLst>
                  <a:ext uri="{FF2B5EF4-FFF2-40B4-BE49-F238E27FC236}">
                    <a16:creationId xmlns:a16="http://schemas.microsoft.com/office/drawing/2014/main" id="{0B4A15C2-E7C5-2022-9CA4-CFA977D77E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36577" y="2360350"/>
                <a:ext cx="5457091" cy="3622055"/>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FCA4ABBF-42AD-AB70-D378-6A411A9C8273}"/>
                  </a:ext>
                </a:extLst>
              </p:cNvPr>
              <p:cNvPicPr>
                <a:picLocks noChangeAspect="1"/>
              </p:cNvPicPr>
              <p:nvPr/>
            </p:nvPicPr>
            <p:blipFill>
              <a:blip r:embed="rId5"/>
              <a:srcRect l="1320" r="2576"/>
              <a:stretch/>
            </p:blipFill>
            <p:spPr>
              <a:xfrm>
                <a:off x="4962700" y="3454953"/>
                <a:ext cx="2789869" cy="1151972"/>
              </a:xfrm>
              <a:prstGeom prst="rect">
                <a:avLst/>
              </a:prstGeom>
            </p:spPr>
          </p:pic>
        </p:grpSp>
        <p:sp>
          <p:nvSpPr>
            <p:cNvPr id="13" name="TextBox 12">
              <a:extLst>
                <a:ext uri="{FF2B5EF4-FFF2-40B4-BE49-F238E27FC236}">
                  <a16:creationId xmlns:a16="http://schemas.microsoft.com/office/drawing/2014/main" id="{1B756420-1F88-C56B-75B2-EC70111F0ED6}"/>
                </a:ext>
              </a:extLst>
            </p:cNvPr>
            <p:cNvSpPr txBox="1"/>
            <p:nvPr/>
          </p:nvSpPr>
          <p:spPr>
            <a:xfrm>
              <a:off x="4451029" y="1935071"/>
              <a:ext cx="3456570" cy="1077218"/>
            </a:xfrm>
            <a:prstGeom prst="rect">
              <a:avLst/>
            </a:prstGeom>
            <a:noFill/>
          </p:spPr>
          <p:txBody>
            <a:bodyPr wrap="square" rtlCol="0">
              <a:spAutoFit/>
            </a:bodyPr>
            <a:lstStyle/>
            <a:p>
              <a:pPr algn="just"/>
              <a:r>
                <a:rPr lang="en-US" sz="1600"/>
                <a:t>Signal is tracked in CTMS (or other system) where it becomes a part of the CRA’s regular site monitoring process.  </a:t>
              </a:r>
            </a:p>
          </p:txBody>
        </p:sp>
      </p:grpSp>
      <p:sp>
        <p:nvSpPr>
          <p:cNvPr id="2" name="Title 1">
            <a:extLst>
              <a:ext uri="{FF2B5EF4-FFF2-40B4-BE49-F238E27FC236}">
                <a16:creationId xmlns:a16="http://schemas.microsoft.com/office/drawing/2014/main" id="{7318470C-18E6-4EAE-D6EE-2E2E7F397570}"/>
              </a:ext>
            </a:extLst>
          </p:cNvPr>
          <p:cNvSpPr>
            <a:spLocks noGrp="1"/>
          </p:cNvSpPr>
          <p:nvPr>
            <p:ph type="title"/>
          </p:nvPr>
        </p:nvSpPr>
        <p:spPr/>
        <p:txBody>
          <a:bodyPr/>
          <a:lstStyle/>
          <a:p>
            <a:pPr>
              <a:buClr>
                <a:srgbClr val="BBBCBC"/>
              </a:buClr>
              <a:buSzPts val="3600"/>
            </a:pPr>
            <a:r>
              <a:rPr lang="en-US" sz="3600" b="1">
                <a:solidFill>
                  <a:srgbClr val="BBBCBC"/>
                </a:solidFill>
              </a:rPr>
              <a:t>Taking Action on CM Signals</a:t>
            </a:r>
          </a:p>
        </p:txBody>
      </p:sp>
      <p:sp>
        <p:nvSpPr>
          <p:cNvPr id="6" name="Right Arrow 5">
            <a:extLst>
              <a:ext uri="{FF2B5EF4-FFF2-40B4-BE49-F238E27FC236}">
                <a16:creationId xmlns:a16="http://schemas.microsoft.com/office/drawing/2014/main" id="{081BB019-9679-6F1E-CC39-F2BC63961064}"/>
              </a:ext>
            </a:extLst>
          </p:cNvPr>
          <p:cNvSpPr/>
          <p:nvPr/>
        </p:nvSpPr>
        <p:spPr>
          <a:xfrm>
            <a:off x="3745033" y="3912154"/>
            <a:ext cx="551248" cy="393146"/>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Arrow 8">
            <a:extLst>
              <a:ext uri="{FF2B5EF4-FFF2-40B4-BE49-F238E27FC236}">
                <a16:creationId xmlns:a16="http://schemas.microsoft.com/office/drawing/2014/main" id="{9B5AB5B2-89B8-8AD1-2E69-4944433386F1}"/>
              </a:ext>
            </a:extLst>
          </p:cNvPr>
          <p:cNvSpPr/>
          <p:nvPr/>
        </p:nvSpPr>
        <p:spPr>
          <a:xfrm>
            <a:off x="7878833" y="3912154"/>
            <a:ext cx="548640" cy="393146"/>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descr="Doctor on a call">
            <a:extLst>
              <a:ext uri="{FF2B5EF4-FFF2-40B4-BE49-F238E27FC236}">
                <a16:creationId xmlns:a16="http://schemas.microsoft.com/office/drawing/2014/main" id="{ED77BCEE-A93D-46FF-9471-182C4C4B55C9}"/>
              </a:ext>
            </a:extLst>
          </p:cNvPr>
          <p:cNvPicPr>
            <a:picLocks noChangeAspect="1"/>
          </p:cNvPicPr>
          <p:nvPr/>
        </p:nvPicPr>
        <p:blipFill>
          <a:blip r:embed="rId6"/>
          <a:stretch>
            <a:fillRect/>
          </a:stretch>
        </p:blipFill>
        <p:spPr>
          <a:xfrm>
            <a:off x="10593661" y="3257130"/>
            <a:ext cx="970923" cy="3284806"/>
          </a:xfrm>
          <a:prstGeom prst="rect">
            <a:avLst/>
          </a:prstGeom>
        </p:spPr>
      </p:pic>
      <p:pic>
        <p:nvPicPr>
          <p:cNvPr id="17" name="Picture 16" descr="Business woman on a call">
            <a:extLst>
              <a:ext uri="{FF2B5EF4-FFF2-40B4-BE49-F238E27FC236}">
                <a16:creationId xmlns:a16="http://schemas.microsoft.com/office/drawing/2014/main" id="{59174114-E971-B942-8C1C-0F30090CB9A9}"/>
              </a:ext>
            </a:extLst>
          </p:cNvPr>
          <p:cNvPicPr>
            <a:picLocks noChangeAspect="1"/>
          </p:cNvPicPr>
          <p:nvPr/>
        </p:nvPicPr>
        <p:blipFill>
          <a:blip r:embed="rId7"/>
          <a:stretch>
            <a:fillRect/>
          </a:stretch>
        </p:blipFill>
        <p:spPr>
          <a:xfrm flipH="1">
            <a:off x="8788012" y="3140305"/>
            <a:ext cx="912056" cy="3284806"/>
          </a:xfrm>
          <a:prstGeom prst="rect">
            <a:avLst/>
          </a:prstGeom>
        </p:spPr>
      </p:pic>
      <p:pic>
        <p:nvPicPr>
          <p:cNvPr id="2050" name="Picture 2" descr="Desk PNG Transparent Images">
            <a:extLst>
              <a:ext uri="{FF2B5EF4-FFF2-40B4-BE49-F238E27FC236}">
                <a16:creationId xmlns:a16="http://schemas.microsoft.com/office/drawing/2014/main" id="{33BDFD0E-EDA3-B22F-49E8-0BC937FB9FC1}"/>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r="46293" b="9406"/>
          <a:stretch/>
        </p:blipFill>
        <p:spPr bwMode="auto">
          <a:xfrm>
            <a:off x="9971094" y="4455659"/>
            <a:ext cx="2216059" cy="2402341"/>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9D726DCC-47B9-27D4-BFCE-7B83CC9B2B50}"/>
              </a:ext>
            </a:extLst>
          </p:cNvPr>
          <p:cNvSpPr txBox="1"/>
          <p:nvPr/>
        </p:nvSpPr>
        <p:spPr>
          <a:xfrm>
            <a:off x="8394756" y="1935071"/>
            <a:ext cx="3739232" cy="1077218"/>
          </a:xfrm>
          <a:prstGeom prst="rect">
            <a:avLst/>
          </a:prstGeom>
          <a:noFill/>
        </p:spPr>
        <p:txBody>
          <a:bodyPr wrap="square" rtlCol="0">
            <a:spAutoFit/>
          </a:bodyPr>
          <a:lstStyle/>
          <a:p>
            <a:pPr algn="just"/>
            <a:r>
              <a:rPr lang="en-US" sz="1600"/>
              <a:t>The CRA then evaluates the site’s process with the study coordinator and/or PI via RCA to evaluate potential gaps. Mitigation is then implemented. </a:t>
            </a:r>
          </a:p>
        </p:txBody>
      </p:sp>
    </p:spTree>
    <p:extLst>
      <p:ext uri="{BB962C8B-B14F-4D97-AF65-F5344CB8AC3E}">
        <p14:creationId xmlns:p14="http://schemas.microsoft.com/office/powerpoint/2010/main" val="24676427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B2E840-8CB1-3332-206F-55E4D7CD465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817A1E0-82EF-CDFE-CC1E-8F3A34092FAD}"/>
              </a:ext>
            </a:extLst>
          </p:cNvPr>
          <p:cNvSpPr>
            <a:spLocks noGrp="1"/>
          </p:cNvSpPr>
          <p:nvPr>
            <p:ph type="body" idx="1"/>
          </p:nvPr>
        </p:nvSpPr>
        <p:spPr>
          <a:xfrm>
            <a:off x="516477" y="2182094"/>
            <a:ext cx="11159045" cy="1558634"/>
          </a:xfrm>
        </p:spPr>
        <p:txBody>
          <a:bodyPr/>
          <a:lstStyle/>
          <a:p>
            <a:pPr marL="25400" indent="0">
              <a:buNone/>
            </a:pPr>
            <a:r>
              <a:rPr lang="en-US" sz="4800" dirty="0"/>
              <a:t>Part 2 – Good Statistical Monitoring {</a:t>
            </a:r>
            <a:r>
              <a:rPr lang="en-US" sz="4800" dirty="0" err="1"/>
              <a:t>gsm</a:t>
            </a:r>
            <a:r>
              <a:rPr lang="en-US" sz="4800" dirty="0"/>
              <a:t>} </a:t>
            </a:r>
          </a:p>
          <a:p>
            <a:pPr marL="25400" indent="0">
              <a:buNone/>
            </a:pPr>
            <a:r>
              <a:rPr lang="en-US" dirty="0"/>
              <a:t>Björn </a:t>
            </a:r>
            <a:r>
              <a:rPr lang="en-US" dirty="0" err="1"/>
              <a:t>Koneswarakantha</a:t>
            </a:r>
            <a:endParaRPr lang="en-US" dirty="0"/>
          </a:p>
        </p:txBody>
      </p:sp>
    </p:spTree>
    <p:extLst>
      <p:ext uri="{BB962C8B-B14F-4D97-AF65-F5344CB8AC3E}">
        <p14:creationId xmlns:p14="http://schemas.microsoft.com/office/powerpoint/2010/main" val="36788819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95EDD0C-63EC-1202-173C-A3F58F5D3742}"/>
              </a:ext>
            </a:extLst>
          </p:cNvPr>
          <p:cNvSpPr>
            <a:spLocks noGrp="1"/>
          </p:cNvSpPr>
          <p:nvPr>
            <p:ph type="sldNum" sz="quarter" idx="4"/>
          </p:nvPr>
        </p:nvSpPr>
        <p:spPr/>
        <p:txBody>
          <a:bodyPr/>
          <a:lstStyle/>
          <a:p>
            <a:fld id="{4BEAA09E-D67E-864E-8466-C38E88600C4F}" type="slidenum">
              <a:rPr lang="en-US" smtClean="0"/>
              <a:pPr/>
              <a:t>14</a:t>
            </a:fld>
            <a:endParaRPr lang="en-US"/>
          </a:p>
        </p:txBody>
      </p:sp>
      <p:pic>
        <p:nvPicPr>
          <p:cNvPr id="5" name="Picture 4">
            <a:extLst>
              <a:ext uri="{FF2B5EF4-FFF2-40B4-BE49-F238E27FC236}">
                <a16:creationId xmlns:a16="http://schemas.microsoft.com/office/drawing/2014/main" id="{19D1F6B5-3D4D-D494-9C21-8B131DE1B98B}"/>
              </a:ext>
            </a:extLst>
          </p:cNvPr>
          <p:cNvPicPr>
            <a:picLocks noChangeAspect="1"/>
          </p:cNvPicPr>
          <p:nvPr/>
        </p:nvPicPr>
        <p:blipFill>
          <a:blip r:embed="rId3"/>
          <a:stretch>
            <a:fillRect/>
          </a:stretch>
        </p:blipFill>
        <p:spPr>
          <a:xfrm>
            <a:off x="1286796" y="0"/>
            <a:ext cx="10176387" cy="6800805"/>
          </a:xfrm>
          <a:prstGeom prst="rect">
            <a:avLst/>
          </a:prstGeom>
        </p:spPr>
      </p:pic>
      <p:sp>
        <p:nvSpPr>
          <p:cNvPr id="14" name="TextBox 13">
            <a:extLst>
              <a:ext uri="{FF2B5EF4-FFF2-40B4-BE49-F238E27FC236}">
                <a16:creationId xmlns:a16="http://schemas.microsoft.com/office/drawing/2014/main" id="{997D7A18-A675-EE57-606F-F398D6364A3A}"/>
              </a:ext>
            </a:extLst>
          </p:cNvPr>
          <p:cNvSpPr txBox="1"/>
          <p:nvPr/>
        </p:nvSpPr>
        <p:spPr>
          <a:xfrm>
            <a:off x="2094884" y="1677443"/>
            <a:ext cx="8826388" cy="3108543"/>
          </a:xfrm>
          <a:prstGeom prst="rect">
            <a:avLst/>
          </a:prstGeom>
          <a:solidFill>
            <a:srgbClr val="FFFFFF">
              <a:alpha val="92941"/>
            </a:srgbClr>
          </a:solidFill>
        </p:spPr>
        <p:style>
          <a:lnRef idx="2">
            <a:schemeClr val="dk1"/>
          </a:lnRef>
          <a:fillRef idx="1">
            <a:schemeClr val="lt1"/>
          </a:fillRef>
          <a:effectRef idx="0">
            <a:schemeClr val="dk1"/>
          </a:effectRef>
          <a:fontRef idx="minor">
            <a:schemeClr val="dk1"/>
          </a:fontRef>
        </p:style>
        <p:txBody>
          <a:bodyPr wrap="square" lIns="91440" tIns="45720" rIns="91440" bIns="45720" anchor="t">
            <a:spAutoFit/>
          </a:bodyPr>
          <a:lstStyle/>
          <a:p>
            <a:r>
              <a:rPr lang="en-US" sz="2800" b="0" i="0">
                <a:solidFill>
                  <a:srgbClr val="1F2328"/>
                </a:solidFill>
                <a:effectLst/>
                <a:latin typeface="-apple-system"/>
              </a:rPr>
              <a:t>The Good Statistical Monitoring or “</a:t>
            </a:r>
            <a:r>
              <a:rPr lang="en-US" sz="2800" b="0" i="0" err="1">
                <a:solidFill>
                  <a:srgbClr val="1F2328"/>
                </a:solidFill>
                <a:effectLst/>
                <a:latin typeface="-apple-system"/>
              </a:rPr>
              <a:t>gsm</a:t>
            </a:r>
            <a:r>
              <a:rPr lang="en-US" sz="2800" b="0" i="0">
                <a:solidFill>
                  <a:srgbClr val="1F2328"/>
                </a:solidFill>
                <a:effectLst/>
                <a:latin typeface="-apple-system"/>
              </a:rPr>
              <a:t>” package is a free and </a:t>
            </a:r>
            <a:r>
              <a:rPr lang="en-US" sz="2800" b="1" i="0">
                <a:solidFill>
                  <a:srgbClr val="1F2328"/>
                </a:solidFill>
                <a:effectLst/>
                <a:latin typeface="-apple-system"/>
              </a:rPr>
              <a:t>open-source framework for RBQM analytics</a:t>
            </a:r>
            <a:r>
              <a:rPr lang="en-US" sz="2800" b="0" i="0">
                <a:solidFill>
                  <a:srgbClr val="1F2328"/>
                </a:solidFill>
                <a:effectLst/>
                <a:latin typeface="-apple-system"/>
              </a:rPr>
              <a:t>.  The package provides a standardized Risk Based Quality Monitoring (RBQM) framework for clinical trials that </a:t>
            </a:r>
            <a:r>
              <a:rPr lang="en-US" sz="2800" b="1" i="0">
                <a:solidFill>
                  <a:srgbClr val="1F2328"/>
                </a:solidFill>
                <a:effectLst/>
                <a:latin typeface="-apple-system"/>
              </a:rPr>
              <a:t>pairs a flexible data pipeline with interactive reporting</a:t>
            </a:r>
            <a:r>
              <a:rPr lang="en-US" sz="2800" b="0" i="0">
                <a:solidFill>
                  <a:srgbClr val="1F2328"/>
                </a:solidFill>
                <a:effectLst/>
                <a:latin typeface="-apple-system"/>
              </a:rPr>
              <a:t>.</a:t>
            </a:r>
          </a:p>
          <a:p>
            <a:endParaRPr lang="en-US" sz="2800">
              <a:solidFill>
                <a:srgbClr val="1F2328"/>
              </a:solidFill>
              <a:latin typeface="-apple-system"/>
            </a:endParaRPr>
          </a:p>
          <a:p>
            <a:r>
              <a:rPr lang="en-US" sz="2800" b="0" i="0">
                <a:solidFill>
                  <a:srgbClr val="1F2328"/>
                </a:solidFill>
                <a:effectLst/>
                <a:latin typeface="-apple-system"/>
              </a:rPr>
              <a:t>Learn more at</a:t>
            </a:r>
            <a:r>
              <a:rPr lang="en-US" sz="2800"/>
              <a:t> </a:t>
            </a:r>
            <a:r>
              <a:rPr lang="en-US" sz="2800">
                <a:hlinkClick r:id="rId4"/>
              </a:rPr>
              <a:t>https://gilead-biostats.github.io/gsm.core/</a:t>
            </a:r>
            <a:r>
              <a:rPr lang="en-US" sz="2800" b="0" i="0">
                <a:solidFill>
                  <a:srgbClr val="1F2328"/>
                </a:solidFill>
                <a:effectLst/>
                <a:latin typeface="-apple-system"/>
              </a:rPr>
              <a:t> </a:t>
            </a:r>
          </a:p>
        </p:txBody>
      </p:sp>
    </p:spTree>
    <p:extLst>
      <p:ext uri="{BB962C8B-B14F-4D97-AF65-F5344CB8AC3E}">
        <p14:creationId xmlns:p14="http://schemas.microsoft.com/office/powerpoint/2010/main" val="20486869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C811D-9D05-737F-C032-A13E860B216A}"/>
              </a:ext>
            </a:extLst>
          </p:cNvPr>
          <p:cNvSpPr>
            <a:spLocks noGrp="1"/>
          </p:cNvSpPr>
          <p:nvPr>
            <p:ph type="title"/>
          </p:nvPr>
        </p:nvSpPr>
        <p:spPr/>
        <p:txBody>
          <a:bodyPr/>
          <a:lstStyle/>
          <a:p>
            <a:endParaRPr lang="en-US"/>
          </a:p>
        </p:txBody>
      </p:sp>
      <p:pic>
        <p:nvPicPr>
          <p:cNvPr id="2050" name="Picture 2" descr="A conceptual image showing a cute gremlin-like creature (inspired by Gizmo from Gremlins, but not an exact copy) actively dismantling a large, multicolored LEGO building. The gremlin is thoughtfully pulling bricks from the chaotic, tall structure on the left and using them to create several smaller, neat buildings, each made from a single color of LEGO bricks, arranged on the right. The transformation from a single complex structure to color-coded organized buildings is clearly visible. The background is clean white with a subtle gradient, perfect for a 16:9 slide deck.">
            <a:extLst>
              <a:ext uri="{FF2B5EF4-FFF2-40B4-BE49-F238E27FC236}">
                <a16:creationId xmlns:a16="http://schemas.microsoft.com/office/drawing/2014/main" id="{09EEF30E-5E65-01D5-5113-5237EE4B0E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50" y="0"/>
            <a:ext cx="120015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0291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37BF7-6727-6477-FF5B-51D619FBE351}"/>
              </a:ext>
            </a:extLst>
          </p:cNvPr>
          <p:cNvSpPr>
            <a:spLocks noGrp="1"/>
          </p:cNvSpPr>
          <p:nvPr>
            <p:ph type="title"/>
          </p:nvPr>
        </p:nvSpPr>
        <p:spPr/>
        <p:txBody>
          <a:bodyPr/>
          <a:lstStyle/>
          <a:p>
            <a:endParaRPr lang="en-US"/>
          </a:p>
        </p:txBody>
      </p:sp>
      <p:pic>
        <p:nvPicPr>
          <p:cNvPr id="3074" name="Picture 2" descr="A conceptual image for a slide deck showing a cute gremlin-like creature (inspired by Gizmo from Gremlins, but not an exact copy) proudly standing beside four larger LEGO buildings. Each building is made entirely of a single color: one red, one blue, one yellow, and one green. The buildings should be more prominent and visually distinct, showing clear architectural shapes made from LEGO bricks. The gremlin appears happy and proud of the finished work. The background is clean white with a subtle gradient, formatted for a 16:9 slide deck layout.">
            <a:extLst>
              <a:ext uri="{FF2B5EF4-FFF2-40B4-BE49-F238E27FC236}">
                <a16:creationId xmlns:a16="http://schemas.microsoft.com/office/drawing/2014/main" id="{1D3D1CA8-C694-41CC-CF4F-79E556535C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50" y="0"/>
            <a:ext cx="120015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51474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ell phone&#10;&#10;AI-generated content may be incorrect.">
            <a:extLst>
              <a:ext uri="{FF2B5EF4-FFF2-40B4-BE49-F238E27FC236}">
                <a16:creationId xmlns:a16="http://schemas.microsoft.com/office/drawing/2014/main" id="{445B633A-E145-3EA5-C494-03E923C3C87F}"/>
              </a:ext>
            </a:extLst>
          </p:cNvPr>
          <p:cNvPicPr>
            <a:picLocks noChangeAspect="1"/>
          </p:cNvPicPr>
          <p:nvPr/>
        </p:nvPicPr>
        <p:blipFill>
          <a:blip r:embed="rId3"/>
          <a:stretch>
            <a:fillRect/>
          </a:stretch>
        </p:blipFill>
        <p:spPr>
          <a:xfrm>
            <a:off x="3674560" y="861165"/>
            <a:ext cx="3945183" cy="4394549"/>
          </a:xfrm>
          <a:prstGeom prst="rect">
            <a:avLst/>
          </a:prstGeom>
        </p:spPr>
      </p:pic>
      <p:sp>
        <p:nvSpPr>
          <p:cNvPr id="4" name="TextBox 3">
            <a:extLst>
              <a:ext uri="{FF2B5EF4-FFF2-40B4-BE49-F238E27FC236}">
                <a16:creationId xmlns:a16="http://schemas.microsoft.com/office/drawing/2014/main" id="{2EDD9DA2-7390-6CAE-9685-969D3463C3A0}"/>
              </a:ext>
            </a:extLst>
          </p:cNvPr>
          <p:cNvSpPr txBox="1"/>
          <p:nvPr/>
        </p:nvSpPr>
        <p:spPr>
          <a:xfrm>
            <a:off x="2820742" y="126154"/>
            <a:ext cx="5890365" cy="7339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dirty="0"/>
              <a:t>{</a:t>
            </a:r>
            <a:r>
              <a:rPr lang="en-US" sz="4000" dirty="0" err="1"/>
              <a:t>gsm</a:t>
            </a:r>
            <a:r>
              <a:rPr lang="en-US" sz="4000" dirty="0"/>
              <a:t>} is now {</a:t>
            </a:r>
            <a:r>
              <a:rPr lang="en-US" sz="4000" dirty="0" err="1"/>
              <a:t>gsm.core</a:t>
            </a:r>
            <a:r>
              <a:rPr lang="en-US" sz="4000" dirty="0"/>
              <a:t>}</a:t>
            </a:r>
          </a:p>
        </p:txBody>
      </p:sp>
    </p:spTree>
    <p:extLst>
      <p:ext uri="{BB962C8B-B14F-4D97-AF65-F5344CB8AC3E}">
        <p14:creationId xmlns:p14="http://schemas.microsoft.com/office/powerpoint/2010/main" val="3014458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D09A6-AAD1-19DA-34D8-1F6AE8CBE0B2}"/>
              </a:ext>
            </a:extLst>
          </p:cNvPr>
          <p:cNvSpPr>
            <a:spLocks noGrp="1"/>
          </p:cNvSpPr>
          <p:nvPr>
            <p:ph type="title"/>
          </p:nvPr>
        </p:nvSpPr>
        <p:spPr/>
        <p:txBody>
          <a:bodyPr/>
          <a:lstStyle/>
          <a:p>
            <a:endParaRPr lang="en-US">
              <a:solidFill>
                <a:schemeClr val="bg1"/>
              </a:solidFill>
            </a:endParaRPr>
          </a:p>
        </p:txBody>
      </p:sp>
      <p:sp>
        <p:nvSpPr>
          <p:cNvPr id="3" name="Content Placeholder 2">
            <a:extLst>
              <a:ext uri="{FF2B5EF4-FFF2-40B4-BE49-F238E27FC236}">
                <a16:creationId xmlns:a16="http://schemas.microsoft.com/office/drawing/2014/main" id="{CB5DF741-5526-2111-DF79-6ABDD447EFCB}"/>
              </a:ext>
            </a:extLst>
          </p:cNvPr>
          <p:cNvSpPr>
            <a:spLocks noGrp="1"/>
          </p:cNvSpPr>
          <p:nvPr>
            <p:ph idx="1"/>
          </p:nvPr>
        </p:nvSpPr>
        <p:spPr/>
        <p:txBody>
          <a:bodyPr/>
          <a:lstStyle/>
          <a:p>
            <a:r>
              <a:rPr lang="en-US"/>
              <a:t>A.  </a:t>
            </a:r>
            <a:r>
              <a:rPr lang="en-US" err="1"/>
              <a:t>i</a:t>
            </a:r>
            <a:endParaRPr lang="en-US"/>
          </a:p>
        </p:txBody>
      </p:sp>
      <p:pic>
        <p:nvPicPr>
          <p:cNvPr id="8" name="Picture 7">
            <a:extLst>
              <a:ext uri="{FF2B5EF4-FFF2-40B4-BE49-F238E27FC236}">
                <a16:creationId xmlns:a16="http://schemas.microsoft.com/office/drawing/2014/main" id="{2BBE3129-B0BF-C1AA-F2D5-7FE706EB7D7C}"/>
              </a:ext>
            </a:extLst>
          </p:cNvPr>
          <p:cNvPicPr>
            <a:picLocks noChangeAspect="1"/>
          </p:cNvPicPr>
          <p:nvPr/>
        </p:nvPicPr>
        <p:blipFill>
          <a:blip r:embed="rId2"/>
          <a:stretch>
            <a:fillRect/>
          </a:stretch>
        </p:blipFill>
        <p:spPr>
          <a:xfrm>
            <a:off x="0" y="0"/>
            <a:ext cx="10751127" cy="5661140"/>
          </a:xfrm>
          <a:prstGeom prst="rect">
            <a:avLst/>
          </a:prstGeom>
        </p:spPr>
      </p:pic>
    </p:spTree>
    <p:extLst>
      <p:ext uri="{BB962C8B-B14F-4D97-AF65-F5344CB8AC3E}">
        <p14:creationId xmlns:p14="http://schemas.microsoft.com/office/powerpoint/2010/main" val="32753261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A8CAA-A8CC-ACE4-AB99-3E42288F172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3C64046-BE94-E249-8AF6-7F22D698DAD8}"/>
              </a:ext>
            </a:extLst>
          </p:cNvPr>
          <p:cNvSpPr>
            <a:spLocks noGrp="1"/>
          </p:cNvSpPr>
          <p:nvPr>
            <p:ph type="title"/>
          </p:nvPr>
        </p:nvSpPr>
        <p:spPr/>
        <p:txBody>
          <a:bodyPr/>
          <a:lstStyle/>
          <a:p>
            <a:r>
              <a:rPr lang="en-US" dirty="0"/>
              <a:t>Analysis Pipeline</a:t>
            </a:r>
          </a:p>
        </p:txBody>
      </p:sp>
      <p:grpSp>
        <p:nvGrpSpPr>
          <p:cNvPr id="4" name="Group 3">
            <a:extLst>
              <a:ext uri="{FF2B5EF4-FFF2-40B4-BE49-F238E27FC236}">
                <a16:creationId xmlns:a16="http://schemas.microsoft.com/office/drawing/2014/main" id="{C1A062A3-21DD-AE2F-2674-03A8AE6685A8}"/>
              </a:ext>
            </a:extLst>
          </p:cNvPr>
          <p:cNvGrpSpPr/>
          <p:nvPr/>
        </p:nvGrpSpPr>
        <p:grpSpPr>
          <a:xfrm>
            <a:off x="0" y="1898776"/>
            <a:ext cx="12192000" cy="2438400"/>
            <a:chOff x="0" y="2209800"/>
            <a:chExt cx="12192000" cy="2438400"/>
          </a:xfrm>
        </p:grpSpPr>
        <p:pic>
          <p:nvPicPr>
            <p:cNvPr id="1026" name="Picture 2">
              <a:extLst>
                <a:ext uri="{FF2B5EF4-FFF2-40B4-BE49-F238E27FC236}">
                  <a16:creationId xmlns:a16="http://schemas.microsoft.com/office/drawing/2014/main" id="{0D34C41D-5D85-BBD8-E14B-5ED0244F67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209800"/>
              <a:ext cx="12192000" cy="24384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19B2EFE9-84CE-5CF0-A012-93CBDF5E06C3}"/>
                </a:ext>
              </a:extLst>
            </p:cNvPr>
            <p:cNvSpPr/>
            <p:nvPr/>
          </p:nvSpPr>
          <p:spPr>
            <a:xfrm>
              <a:off x="825500" y="2336800"/>
              <a:ext cx="11163300" cy="571500"/>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7906736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1D7C2DC-59AB-BD7C-982B-A871C586C029}"/>
              </a:ext>
            </a:extLst>
          </p:cNvPr>
          <p:cNvSpPr>
            <a:spLocks noGrp="1"/>
          </p:cNvSpPr>
          <p:nvPr>
            <p:ph type="title"/>
          </p:nvPr>
        </p:nvSpPr>
        <p:spPr>
          <a:xfrm>
            <a:off x="139162" y="44614"/>
            <a:ext cx="11159045" cy="701835"/>
          </a:xfrm>
        </p:spPr>
        <p:txBody>
          <a:bodyPr/>
          <a:lstStyle/>
          <a:p>
            <a:r>
              <a:rPr lang="en-US" sz="3200" dirty="0"/>
              <a:t>Statistical Models Available For Each Assessment</a:t>
            </a:r>
            <a:br>
              <a:rPr lang="en-US" sz="3200" dirty="0"/>
            </a:br>
            <a:endParaRPr lang="en-US" sz="3200" dirty="0"/>
          </a:p>
        </p:txBody>
      </p:sp>
      <p:pic>
        <p:nvPicPr>
          <p:cNvPr id="5" name="Picture 4" descr="A group of arrows with different colored arrows&#10;&#10;AI-generated content may be incorrect.">
            <a:extLst>
              <a:ext uri="{FF2B5EF4-FFF2-40B4-BE49-F238E27FC236}">
                <a16:creationId xmlns:a16="http://schemas.microsoft.com/office/drawing/2014/main" id="{7D558AE9-F770-D7AD-7B93-DF357FC50E7B}"/>
              </a:ext>
            </a:extLst>
          </p:cNvPr>
          <p:cNvPicPr>
            <a:picLocks noChangeAspect="1"/>
          </p:cNvPicPr>
          <p:nvPr/>
        </p:nvPicPr>
        <p:blipFill>
          <a:blip r:embed="rId3"/>
          <a:srcRect b="10504"/>
          <a:stretch>
            <a:fillRect/>
          </a:stretch>
        </p:blipFill>
        <p:spPr>
          <a:xfrm>
            <a:off x="0" y="816473"/>
            <a:ext cx="12005936" cy="3727536"/>
          </a:xfrm>
          <a:prstGeom prst="rect">
            <a:avLst/>
          </a:prstGeom>
        </p:spPr>
      </p:pic>
      <p:sp>
        <p:nvSpPr>
          <p:cNvPr id="4" name="TextBox 3">
            <a:extLst>
              <a:ext uri="{FF2B5EF4-FFF2-40B4-BE49-F238E27FC236}">
                <a16:creationId xmlns:a16="http://schemas.microsoft.com/office/drawing/2014/main" id="{262DFF10-F321-B606-9B14-B51343ED1D61}"/>
              </a:ext>
            </a:extLst>
          </p:cNvPr>
          <p:cNvSpPr txBox="1"/>
          <p:nvPr/>
        </p:nvSpPr>
        <p:spPr>
          <a:xfrm rot="16200000">
            <a:off x="-330644" y="4827874"/>
            <a:ext cx="1426994" cy="523220"/>
          </a:xfrm>
          <a:prstGeom prst="rect">
            <a:avLst/>
          </a:prstGeom>
          <a:noFill/>
        </p:spPr>
        <p:txBody>
          <a:bodyPr wrap="none" rtlCol="0">
            <a:spAutoFit/>
          </a:bodyPr>
          <a:lstStyle/>
          <a:p>
            <a:pPr algn="ctr"/>
            <a:r>
              <a:rPr lang="en-CH" dirty="0">
                <a:solidFill>
                  <a:schemeClr val="accent2"/>
                </a:solidFill>
              </a:rPr>
              <a:t>{gsm.simaerep}</a:t>
            </a:r>
          </a:p>
          <a:p>
            <a:pPr algn="ctr"/>
            <a:r>
              <a:rPr lang="en-CH" dirty="0">
                <a:solidFill>
                  <a:schemeClr val="accent2"/>
                </a:solidFill>
              </a:rPr>
              <a:t>Bootstrap</a:t>
            </a:r>
          </a:p>
        </p:txBody>
      </p:sp>
      <p:sp>
        <p:nvSpPr>
          <p:cNvPr id="8" name="Rectangle 7">
            <a:extLst>
              <a:ext uri="{FF2B5EF4-FFF2-40B4-BE49-F238E27FC236}">
                <a16:creationId xmlns:a16="http://schemas.microsoft.com/office/drawing/2014/main" id="{CB3FEB58-E130-D85F-FD1A-3350A6554160}"/>
              </a:ext>
            </a:extLst>
          </p:cNvPr>
          <p:cNvSpPr/>
          <p:nvPr/>
        </p:nvSpPr>
        <p:spPr>
          <a:xfrm>
            <a:off x="706056" y="4707518"/>
            <a:ext cx="1030146" cy="763929"/>
          </a:xfrm>
          <a:prstGeom prst="rect">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H" sz="1200" dirty="0">
                <a:solidFill>
                  <a:schemeClr val="tx1"/>
                </a:solidFill>
              </a:rPr>
              <a:t>dfMapped</a:t>
            </a:r>
          </a:p>
        </p:txBody>
      </p:sp>
      <p:sp>
        <p:nvSpPr>
          <p:cNvPr id="9" name="Right Arrow 8">
            <a:extLst>
              <a:ext uri="{FF2B5EF4-FFF2-40B4-BE49-F238E27FC236}">
                <a16:creationId xmlns:a16="http://schemas.microsoft.com/office/drawing/2014/main" id="{79EC414E-576D-534A-DC40-04662A866BA6}"/>
              </a:ext>
            </a:extLst>
          </p:cNvPr>
          <p:cNvSpPr/>
          <p:nvPr/>
        </p:nvSpPr>
        <p:spPr>
          <a:xfrm>
            <a:off x="1817225" y="4754295"/>
            <a:ext cx="1331089" cy="670374"/>
          </a:xfrm>
          <a:prstGeom prst="rightArrow">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H" sz="900" dirty="0"/>
              <a:t>Input_CumCount()</a:t>
            </a:r>
          </a:p>
        </p:txBody>
      </p:sp>
      <p:sp>
        <p:nvSpPr>
          <p:cNvPr id="10" name="Rectangle 9">
            <a:extLst>
              <a:ext uri="{FF2B5EF4-FFF2-40B4-BE49-F238E27FC236}">
                <a16:creationId xmlns:a16="http://schemas.microsoft.com/office/drawing/2014/main" id="{D05E07FA-9EA5-1C3D-5F99-4B03D0A27812}"/>
              </a:ext>
            </a:extLst>
          </p:cNvPr>
          <p:cNvSpPr/>
          <p:nvPr/>
        </p:nvSpPr>
        <p:spPr>
          <a:xfrm>
            <a:off x="3191111" y="4710622"/>
            <a:ext cx="1030146" cy="763929"/>
          </a:xfrm>
          <a:prstGeom prst="rect">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H" sz="1200" dirty="0">
                <a:solidFill>
                  <a:schemeClr val="tx1"/>
                </a:solidFill>
              </a:rPr>
              <a:t>dfInput</a:t>
            </a:r>
          </a:p>
        </p:txBody>
      </p:sp>
      <p:sp>
        <p:nvSpPr>
          <p:cNvPr id="11" name="Right Arrow 10">
            <a:extLst>
              <a:ext uri="{FF2B5EF4-FFF2-40B4-BE49-F238E27FC236}">
                <a16:creationId xmlns:a16="http://schemas.microsoft.com/office/drawing/2014/main" id="{FF78B4F2-EB0A-C80D-9035-983D53A8C535}"/>
              </a:ext>
            </a:extLst>
          </p:cNvPr>
          <p:cNvSpPr/>
          <p:nvPr/>
        </p:nvSpPr>
        <p:spPr>
          <a:xfrm>
            <a:off x="4367593" y="4738740"/>
            <a:ext cx="1331089" cy="670374"/>
          </a:xfrm>
          <a:prstGeom prst="rightArrow">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H" sz="800" dirty="0"/>
              <a:t>Analyze_Simaerep()</a:t>
            </a:r>
          </a:p>
        </p:txBody>
      </p:sp>
      <p:sp>
        <p:nvSpPr>
          <p:cNvPr id="12" name="Rectangle 11">
            <a:extLst>
              <a:ext uri="{FF2B5EF4-FFF2-40B4-BE49-F238E27FC236}">
                <a16:creationId xmlns:a16="http://schemas.microsoft.com/office/drawing/2014/main" id="{F814A354-58B6-BD20-E343-AA6C756FF4E0}"/>
              </a:ext>
            </a:extLst>
          </p:cNvPr>
          <p:cNvSpPr/>
          <p:nvPr/>
        </p:nvSpPr>
        <p:spPr>
          <a:xfrm>
            <a:off x="5741480" y="4723060"/>
            <a:ext cx="1030146" cy="763929"/>
          </a:xfrm>
          <a:prstGeom prst="rect">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H" sz="1200" dirty="0">
                <a:solidFill>
                  <a:schemeClr val="tx1"/>
                </a:solidFill>
              </a:rPr>
              <a:t>dfAnalyzed</a:t>
            </a:r>
          </a:p>
        </p:txBody>
      </p:sp>
      <p:sp>
        <p:nvSpPr>
          <p:cNvPr id="13" name="Right Arrow 12">
            <a:extLst>
              <a:ext uri="{FF2B5EF4-FFF2-40B4-BE49-F238E27FC236}">
                <a16:creationId xmlns:a16="http://schemas.microsoft.com/office/drawing/2014/main" id="{8FE70242-139F-E870-FDBF-BF6033D6778C}"/>
              </a:ext>
            </a:extLst>
          </p:cNvPr>
          <p:cNvSpPr/>
          <p:nvPr/>
        </p:nvSpPr>
        <p:spPr>
          <a:xfrm>
            <a:off x="6861975" y="4732521"/>
            <a:ext cx="1331089" cy="670374"/>
          </a:xfrm>
          <a:prstGeom prst="rightArrow">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H" sz="800" dirty="0"/>
              <a:t>Flag_Simaerep()</a:t>
            </a:r>
          </a:p>
        </p:txBody>
      </p:sp>
      <p:sp>
        <p:nvSpPr>
          <p:cNvPr id="14" name="Rectangle 13">
            <a:extLst>
              <a:ext uri="{FF2B5EF4-FFF2-40B4-BE49-F238E27FC236}">
                <a16:creationId xmlns:a16="http://schemas.microsoft.com/office/drawing/2014/main" id="{EF347E09-FD49-468B-0989-4740EC3BF848}"/>
              </a:ext>
            </a:extLst>
          </p:cNvPr>
          <p:cNvSpPr/>
          <p:nvPr/>
        </p:nvSpPr>
        <p:spPr>
          <a:xfrm>
            <a:off x="8254524" y="4726167"/>
            <a:ext cx="1030146" cy="763929"/>
          </a:xfrm>
          <a:prstGeom prst="rect">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H" sz="1200" dirty="0">
                <a:solidFill>
                  <a:schemeClr val="tx1"/>
                </a:solidFill>
              </a:rPr>
              <a:t>dfFlagged</a:t>
            </a:r>
          </a:p>
        </p:txBody>
      </p:sp>
      <p:sp>
        <p:nvSpPr>
          <p:cNvPr id="15" name="Right Arrow 14">
            <a:extLst>
              <a:ext uri="{FF2B5EF4-FFF2-40B4-BE49-F238E27FC236}">
                <a16:creationId xmlns:a16="http://schemas.microsoft.com/office/drawing/2014/main" id="{F6307F76-9CA7-8858-FBD2-510CD1BAB3EA}"/>
              </a:ext>
            </a:extLst>
          </p:cNvPr>
          <p:cNvSpPr/>
          <p:nvPr/>
        </p:nvSpPr>
        <p:spPr>
          <a:xfrm>
            <a:off x="9347026" y="4726296"/>
            <a:ext cx="1331089" cy="670374"/>
          </a:xfrm>
          <a:prstGeom prst="rightArrow">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H" sz="800" dirty="0"/>
              <a:t>Summarize()</a:t>
            </a:r>
          </a:p>
        </p:txBody>
      </p:sp>
      <p:sp>
        <p:nvSpPr>
          <p:cNvPr id="16" name="Rectangle 15">
            <a:extLst>
              <a:ext uri="{FF2B5EF4-FFF2-40B4-BE49-F238E27FC236}">
                <a16:creationId xmlns:a16="http://schemas.microsoft.com/office/drawing/2014/main" id="{E1A559A2-D6B3-CBEF-AFDB-30868C65D312}"/>
              </a:ext>
            </a:extLst>
          </p:cNvPr>
          <p:cNvSpPr/>
          <p:nvPr/>
        </p:nvSpPr>
        <p:spPr>
          <a:xfrm>
            <a:off x="10776901" y="4719947"/>
            <a:ext cx="1030146" cy="763929"/>
          </a:xfrm>
          <a:prstGeom prst="rect">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H" sz="1200" dirty="0">
                <a:solidFill>
                  <a:schemeClr val="tx1"/>
                </a:solidFill>
              </a:rPr>
              <a:t>dfSummary</a:t>
            </a:r>
          </a:p>
        </p:txBody>
      </p:sp>
    </p:spTree>
    <p:extLst>
      <p:ext uri="{BB962C8B-B14F-4D97-AF65-F5344CB8AC3E}">
        <p14:creationId xmlns:p14="http://schemas.microsoft.com/office/powerpoint/2010/main" val="24830266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92BAC59-0541-5B28-F9C3-5029D23B1D6D}"/>
              </a:ext>
            </a:extLst>
          </p:cNvPr>
          <p:cNvSpPr>
            <a:spLocks noGrp="1"/>
          </p:cNvSpPr>
          <p:nvPr>
            <p:ph type="title"/>
          </p:nvPr>
        </p:nvSpPr>
        <p:spPr/>
        <p:txBody>
          <a:bodyPr/>
          <a:lstStyle/>
          <a:p>
            <a:r>
              <a:rPr lang="en-CH" dirty="0"/>
              <a:t>{gsm.simaerep} bootstrap</a:t>
            </a:r>
          </a:p>
        </p:txBody>
      </p:sp>
      <p:pic>
        <p:nvPicPr>
          <p:cNvPr id="1026" name="Picture 2">
            <a:extLst>
              <a:ext uri="{FF2B5EF4-FFF2-40B4-BE49-F238E27FC236}">
                <a16:creationId xmlns:a16="http://schemas.microsoft.com/office/drawing/2014/main" id="{948EEACD-AE75-7276-99CB-1D3A20A6D9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23165" y="921396"/>
            <a:ext cx="2870147" cy="439838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D6CA65D-42F4-90F3-6DB9-FC14D96891EF}"/>
              </a:ext>
            </a:extLst>
          </p:cNvPr>
          <p:cNvSpPr txBox="1"/>
          <p:nvPr/>
        </p:nvSpPr>
        <p:spPr>
          <a:xfrm>
            <a:off x="8482971" y="5319776"/>
            <a:ext cx="3550534" cy="738664"/>
          </a:xfrm>
          <a:prstGeom prst="rect">
            <a:avLst/>
          </a:prstGeom>
          <a:noFill/>
        </p:spPr>
        <p:txBody>
          <a:bodyPr wrap="square">
            <a:spAutoFit/>
          </a:bodyPr>
          <a:lstStyle/>
          <a:p>
            <a:pPr rtl="0">
              <a:buNone/>
            </a:pPr>
            <a:r>
              <a:rPr lang="en-GB" sz="1400" b="0" i="1" u="none" strike="noStrike" dirty="0">
                <a:solidFill>
                  <a:srgbClr val="000000"/>
                </a:solidFill>
                <a:effectLst/>
                <a:latin typeface="Times New Roman" panose="02020603050405020304" pitchFamily="18" charset="0"/>
              </a:rPr>
              <a:t>True positive rate (</a:t>
            </a:r>
            <a:r>
              <a:rPr lang="en-GB" sz="1400" b="0" i="1" u="none" strike="noStrike" dirty="0" err="1">
                <a:solidFill>
                  <a:srgbClr val="000000"/>
                </a:solidFill>
                <a:effectLst/>
                <a:latin typeface="Times New Roman" panose="02020603050405020304" pitchFamily="18" charset="0"/>
              </a:rPr>
              <a:t>tpr</a:t>
            </a:r>
            <a:r>
              <a:rPr lang="en-GB" sz="1400" b="0" i="1" u="none" strike="noStrike" dirty="0">
                <a:solidFill>
                  <a:srgbClr val="000000"/>
                </a:solidFill>
                <a:effectLst/>
                <a:latin typeface="Times New Roman" panose="02020603050405020304" pitchFamily="18" charset="0"/>
              </a:rPr>
              <a:t>), false positive rate (</a:t>
            </a:r>
            <a:r>
              <a:rPr lang="en-GB" sz="1400" b="0" i="1" u="none" strike="noStrike" dirty="0" err="1">
                <a:solidFill>
                  <a:srgbClr val="000000"/>
                </a:solidFill>
                <a:effectLst/>
                <a:latin typeface="Times New Roman" panose="02020603050405020304" pitchFamily="18" charset="0"/>
              </a:rPr>
              <a:t>fpr</a:t>
            </a:r>
            <a:r>
              <a:rPr lang="en-GB" sz="1400" b="0" i="1" u="none" strike="noStrike" dirty="0">
                <a:solidFill>
                  <a:srgbClr val="000000"/>
                </a:solidFill>
                <a:effectLst/>
                <a:latin typeface="Times New Roman" panose="02020603050405020304" pitchFamily="18" charset="0"/>
              </a:rPr>
              <a:t>)</a:t>
            </a:r>
            <a:endParaRPr lang="en-GB" b="0" dirty="0">
              <a:effectLst/>
            </a:endParaRPr>
          </a:p>
          <a:p>
            <a:pPr>
              <a:buNone/>
            </a:pPr>
            <a:br>
              <a:rPr lang="en-GB" dirty="0"/>
            </a:br>
            <a:endParaRPr lang="en-CH" dirty="0"/>
          </a:p>
        </p:txBody>
      </p:sp>
      <p:sp>
        <p:nvSpPr>
          <p:cNvPr id="6" name="TextBox 5">
            <a:extLst>
              <a:ext uri="{FF2B5EF4-FFF2-40B4-BE49-F238E27FC236}">
                <a16:creationId xmlns:a16="http://schemas.microsoft.com/office/drawing/2014/main" id="{7EBD0860-ABD6-682C-C7E7-94D63E9136E5}"/>
              </a:ext>
            </a:extLst>
          </p:cNvPr>
          <p:cNvSpPr txBox="1"/>
          <p:nvPr/>
        </p:nvSpPr>
        <p:spPr>
          <a:xfrm>
            <a:off x="353763" y="1758366"/>
            <a:ext cx="3154500" cy="3754874"/>
          </a:xfrm>
          <a:prstGeom prst="rect">
            <a:avLst/>
          </a:prstGeom>
          <a:noFill/>
        </p:spPr>
        <p:txBody>
          <a:bodyPr wrap="square" rtlCol="0">
            <a:spAutoFit/>
          </a:bodyPr>
          <a:lstStyle/>
          <a:p>
            <a:pPr marL="285750" indent="-285750">
              <a:buFontTx/>
              <a:buChar char="-"/>
            </a:pPr>
            <a:r>
              <a:rPr lang="en-CH" dirty="0"/>
              <a:t>Higher Performance than traditional outlier detection methods</a:t>
            </a:r>
          </a:p>
          <a:p>
            <a:endParaRPr lang="en-CH" dirty="0"/>
          </a:p>
          <a:p>
            <a:pPr marL="285750" indent="-285750">
              <a:buFontTx/>
              <a:buChar char="-"/>
            </a:pPr>
            <a:r>
              <a:rPr lang="en-CH" dirty="0"/>
              <a:t>Presented at PHUSE EU Connect 2024</a:t>
            </a:r>
          </a:p>
          <a:p>
            <a:endParaRPr lang="en-CH" dirty="0"/>
          </a:p>
          <a:p>
            <a:pPr marL="285750" indent="-285750">
              <a:buFontTx/>
              <a:buChar char="-"/>
            </a:pPr>
            <a:r>
              <a:rPr lang="en-GB" dirty="0">
                <a:hlinkClick r:id="rId4"/>
              </a:rPr>
              <a:t>https://github.com/IMPALA-Consortium/gsm.simaerep</a:t>
            </a:r>
            <a:endParaRPr lang="en-GB" dirty="0"/>
          </a:p>
          <a:p>
            <a:endParaRPr lang="en-GB" dirty="0"/>
          </a:p>
          <a:p>
            <a:pPr marL="285750" indent="-285750">
              <a:buFontTx/>
              <a:buChar char="-"/>
            </a:pPr>
            <a:r>
              <a:rPr lang="en-GB" dirty="0">
                <a:hlinkClick r:id="rId5"/>
              </a:rPr>
              <a:t>https://phuse.s3.eu-central-1.amazonaws.com/Archive/2024/Connect/EU/Strasbourg/PRE_AR04.pdf</a:t>
            </a:r>
            <a:endParaRPr lang="en-GB" dirty="0"/>
          </a:p>
          <a:p>
            <a:pPr marL="285750" indent="-285750">
              <a:buFontTx/>
              <a:buChar char="-"/>
            </a:pPr>
            <a:endParaRPr lang="en-CH" dirty="0"/>
          </a:p>
          <a:p>
            <a:pPr marL="285750" indent="-285750">
              <a:buFontTx/>
              <a:buChar char="-"/>
            </a:pPr>
            <a:endParaRPr lang="en-CH" dirty="0"/>
          </a:p>
          <a:p>
            <a:pPr marL="285750" indent="-285750">
              <a:buFontTx/>
              <a:buChar char="-"/>
            </a:pPr>
            <a:endParaRPr lang="en-CH" dirty="0"/>
          </a:p>
        </p:txBody>
      </p:sp>
      <p:grpSp>
        <p:nvGrpSpPr>
          <p:cNvPr id="18" name="Group 17">
            <a:extLst>
              <a:ext uri="{FF2B5EF4-FFF2-40B4-BE49-F238E27FC236}">
                <a16:creationId xmlns:a16="http://schemas.microsoft.com/office/drawing/2014/main" id="{357D7914-9BA0-5A09-D594-A7DCEF35AB92}"/>
              </a:ext>
            </a:extLst>
          </p:cNvPr>
          <p:cNvGrpSpPr/>
          <p:nvPr/>
        </p:nvGrpSpPr>
        <p:grpSpPr>
          <a:xfrm>
            <a:off x="3998938" y="1607470"/>
            <a:ext cx="4484033" cy="3054917"/>
            <a:chOff x="4531978" y="2227648"/>
            <a:chExt cx="4484033" cy="3054917"/>
          </a:xfrm>
        </p:grpSpPr>
        <p:pic>
          <p:nvPicPr>
            <p:cNvPr id="19" name="Google Shape;470;p48">
              <a:extLst>
                <a:ext uri="{FF2B5EF4-FFF2-40B4-BE49-F238E27FC236}">
                  <a16:creationId xmlns:a16="http://schemas.microsoft.com/office/drawing/2014/main" id="{F350484B-6690-47B6-D2B9-1E8E55E0726A}"/>
                </a:ext>
              </a:extLst>
            </p:cNvPr>
            <p:cNvPicPr preferRelativeResize="0"/>
            <p:nvPr/>
          </p:nvPicPr>
          <p:blipFill>
            <a:blip r:embed="rId6">
              <a:alphaModFix/>
            </a:blip>
            <a:stretch>
              <a:fillRect/>
            </a:stretch>
          </p:blipFill>
          <p:spPr>
            <a:xfrm>
              <a:off x="6265851" y="2532433"/>
              <a:ext cx="2750160" cy="2750132"/>
            </a:xfrm>
            <a:prstGeom prst="rect">
              <a:avLst/>
            </a:prstGeom>
            <a:noFill/>
            <a:ln>
              <a:noFill/>
            </a:ln>
          </p:spPr>
        </p:pic>
        <p:sp>
          <p:nvSpPr>
            <p:cNvPr id="20" name="Google Shape;471;p48">
              <a:extLst>
                <a:ext uri="{FF2B5EF4-FFF2-40B4-BE49-F238E27FC236}">
                  <a16:creationId xmlns:a16="http://schemas.microsoft.com/office/drawing/2014/main" id="{DC426FDE-737F-6AB8-F02C-037774615B24}"/>
                </a:ext>
              </a:extLst>
            </p:cNvPr>
            <p:cNvSpPr/>
            <p:nvPr/>
          </p:nvSpPr>
          <p:spPr>
            <a:xfrm>
              <a:off x="4531978" y="2227648"/>
              <a:ext cx="3154500" cy="3054900"/>
            </a:xfrm>
            <a:prstGeom prst="rect">
              <a:avLst/>
            </a:prstGeom>
            <a:noFill/>
            <a:ln w="9525" cap="flat" cmpd="sng">
              <a:solidFill>
                <a:srgbClr val="E34677"/>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nvGrpSpPr>
            <p:cNvPr id="21" name="Google Shape;473;p48">
              <a:extLst>
                <a:ext uri="{FF2B5EF4-FFF2-40B4-BE49-F238E27FC236}">
                  <a16:creationId xmlns:a16="http://schemas.microsoft.com/office/drawing/2014/main" id="{64D1D3CC-A748-E4FD-DF36-5080BE5352A0}"/>
                </a:ext>
              </a:extLst>
            </p:cNvPr>
            <p:cNvGrpSpPr/>
            <p:nvPr/>
          </p:nvGrpSpPr>
          <p:grpSpPr>
            <a:xfrm>
              <a:off x="4895704" y="3556389"/>
              <a:ext cx="1982673" cy="1127222"/>
              <a:chOff x="6229350" y="2844725"/>
              <a:chExt cx="1487042" cy="845438"/>
            </a:xfrm>
          </p:grpSpPr>
          <p:pic>
            <p:nvPicPr>
              <p:cNvPr id="23" name="Google Shape;474;p48">
                <a:extLst>
                  <a:ext uri="{FF2B5EF4-FFF2-40B4-BE49-F238E27FC236}">
                    <a16:creationId xmlns:a16="http://schemas.microsoft.com/office/drawing/2014/main" id="{38484198-87BF-C008-6C0D-D6594D485869}"/>
                  </a:ext>
                </a:extLst>
              </p:cNvPr>
              <p:cNvPicPr preferRelativeResize="0"/>
              <p:nvPr/>
            </p:nvPicPr>
            <p:blipFill>
              <a:blip r:embed="rId7">
                <a:alphaModFix/>
              </a:blip>
              <a:stretch>
                <a:fillRect/>
              </a:stretch>
            </p:blipFill>
            <p:spPr>
              <a:xfrm>
                <a:off x="6711525" y="3027400"/>
                <a:ext cx="494400" cy="494315"/>
              </a:xfrm>
              <a:prstGeom prst="rect">
                <a:avLst/>
              </a:prstGeom>
              <a:noFill/>
              <a:ln>
                <a:noFill/>
              </a:ln>
            </p:spPr>
          </p:pic>
          <p:pic>
            <p:nvPicPr>
              <p:cNvPr id="24" name="Google Shape;475;p48">
                <a:extLst>
                  <a:ext uri="{FF2B5EF4-FFF2-40B4-BE49-F238E27FC236}">
                    <a16:creationId xmlns:a16="http://schemas.microsoft.com/office/drawing/2014/main" id="{8CCD9295-283C-7F79-E24A-E04410994DA3}"/>
                  </a:ext>
                </a:extLst>
              </p:cNvPr>
              <p:cNvPicPr preferRelativeResize="0"/>
              <p:nvPr/>
            </p:nvPicPr>
            <p:blipFill>
              <a:blip r:embed="rId8">
                <a:alphaModFix/>
              </a:blip>
              <a:stretch>
                <a:fillRect/>
              </a:stretch>
            </p:blipFill>
            <p:spPr>
              <a:xfrm>
                <a:off x="7341667" y="2883563"/>
                <a:ext cx="374725" cy="374725"/>
              </a:xfrm>
              <a:prstGeom prst="rect">
                <a:avLst/>
              </a:prstGeom>
              <a:noFill/>
              <a:ln>
                <a:noFill/>
              </a:ln>
            </p:spPr>
          </p:pic>
          <p:pic>
            <p:nvPicPr>
              <p:cNvPr id="25" name="Google Shape;476;p48">
                <a:extLst>
                  <a:ext uri="{FF2B5EF4-FFF2-40B4-BE49-F238E27FC236}">
                    <a16:creationId xmlns:a16="http://schemas.microsoft.com/office/drawing/2014/main" id="{9AAC72AA-A24C-3D14-9C0E-825071356A80}"/>
                  </a:ext>
                </a:extLst>
              </p:cNvPr>
              <p:cNvPicPr preferRelativeResize="0"/>
              <p:nvPr/>
            </p:nvPicPr>
            <p:blipFill>
              <a:blip r:embed="rId8">
                <a:alphaModFix/>
              </a:blip>
              <a:stretch>
                <a:fillRect/>
              </a:stretch>
            </p:blipFill>
            <p:spPr>
              <a:xfrm>
                <a:off x="7341667" y="3315438"/>
                <a:ext cx="374725" cy="374725"/>
              </a:xfrm>
              <a:prstGeom prst="rect">
                <a:avLst/>
              </a:prstGeom>
              <a:noFill/>
              <a:ln>
                <a:noFill/>
              </a:ln>
            </p:spPr>
          </p:pic>
          <p:pic>
            <p:nvPicPr>
              <p:cNvPr id="26" name="Google Shape;477;p48">
                <a:extLst>
                  <a:ext uri="{FF2B5EF4-FFF2-40B4-BE49-F238E27FC236}">
                    <a16:creationId xmlns:a16="http://schemas.microsoft.com/office/drawing/2014/main" id="{F3D46BC8-F179-D2AA-22BE-C6D9652B0A53}"/>
                  </a:ext>
                </a:extLst>
              </p:cNvPr>
              <p:cNvPicPr preferRelativeResize="0"/>
              <p:nvPr/>
            </p:nvPicPr>
            <p:blipFill>
              <a:blip r:embed="rId9">
                <a:alphaModFix/>
              </a:blip>
              <a:stretch>
                <a:fillRect/>
              </a:stretch>
            </p:blipFill>
            <p:spPr>
              <a:xfrm>
                <a:off x="6229350" y="2844725"/>
                <a:ext cx="374725" cy="374725"/>
              </a:xfrm>
              <a:prstGeom prst="rect">
                <a:avLst/>
              </a:prstGeom>
              <a:noFill/>
              <a:ln>
                <a:noFill/>
              </a:ln>
            </p:spPr>
          </p:pic>
          <p:pic>
            <p:nvPicPr>
              <p:cNvPr id="27" name="Google Shape;478;p48">
                <a:extLst>
                  <a:ext uri="{FF2B5EF4-FFF2-40B4-BE49-F238E27FC236}">
                    <a16:creationId xmlns:a16="http://schemas.microsoft.com/office/drawing/2014/main" id="{488C4423-988C-47D5-B640-ED3533898277}"/>
                  </a:ext>
                </a:extLst>
              </p:cNvPr>
              <p:cNvPicPr preferRelativeResize="0"/>
              <p:nvPr/>
            </p:nvPicPr>
            <p:blipFill>
              <a:blip r:embed="rId9">
                <a:alphaModFix/>
              </a:blip>
              <a:stretch>
                <a:fillRect/>
              </a:stretch>
            </p:blipFill>
            <p:spPr>
              <a:xfrm>
                <a:off x="6229350" y="3301925"/>
                <a:ext cx="374725" cy="374725"/>
              </a:xfrm>
              <a:prstGeom prst="rect">
                <a:avLst/>
              </a:prstGeom>
              <a:noFill/>
              <a:ln>
                <a:noFill/>
              </a:ln>
            </p:spPr>
          </p:pic>
        </p:grpSp>
        <p:sp>
          <p:nvSpPr>
            <p:cNvPr id="22" name="Google Shape;479;p48">
              <a:extLst>
                <a:ext uri="{FF2B5EF4-FFF2-40B4-BE49-F238E27FC236}">
                  <a16:creationId xmlns:a16="http://schemas.microsoft.com/office/drawing/2014/main" id="{9F0BDAA9-009E-4413-F7DB-3BF7518AA22E}"/>
                </a:ext>
              </a:extLst>
            </p:cNvPr>
            <p:cNvSpPr txBox="1"/>
            <p:nvPr/>
          </p:nvSpPr>
          <p:spPr>
            <a:xfrm>
              <a:off x="4646411" y="2237473"/>
              <a:ext cx="3039900" cy="962400"/>
            </a:xfrm>
            <a:prstGeom prst="rect">
              <a:avLst/>
            </a:prstGeom>
            <a:noFill/>
            <a:ln>
              <a:noFill/>
            </a:ln>
          </p:spPr>
          <p:txBody>
            <a:bodyPr spcFirstLastPara="1" wrap="square" lIns="121900" tIns="121900" rIns="121900" bIns="121900" anchor="t" anchorCtr="0">
              <a:noAutofit/>
            </a:bodyPr>
            <a:lstStyle/>
            <a:p>
              <a:pPr marL="0" lvl="0" indent="0" algn="ctr" rtl="0">
                <a:spcBef>
                  <a:spcPts val="0"/>
                </a:spcBef>
                <a:spcAft>
                  <a:spcPts val="0"/>
                </a:spcAft>
                <a:buNone/>
              </a:pPr>
              <a:r>
                <a:rPr lang="en-US" sz="1900" b="1" dirty="0">
                  <a:solidFill>
                    <a:srgbClr val="E34677"/>
                  </a:solidFill>
                </a:rPr>
                <a:t>Bootstrap Simulations</a:t>
              </a:r>
              <a:br>
                <a:rPr lang="en-US" sz="1900" b="1" dirty="0">
                  <a:solidFill>
                    <a:srgbClr val="E34677"/>
                  </a:solidFill>
                </a:rPr>
              </a:br>
              <a:r>
                <a:rPr lang="en-US" sz="1900" b="1" dirty="0">
                  <a:solidFill>
                    <a:srgbClr val="E34677"/>
                  </a:solidFill>
                </a:rPr>
                <a:t>Redistribute Patients between sites</a:t>
              </a:r>
              <a:endParaRPr sz="1900" dirty="0">
                <a:solidFill>
                  <a:srgbClr val="E34677"/>
                </a:solidFill>
              </a:endParaRPr>
            </a:p>
          </p:txBody>
        </p:sp>
      </p:grpSp>
      <p:pic>
        <p:nvPicPr>
          <p:cNvPr id="28" name="Picture 2">
            <a:extLst>
              <a:ext uri="{FF2B5EF4-FFF2-40B4-BE49-F238E27FC236}">
                <a16:creationId xmlns:a16="http://schemas.microsoft.com/office/drawing/2014/main" id="{CD86589D-E0CE-6CAE-7DAA-F84F7DB422FA}"/>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5874" r="-8117"/>
          <a:stretch/>
        </p:blipFill>
        <p:spPr bwMode="auto">
          <a:xfrm>
            <a:off x="6704728" y="4160996"/>
            <a:ext cx="1865863" cy="18974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25602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C4C9F-48A0-1BB9-AA8A-6210AE4C186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C3955E5-00D8-2B70-3240-8C6525310794}"/>
              </a:ext>
            </a:extLst>
          </p:cNvPr>
          <p:cNvSpPr>
            <a:spLocks noGrp="1"/>
          </p:cNvSpPr>
          <p:nvPr>
            <p:ph type="body" idx="1"/>
          </p:nvPr>
        </p:nvSpPr>
        <p:spPr>
          <a:xfrm>
            <a:off x="516477" y="2182094"/>
            <a:ext cx="11159045" cy="1558634"/>
          </a:xfrm>
        </p:spPr>
        <p:txBody>
          <a:bodyPr/>
          <a:lstStyle/>
          <a:p>
            <a:pPr marL="25400" indent="0">
              <a:buNone/>
            </a:pPr>
            <a:r>
              <a:rPr lang="en-US" sz="4800" dirty="0"/>
              <a:t>Part 3 – {</a:t>
            </a:r>
            <a:r>
              <a:rPr lang="en-US" sz="4800" dirty="0" err="1"/>
              <a:t>gsm</a:t>
            </a:r>
            <a:r>
              <a:rPr lang="en-US" sz="4800" dirty="0"/>
              <a:t>} Analytics</a:t>
            </a:r>
          </a:p>
          <a:p>
            <a:pPr marL="25400" indent="0">
              <a:buNone/>
            </a:pPr>
            <a:r>
              <a:rPr lang="en-US" dirty="0"/>
              <a:t>Mariia </a:t>
            </a:r>
            <a:r>
              <a:rPr lang="en-US" dirty="0" err="1">
                <a:solidFill>
                  <a:srgbClr val="1F2328"/>
                </a:solidFill>
                <a:latin typeface="-apple-system"/>
              </a:rPr>
              <a:t>Lapaeva</a:t>
            </a:r>
            <a:endParaRPr lang="en-US" dirty="0"/>
          </a:p>
        </p:txBody>
      </p:sp>
    </p:spTree>
    <p:extLst>
      <p:ext uri="{BB962C8B-B14F-4D97-AF65-F5344CB8AC3E}">
        <p14:creationId xmlns:p14="http://schemas.microsoft.com/office/powerpoint/2010/main" val="42563591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51BB65E-5C8F-CA8B-418F-3F1F73684E77}"/>
              </a:ext>
            </a:extLst>
          </p:cNvPr>
          <p:cNvSpPr>
            <a:spLocks noGrp="1"/>
          </p:cNvSpPr>
          <p:nvPr>
            <p:ph type="body" idx="1"/>
          </p:nvPr>
        </p:nvSpPr>
        <p:spPr/>
        <p:txBody>
          <a:bodyPr/>
          <a:lstStyle/>
          <a:p>
            <a:r>
              <a:rPr lang="en-US" dirty="0"/>
              <a:t>How to create and run single metric</a:t>
            </a:r>
          </a:p>
          <a:p>
            <a:r>
              <a:rPr lang="en-US" dirty="0"/>
              <a:t>Analysis pipeline overview</a:t>
            </a:r>
          </a:p>
          <a:p>
            <a:r>
              <a:rPr lang="en-US" dirty="0"/>
              <a:t>Hands-on</a:t>
            </a:r>
          </a:p>
          <a:p>
            <a:pPr lvl="1"/>
            <a:r>
              <a:rPr lang="en-US" dirty="0"/>
              <a:t>Open </a:t>
            </a:r>
            <a:r>
              <a:rPr lang="en-US" dirty="0">
                <a:hlinkClick r:id="rId2"/>
              </a:rPr>
              <a:t>Posit Workbench</a:t>
            </a:r>
            <a:endParaRPr lang="en-US" dirty="0"/>
          </a:p>
          <a:p>
            <a:pPr lvl="1"/>
            <a:r>
              <a:rPr lang="en-US" dirty="0"/>
              <a:t>Review the setup/file structure</a:t>
            </a:r>
          </a:p>
          <a:p>
            <a:pPr lvl="1"/>
            <a:r>
              <a:rPr lang="en-US" dirty="0"/>
              <a:t>Run analysis pipeline</a:t>
            </a:r>
          </a:p>
          <a:p>
            <a:pPr lvl="1"/>
            <a:r>
              <a:rPr lang="en-US" dirty="0"/>
              <a:t>Review KRI report</a:t>
            </a:r>
          </a:p>
        </p:txBody>
      </p:sp>
      <p:sp>
        <p:nvSpPr>
          <p:cNvPr id="3" name="Title 2">
            <a:extLst>
              <a:ext uri="{FF2B5EF4-FFF2-40B4-BE49-F238E27FC236}">
                <a16:creationId xmlns:a16="http://schemas.microsoft.com/office/drawing/2014/main" id="{37247B19-5005-D9DD-98AD-CD02FEC72485}"/>
              </a:ext>
            </a:extLst>
          </p:cNvPr>
          <p:cNvSpPr>
            <a:spLocks noGrp="1"/>
          </p:cNvSpPr>
          <p:nvPr>
            <p:ph type="title"/>
          </p:nvPr>
        </p:nvSpPr>
        <p:spPr/>
        <p:txBody>
          <a:bodyPr/>
          <a:lstStyle/>
          <a:p>
            <a:r>
              <a:rPr lang="en-US"/>
              <a:t>Overview</a:t>
            </a:r>
          </a:p>
        </p:txBody>
      </p:sp>
    </p:spTree>
    <p:extLst>
      <p:ext uri="{BB962C8B-B14F-4D97-AF65-F5344CB8AC3E}">
        <p14:creationId xmlns:p14="http://schemas.microsoft.com/office/powerpoint/2010/main" val="14014867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0BBA303-C9A2-54BA-B367-B03E0284E4CF}"/>
              </a:ext>
            </a:extLst>
          </p:cNvPr>
          <p:cNvSpPr>
            <a:spLocks noGrp="1"/>
          </p:cNvSpPr>
          <p:nvPr>
            <p:ph type="body" idx="1"/>
          </p:nvPr>
        </p:nvSpPr>
        <p:spPr>
          <a:xfrm>
            <a:off x="353762" y="1231902"/>
            <a:ext cx="11159045" cy="5208260"/>
          </a:xfrm>
        </p:spPr>
        <p:txBody>
          <a:bodyPr/>
          <a:lstStyle/>
          <a:p>
            <a:r>
              <a:rPr lang="en-US" sz="2800" dirty="0"/>
              <a:t>Open and explore `</a:t>
            </a:r>
            <a:r>
              <a:rPr lang="en-US" sz="2800" dirty="0" err="1"/>
              <a:t>sae-kri.R</a:t>
            </a:r>
            <a:r>
              <a:rPr lang="en-US" sz="2800" dirty="0"/>
              <a:t>` file:</a:t>
            </a:r>
          </a:p>
          <a:p>
            <a:pPr lvl="1"/>
            <a:r>
              <a:rPr lang="en-US" sz="2400" b="1" dirty="0"/>
              <a:t>source() </a:t>
            </a:r>
            <a:r>
              <a:rPr lang="en-US" sz="2400" dirty="0"/>
              <a:t>data from 'R/</a:t>
            </a:r>
            <a:r>
              <a:rPr lang="en-US" sz="2400" dirty="0" err="1"/>
              <a:t>DataIO.R</a:t>
            </a:r>
            <a:r>
              <a:rPr lang="en-US" sz="2400" dirty="0"/>
              <a:t>’ to load data input/output helpers</a:t>
            </a:r>
          </a:p>
          <a:p>
            <a:pPr lvl="1"/>
            <a:r>
              <a:rPr lang="en-US" sz="2400" dirty="0"/>
              <a:t>Use </a:t>
            </a:r>
            <a:r>
              <a:rPr lang="en-US" sz="2400" b="1" dirty="0" err="1"/>
              <a:t>gsm.core</a:t>
            </a:r>
            <a:r>
              <a:rPr lang="en-US" sz="2400" b="1" dirty="0"/>
              <a:t>::</a:t>
            </a:r>
            <a:r>
              <a:rPr lang="en-US" sz="2400" b="1" dirty="0" err="1"/>
              <a:t>Input_Rate</a:t>
            </a:r>
            <a:r>
              <a:rPr lang="en-US" sz="2400" b="1" dirty="0"/>
              <a:t>() </a:t>
            </a:r>
            <a:r>
              <a:rPr lang="en-US" sz="2400" dirty="0"/>
              <a:t>function to calculate SAE reporting rate </a:t>
            </a:r>
          </a:p>
          <a:p>
            <a:pPr lvl="1"/>
            <a:r>
              <a:rPr lang="en-US" sz="2400" dirty="0"/>
              <a:t>Use </a:t>
            </a:r>
            <a:r>
              <a:rPr lang="en-US" sz="2400" b="1" dirty="0" err="1"/>
              <a:t>gsm.core</a:t>
            </a:r>
            <a:r>
              <a:rPr lang="en-US" sz="2400" b="1" dirty="0"/>
              <a:t>::</a:t>
            </a:r>
            <a:r>
              <a:rPr lang="en-US" sz="2400" b="1" dirty="0" err="1"/>
              <a:t>Transform_Rate</a:t>
            </a:r>
            <a:r>
              <a:rPr lang="en-US" sz="2400" b="1" dirty="0"/>
              <a:t>() </a:t>
            </a:r>
            <a:r>
              <a:rPr lang="en-US" sz="2400" dirty="0"/>
              <a:t>to transform the input for analysis</a:t>
            </a:r>
          </a:p>
          <a:p>
            <a:pPr lvl="1"/>
            <a:r>
              <a:rPr lang="en-US" sz="2400" dirty="0"/>
              <a:t>Use </a:t>
            </a:r>
            <a:r>
              <a:rPr lang="en-US" sz="2400" b="1" dirty="0" err="1"/>
              <a:t>gsm.core</a:t>
            </a:r>
            <a:r>
              <a:rPr lang="en-US" sz="2400" b="1" dirty="0"/>
              <a:t>::</a:t>
            </a:r>
            <a:r>
              <a:rPr lang="en-US" sz="2400" b="1" dirty="0" err="1"/>
              <a:t>Analyze_NormalApprox</a:t>
            </a:r>
            <a:r>
              <a:rPr lang="en-US" sz="2400" b="1" dirty="0"/>
              <a:t>() </a:t>
            </a:r>
            <a:r>
              <a:rPr lang="en-US" sz="2400" dirty="0"/>
              <a:t>to analyze the transformed data using normal approximation</a:t>
            </a:r>
          </a:p>
          <a:p>
            <a:pPr lvl="1"/>
            <a:r>
              <a:rPr lang="en-US" sz="2400" dirty="0"/>
              <a:t>Use </a:t>
            </a:r>
            <a:r>
              <a:rPr lang="en-US" sz="2400" b="1" dirty="0" err="1"/>
              <a:t>gsm.core</a:t>
            </a:r>
            <a:r>
              <a:rPr lang="en-US" sz="2400" b="1" dirty="0"/>
              <a:t>::Flag() </a:t>
            </a:r>
            <a:r>
              <a:rPr lang="en-US" sz="2400" dirty="0"/>
              <a:t>to flag sites based on thresholds with threshold values of </a:t>
            </a:r>
            <a:r>
              <a:rPr lang="en-US" sz="2400" b="1" dirty="0"/>
              <a:t>c(-3, -2, 2, 3)</a:t>
            </a:r>
          </a:p>
          <a:p>
            <a:pPr lvl="1"/>
            <a:r>
              <a:rPr lang="en-US" sz="2400" b="1" dirty="0"/>
              <a:t>Note: </a:t>
            </a:r>
            <a:r>
              <a:rPr lang="en-US" sz="2400" dirty="0"/>
              <a:t>AE KRI transformed into SAE KRI by applying filter to </a:t>
            </a:r>
            <a:r>
              <a:rPr lang="en-US" sz="2400" b="1" dirty="0" err="1"/>
              <a:t>aeser</a:t>
            </a:r>
            <a:r>
              <a:rPr lang="en-US" sz="2400" dirty="0"/>
              <a:t> variable</a:t>
            </a:r>
            <a:endParaRPr lang="en-US" sz="2400" b="1" dirty="0"/>
          </a:p>
          <a:p>
            <a:pPr marL="508000" lvl="1" indent="0">
              <a:buNone/>
            </a:pPr>
            <a:r>
              <a:rPr lang="en-US" sz="2400" dirty="0"/>
              <a:t>Resources: </a:t>
            </a:r>
            <a:r>
              <a:rPr lang="en-US" sz="2400" dirty="0">
                <a:hlinkClick r:id="rId3"/>
              </a:rPr>
              <a:t>Step-by-Step Analysis Workflow</a:t>
            </a:r>
            <a:endParaRPr lang="en-US" sz="2400" dirty="0"/>
          </a:p>
        </p:txBody>
      </p:sp>
      <p:sp>
        <p:nvSpPr>
          <p:cNvPr id="3" name="Title 2">
            <a:extLst>
              <a:ext uri="{FF2B5EF4-FFF2-40B4-BE49-F238E27FC236}">
                <a16:creationId xmlns:a16="http://schemas.microsoft.com/office/drawing/2014/main" id="{80DB17B0-9C6E-07AD-2C4E-598CB280D0F2}"/>
              </a:ext>
            </a:extLst>
          </p:cNvPr>
          <p:cNvSpPr>
            <a:spLocks noGrp="1"/>
          </p:cNvSpPr>
          <p:nvPr>
            <p:ph type="title"/>
          </p:nvPr>
        </p:nvSpPr>
        <p:spPr/>
        <p:txBody>
          <a:bodyPr/>
          <a:lstStyle/>
          <a:p>
            <a:r>
              <a:rPr lang="en-US" dirty="0"/>
              <a:t>Create </a:t>
            </a:r>
            <a:r>
              <a:rPr lang="en-US"/>
              <a:t>and Run Single </a:t>
            </a:r>
            <a:r>
              <a:rPr lang="en-US" dirty="0"/>
              <a:t>M</a:t>
            </a:r>
            <a:r>
              <a:rPr lang="en-US"/>
              <a:t>etric</a:t>
            </a:r>
            <a:endParaRPr lang="en-US" dirty="0"/>
          </a:p>
        </p:txBody>
      </p:sp>
    </p:spTree>
    <p:extLst>
      <p:ext uri="{BB962C8B-B14F-4D97-AF65-F5344CB8AC3E}">
        <p14:creationId xmlns:p14="http://schemas.microsoft.com/office/powerpoint/2010/main" val="13348460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917FE-969A-54E9-1FC8-BE9D682AABA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14D7E46-8E8D-E3F3-791C-0BC317709FDA}"/>
              </a:ext>
            </a:extLst>
          </p:cNvPr>
          <p:cNvSpPr>
            <a:spLocks noGrp="1"/>
          </p:cNvSpPr>
          <p:nvPr>
            <p:ph type="body" idx="1"/>
          </p:nvPr>
        </p:nvSpPr>
        <p:spPr>
          <a:xfrm>
            <a:off x="516477" y="2182094"/>
            <a:ext cx="11159045" cy="1558634"/>
          </a:xfrm>
        </p:spPr>
        <p:txBody>
          <a:bodyPr/>
          <a:lstStyle/>
          <a:p>
            <a:pPr marL="25400" indent="0">
              <a:buNone/>
            </a:pPr>
            <a:r>
              <a:rPr lang="en-US" sz="4800" dirty="0"/>
              <a:t>Part 3 – {</a:t>
            </a:r>
            <a:r>
              <a:rPr lang="en-US" sz="4800" dirty="0" err="1"/>
              <a:t>gsm</a:t>
            </a:r>
            <a:r>
              <a:rPr lang="en-US" sz="4800" dirty="0"/>
              <a:t>} Deep Dive Pipelines</a:t>
            </a:r>
          </a:p>
          <a:p>
            <a:pPr marL="25400" indent="0">
              <a:buNone/>
            </a:pPr>
            <a:r>
              <a:rPr lang="en-US" dirty="0"/>
              <a:t>Björn </a:t>
            </a:r>
            <a:r>
              <a:rPr lang="en-US" dirty="0" err="1"/>
              <a:t>Koneswarakantha</a:t>
            </a:r>
            <a:endParaRPr lang="en-US" dirty="0"/>
          </a:p>
        </p:txBody>
      </p:sp>
    </p:spTree>
    <p:extLst>
      <p:ext uri="{BB962C8B-B14F-4D97-AF65-F5344CB8AC3E}">
        <p14:creationId xmlns:p14="http://schemas.microsoft.com/office/powerpoint/2010/main" val="5226551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B1CBB31-9577-C97B-39DF-18BBC37BAE9C}"/>
              </a:ext>
            </a:extLst>
          </p:cNvPr>
          <p:cNvSpPr>
            <a:spLocks noGrp="1"/>
          </p:cNvSpPr>
          <p:nvPr>
            <p:ph type="title"/>
          </p:nvPr>
        </p:nvSpPr>
        <p:spPr/>
        <p:txBody>
          <a:bodyPr/>
          <a:lstStyle/>
          <a:p>
            <a:r>
              <a:rPr lang="en-US"/>
              <a:t>Analysis Pipeline</a:t>
            </a:r>
          </a:p>
        </p:txBody>
      </p:sp>
      <p:pic>
        <p:nvPicPr>
          <p:cNvPr id="7" name="Picture 6" descr="A diagram of a data flow&#10;&#10;Description automatically generated">
            <a:extLst>
              <a:ext uri="{FF2B5EF4-FFF2-40B4-BE49-F238E27FC236}">
                <a16:creationId xmlns:a16="http://schemas.microsoft.com/office/drawing/2014/main" id="{032808F8-9072-7417-B41E-7AD5E2352490}"/>
              </a:ext>
            </a:extLst>
          </p:cNvPr>
          <p:cNvPicPr>
            <a:picLocks noChangeAspect="1"/>
          </p:cNvPicPr>
          <p:nvPr/>
        </p:nvPicPr>
        <p:blipFill>
          <a:blip r:embed="rId2"/>
          <a:stretch>
            <a:fillRect/>
          </a:stretch>
        </p:blipFill>
        <p:spPr>
          <a:xfrm>
            <a:off x="976312" y="1138237"/>
            <a:ext cx="10239375" cy="4581525"/>
          </a:xfrm>
          <a:prstGeom prst="rect">
            <a:avLst/>
          </a:prstGeom>
        </p:spPr>
      </p:pic>
    </p:spTree>
    <p:extLst>
      <p:ext uri="{BB962C8B-B14F-4D97-AF65-F5344CB8AC3E}">
        <p14:creationId xmlns:p14="http://schemas.microsoft.com/office/powerpoint/2010/main" val="31026760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5C4F008-EE3C-7250-48FF-CF0483E831DD}"/>
              </a:ext>
            </a:extLst>
          </p:cNvPr>
          <p:cNvSpPr>
            <a:spLocks noGrp="1"/>
          </p:cNvSpPr>
          <p:nvPr>
            <p:ph type="title"/>
          </p:nvPr>
        </p:nvSpPr>
        <p:spPr/>
        <p:txBody>
          <a:bodyPr/>
          <a:lstStyle/>
          <a:p>
            <a:r>
              <a:rPr lang="en-US"/>
              <a:t>Analysis Pipeline</a:t>
            </a:r>
          </a:p>
        </p:txBody>
      </p:sp>
      <p:pic>
        <p:nvPicPr>
          <p:cNvPr id="5" name="Picture 4">
            <a:extLst>
              <a:ext uri="{FF2B5EF4-FFF2-40B4-BE49-F238E27FC236}">
                <a16:creationId xmlns:a16="http://schemas.microsoft.com/office/drawing/2014/main" id="{9F75685F-05A8-74EE-95D8-9EB9684072F4}"/>
              </a:ext>
            </a:extLst>
          </p:cNvPr>
          <p:cNvPicPr>
            <a:picLocks noChangeAspect="1"/>
          </p:cNvPicPr>
          <p:nvPr/>
        </p:nvPicPr>
        <p:blipFill>
          <a:blip r:embed="rId2"/>
          <a:stretch>
            <a:fillRect/>
          </a:stretch>
        </p:blipFill>
        <p:spPr>
          <a:xfrm>
            <a:off x="3795391" y="1747603"/>
            <a:ext cx="4601217" cy="3362794"/>
          </a:xfrm>
          <a:prstGeom prst="rect">
            <a:avLst/>
          </a:prstGeom>
        </p:spPr>
      </p:pic>
    </p:spTree>
    <p:extLst>
      <p:ext uri="{BB962C8B-B14F-4D97-AF65-F5344CB8AC3E}">
        <p14:creationId xmlns:p14="http://schemas.microsoft.com/office/powerpoint/2010/main" val="30802814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5C4F008-EE3C-7250-48FF-CF0483E831DD}"/>
              </a:ext>
            </a:extLst>
          </p:cNvPr>
          <p:cNvSpPr>
            <a:spLocks noGrp="1"/>
          </p:cNvSpPr>
          <p:nvPr>
            <p:ph type="title"/>
          </p:nvPr>
        </p:nvSpPr>
        <p:spPr/>
        <p:txBody>
          <a:bodyPr/>
          <a:lstStyle/>
          <a:p>
            <a:r>
              <a:rPr lang="en-US"/>
              <a:t>Analysis Pipeline</a:t>
            </a:r>
          </a:p>
        </p:txBody>
      </p:sp>
      <p:pic>
        <p:nvPicPr>
          <p:cNvPr id="4" name="Picture 3">
            <a:extLst>
              <a:ext uri="{FF2B5EF4-FFF2-40B4-BE49-F238E27FC236}">
                <a16:creationId xmlns:a16="http://schemas.microsoft.com/office/drawing/2014/main" id="{360849EC-F499-541E-ACF1-30F7AE9F3427}"/>
              </a:ext>
            </a:extLst>
          </p:cNvPr>
          <p:cNvPicPr>
            <a:picLocks noChangeAspect="1"/>
          </p:cNvPicPr>
          <p:nvPr/>
        </p:nvPicPr>
        <p:blipFill>
          <a:blip r:embed="rId2"/>
          <a:stretch>
            <a:fillRect/>
          </a:stretch>
        </p:blipFill>
        <p:spPr>
          <a:xfrm>
            <a:off x="4405076" y="1980998"/>
            <a:ext cx="3381847" cy="2896004"/>
          </a:xfrm>
          <a:prstGeom prst="rect">
            <a:avLst/>
          </a:prstGeom>
        </p:spPr>
      </p:pic>
    </p:spTree>
    <p:extLst>
      <p:ext uri="{BB962C8B-B14F-4D97-AF65-F5344CB8AC3E}">
        <p14:creationId xmlns:p14="http://schemas.microsoft.com/office/powerpoint/2010/main" val="38264892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5C4F008-EE3C-7250-48FF-CF0483E831DD}"/>
              </a:ext>
            </a:extLst>
          </p:cNvPr>
          <p:cNvSpPr>
            <a:spLocks noGrp="1"/>
          </p:cNvSpPr>
          <p:nvPr>
            <p:ph type="title"/>
          </p:nvPr>
        </p:nvSpPr>
        <p:spPr/>
        <p:txBody>
          <a:bodyPr/>
          <a:lstStyle/>
          <a:p>
            <a:r>
              <a:rPr lang="en-US"/>
              <a:t>Analysis Pipeline</a:t>
            </a:r>
          </a:p>
        </p:txBody>
      </p:sp>
      <p:pic>
        <p:nvPicPr>
          <p:cNvPr id="1026" name="Picture 2">
            <a:extLst>
              <a:ext uri="{FF2B5EF4-FFF2-40B4-BE49-F238E27FC236}">
                <a16:creationId xmlns:a16="http://schemas.microsoft.com/office/drawing/2014/main" id="{95749D72-DB5C-7D20-A125-B9FFC00C5C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209800"/>
            <a:ext cx="12192000" cy="243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65725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D401B25-8CCA-559B-DFFD-B13F38F911E6}"/>
              </a:ext>
            </a:extLst>
          </p:cNvPr>
          <p:cNvPicPr>
            <a:picLocks noChangeAspect="1"/>
          </p:cNvPicPr>
          <p:nvPr/>
        </p:nvPicPr>
        <p:blipFill>
          <a:blip r:embed="rId2"/>
          <a:stretch>
            <a:fillRect/>
          </a:stretch>
        </p:blipFill>
        <p:spPr>
          <a:xfrm>
            <a:off x="5520059" y="0"/>
            <a:ext cx="5229430" cy="6858000"/>
          </a:xfrm>
          <a:prstGeom prst="rect">
            <a:avLst/>
          </a:prstGeom>
        </p:spPr>
      </p:pic>
      <p:sp>
        <p:nvSpPr>
          <p:cNvPr id="3" name="Title 2">
            <a:extLst>
              <a:ext uri="{FF2B5EF4-FFF2-40B4-BE49-F238E27FC236}">
                <a16:creationId xmlns:a16="http://schemas.microsoft.com/office/drawing/2014/main" id="{0751ADFC-A105-38ED-86C2-FF6319A164E2}"/>
              </a:ext>
            </a:extLst>
          </p:cNvPr>
          <p:cNvSpPr>
            <a:spLocks noGrp="1"/>
          </p:cNvSpPr>
          <p:nvPr>
            <p:ph type="title"/>
          </p:nvPr>
        </p:nvSpPr>
        <p:spPr/>
        <p:txBody>
          <a:bodyPr/>
          <a:lstStyle/>
          <a:p>
            <a:r>
              <a:rPr lang="en-US"/>
              <a:t>Analysis Pipeline</a:t>
            </a:r>
          </a:p>
        </p:txBody>
      </p:sp>
    </p:spTree>
    <p:extLst>
      <p:ext uri="{BB962C8B-B14F-4D97-AF65-F5344CB8AC3E}">
        <p14:creationId xmlns:p14="http://schemas.microsoft.com/office/powerpoint/2010/main" val="22628810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A59826F-0C98-255F-D6BF-00EEB12CD9ED}"/>
              </a:ext>
            </a:extLst>
          </p:cNvPr>
          <p:cNvSpPr>
            <a:spLocks noGrp="1"/>
          </p:cNvSpPr>
          <p:nvPr>
            <p:ph type="body" idx="1"/>
          </p:nvPr>
        </p:nvSpPr>
        <p:spPr/>
        <p:txBody>
          <a:bodyPr/>
          <a:lstStyle/>
          <a:p>
            <a:r>
              <a:rPr lang="en-US"/>
              <a:t>Open </a:t>
            </a:r>
            <a:r>
              <a:rPr lang="en-US">
                <a:hlinkClick r:id="rId3"/>
              </a:rPr>
              <a:t>Posit Workbench</a:t>
            </a:r>
            <a:r>
              <a:rPr lang="en-US"/>
              <a:t> with requisite packages in the </a:t>
            </a:r>
            <a:r>
              <a:rPr lang="en-US" dirty="0" err="1"/>
              <a:t>OpenRBQM</a:t>
            </a:r>
            <a:r>
              <a:rPr lang="en-US" dirty="0"/>
              <a:t> ecosystem installed</a:t>
            </a:r>
          </a:p>
          <a:p>
            <a:r>
              <a:rPr lang="en-US" dirty="0"/>
              <a:t>Review the setup/file structure</a:t>
            </a:r>
          </a:p>
        </p:txBody>
      </p:sp>
      <p:sp>
        <p:nvSpPr>
          <p:cNvPr id="3" name="Title 2">
            <a:extLst>
              <a:ext uri="{FF2B5EF4-FFF2-40B4-BE49-F238E27FC236}">
                <a16:creationId xmlns:a16="http://schemas.microsoft.com/office/drawing/2014/main" id="{5B1CBB31-9577-C97B-39DF-18BBC37BAE9C}"/>
              </a:ext>
            </a:extLst>
          </p:cNvPr>
          <p:cNvSpPr>
            <a:spLocks noGrp="1"/>
          </p:cNvSpPr>
          <p:nvPr>
            <p:ph type="title"/>
          </p:nvPr>
        </p:nvSpPr>
        <p:spPr/>
        <p:txBody>
          <a:bodyPr/>
          <a:lstStyle/>
          <a:p>
            <a:r>
              <a:rPr lang="en-US"/>
              <a:t>Hands-on </a:t>
            </a:r>
          </a:p>
        </p:txBody>
      </p:sp>
      <p:pic>
        <p:nvPicPr>
          <p:cNvPr id="5" name="Picture 4">
            <a:extLst>
              <a:ext uri="{FF2B5EF4-FFF2-40B4-BE49-F238E27FC236}">
                <a16:creationId xmlns:a16="http://schemas.microsoft.com/office/drawing/2014/main" id="{76551532-2BEA-1E7F-6126-A2A1D64C6910}"/>
              </a:ext>
            </a:extLst>
          </p:cNvPr>
          <p:cNvPicPr>
            <a:picLocks noChangeAspect="1"/>
          </p:cNvPicPr>
          <p:nvPr/>
        </p:nvPicPr>
        <p:blipFill>
          <a:blip r:embed="rId4"/>
          <a:stretch>
            <a:fillRect/>
          </a:stretch>
        </p:blipFill>
        <p:spPr>
          <a:xfrm>
            <a:off x="8008653" y="2867788"/>
            <a:ext cx="3829584" cy="3572374"/>
          </a:xfrm>
          <a:prstGeom prst="rect">
            <a:avLst/>
          </a:prstGeom>
        </p:spPr>
      </p:pic>
    </p:spTree>
    <p:extLst>
      <p:ext uri="{BB962C8B-B14F-4D97-AF65-F5344CB8AC3E}">
        <p14:creationId xmlns:p14="http://schemas.microsoft.com/office/powerpoint/2010/main" val="428469014"/>
      </p:ext>
    </p:extLst>
  </p:cSld>
  <p:clrMapOvr>
    <a:masterClrMapping/>
  </p:clrMapOvr>
  <p:extLst>
    <p:ext uri="{6950BFC3-D8DA-4A85-94F7-54DA5524770B}">
      <p188:commentRel xmlns:p188="http://schemas.microsoft.com/office/powerpoint/2018/8/main" r:id="rId2"/>
    </p:ext>
  </p:extLs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A59826F-0C98-255F-D6BF-00EEB12CD9ED}"/>
              </a:ext>
            </a:extLst>
          </p:cNvPr>
          <p:cNvSpPr>
            <a:spLocks noGrp="1"/>
          </p:cNvSpPr>
          <p:nvPr>
            <p:ph type="body" idx="1"/>
          </p:nvPr>
        </p:nvSpPr>
        <p:spPr/>
        <p:txBody>
          <a:bodyPr/>
          <a:lstStyle/>
          <a:p>
            <a:r>
              <a:rPr lang="en-US"/>
              <a:t>Run analysis pipeline</a:t>
            </a:r>
          </a:p>
          <a:p>
            <a:pPr lvl="1"/>
            <a:r>
              <a:rPr lang="en-US">
                <a:latin typeface="Calibri" panose="020F0502020204030204" pitchFamily="34" charset="0"/>
                <a:cs typeface="Calibri" panose="020F0502020204030204" pitchFamily="34" charset="0"/>
              </a:rPr>
              <a:t>View </a:t>
            </a:r>
            <a:r>
              <a:rPr lang="en-US" b="1">
                <a:latin typeface="Calibri" panose="020F0502020204030204" pitchFamily="34" charset="0"/>
                <a:cs typeface="Calibri" panose="020F0502020204030204" pitchFamily="34" charset="0"/>
              </a:rPr>
              <a:t>Files</a:t>
            </a:r>
            <a:r>
              <a:rPr lang="en-US">
                <a:latin typeface="Calibri" panose="020F0502020204030204" pitchFamily="34" charset="0"/>
                <a:cs typeface="Calibri" panose="020F0502020204030204" pitchFamily="34" charset="0"/>
              </a:rPr>
              <a:t> (CMD/CTRL+SHIFT+5)</a:t>
            </a:r>
          </a:p>
          <a:p>
            <a:pPr lvl="1"/>
            <a:r>
              <a:rPr lang="en-US">
                <a:latin typeface="Calibri" panose="020F0502020204030204" pitchFamily="34" charset="0"/>
                <a:cs typeface="Calibri" panose="020F0502020204030204" pitchFamily="34" charset="0"/>
              </a:rPr>
              <a:t>Click </a:t>
            </a:r>
            <a:r>
              <a:rPr lang="en-US" b="1">
                <a:latin typeface="Courier New" panose="02070309020205020404" pitchFamily="49" charset="0"/>
                <a:cs typeface="Courier New" panose="02070309020205020404" pitchFamily="49" charset="0"/>
              </a:rPr>
              <a:t>run-</a:t>
            </a:r>
            <a:r>
              <a:rPr lang="en-US" b="1" err="1">
                <a:latin typeface="Courier New" panose="02070309020205020404" pitchFamily="49" charset="0"/>
                <a:cs typeface="Courier New" panose="02070309020205020404" pitchFamily="49" charset="0"/>
              </a:rPr>
              <a:t>rbqm</a:t>
            </a:r>
            <a:r>
              <a:rPr lang="en-US" b="1">
                <a:latin typeface="Courier New" panose="02070309020205020404" pitchFamily="49" charset="0"/>
                <a:cs typeface="Courier New" panose="02070309020205020404" pitchFamily="49" charset="0"/>
              </a:rPr>
              <a:t>-</a:t>
            </a:r>
            <a:r>
              <a:rPr lang="en-US" b="1" err="1">
                <a:latin typeface="Courier New" panose="02070309020205020404" pitchFamily="49" charset="0"/>
                <a:cs typeface="Courier New" panose="02070309020205020404" pitchFamily="49" charset="0"/>
              </a:rPr>
              <a:t>analytics.R</a:t>
            </a:r>
            <a:endParaRPr lang="en-US">
              <a:latin typeface="Calibri" panose="020F0502020204030204" pitchFamily="34" charset="0"/>
              <a:cs typeface="Calibri" panose="020F0502020204030204" pitchFamily="34" charset="0"/>
            </a:endParaRPr>
          </a:p>
          <a:p>
            <a:pPr lvl="1"/>
            <a:r>
              <a:rPr lang="en-US">
                <a:latin typeface="Calibri" panose="020F0502020204030204" pitchFamily="34" charset="0"/>
                <a:cs typeface="Calibri" panose="020F0502020204030204" pitchFamily="34" charset="0"/>
              </a:rPr>
              <a:t>Run each step interactively</a:t>
            </a:r>
          </a:p>
          <a:p>
            <a:pPr lvl="1"/>
            <a:r>
              <a:rPr lang="en-US">
                <a:latin typeface="Calibri" panose="020F0502020204030204" pitchFamily="34" charset="0"/>
                <a:cs typeface="Calibri" panose="020F0502020204030204" pitchFamily="34" charset="0"/>
              </a:rPr>
              <a:t>Open report in </a:t>
            </a:r>
            <a:r>
              <a:rPr lang="en-US" b="1">
                <a:latin typeface="Courier New" panose="02070309020205020404" pitchFamily="49" charset="0"/>
                <a:cs typeface="Courier New" panose="02070309020205020404" pitchFamily="49" charset="0"/>
              </a:rPr>
              <a:t>./outputs</a:t>
            </a:r>
          </a:p>
        </p:txBody>
      </p:sp>
      <p:sp>
        <p:nvSpPr>
          <p:cNvPr id="3" name="Title 2">
            <a:extLst>
              <a:ext uri="{FF2B5EF4-FFF2-40B4-BE49-F238E27FC236}">
                <a16:creationId xmlns:a16="http://schemas.microsoft.com/office/drawing/2014/main" id="{5B1CBB31-9577-C97B-39DF-18BBC37BAE9C}"/>
              </a:ext>
            </a:extLst>
          </p:cNvPr>
          <p:cNvSpPr>
            <a:spLocks noGrp="1"/>
          </p:cNvSpPr>
          <p:nvPr>
            <p:ph type="title"/>
          </p:nvPr>
        </p:nvSpPr>
        <p:spPr/>
        <p:txBody>
          <a:bodyPr/>
          <a:lstStyle/>
          <a:p>
            <a:r>
              <a:rPr lang="en-US"/>
              <a:t>Hands-on</a:t>
            </a:r>
          </a:p>
        </p:txBody>
      </p:sp>
    </p:spTree>
    <p:extLst>
      <p:ext uri="{BB962C8B-B14F-4D97-AF65-F5344CB8AC3E}">
        <p14:creationId xmlns:p14="http://schemas.microsoft.com/office/powerpoint/2010/main" val="30448672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A59826F-0C98-255F-D6BF-00EEB12CD9ED}"/>
              </a:ext>
            </a:extLst>
          </p:cNvPr>
          <p:cNvSpPr>
            <a:spLocks noGrp="1"/>
          </p:cNvSpPr>
          <p:nvPr>
            <p:ph type="body" idx="1"/>
          </p:nvPr>
        </p:nvSpPr>
        <p:spPr/>
        <p:txBody>
          <a:bodyPr/>
          <a:lstStyle/>
          <a:p>
            <a:r>
              <a:rPr lang="en-US" sz="2800" dirty="0"/>
              <a:t>Create a new KRI: SAE Reporting Rate (time permitting)</a:t>
            </a:r>
          </a:p>
          <a:p>
            <a:pPr lvl="1"/>
            <a:r>
              <a:rPr lang="en-US" sz="2400" dirty="0"/>
              <a:t>Under</a:t>
            </a:r>
            <a:r>
              <a:rPr lang="en-US" sz="2400" b="1" dirty="0">
                <a:latin typeface="Courier New" panose="02070309020205020404" pitchFamily="49" charset="0"/>
                <a:cs typeface="Courier New" panose="02070309020205020404" pitchFamily="49" charset="0"/>
              </a:rPr>
              <a:t>./workflows/2_metrics</a:t>
            </a:r>
            <a:r>
              <a:rPr lang="en-US" sz="2400" dirty="0"/>
              <a:t> copy </a:t>
            </a:r>
            <a:r>
              <a:rPr lang="en-US" sz="2400" b="1" dirty="0" err="1">
                <a:latin typeface="Courier New" panose="02070309020205020404" pitchFamily="49" charset="0"/>
                <a:cs typeface="Courier New" panose="02070309020205020404" pitchFamily="49" charset="0"/>
              </a:rPr>
              <a:t>adverseEventReportingRate.yaml</a:t>
            </a:r>
            <a:r>
              <a:rPr lang="en-US" sz="2400" dirty="0"/>
              <a:t> and rename </a:t>
            </a:r>
            <a:r>
              <a:rPr lang="en-US" sz="2400" b="1" dirty="0" err="1">
                <a:latin typeface="Courier New" panose="02070309020205020404" pitchFamily="49" charset="0"/>
                <a:cs typeface="Courier New" panose="02070309020205020404" pitchFamily="49" charset="0"/>
              </a:rPr>
              <a:t>seriousAdverseEventReportingRate.yaml</a:t>
            </a:r>
            <a:endParaRPr lang="en-US" sz="2400" b="1" dirty="0">
              <a:latin typeface="Courier New" panose="02070309020205020404" pitchFamily="49" charset="0"/>
              <a:cs typeface="Courier New" panose="02070309020205020404" pitchFamily="49" charset="0"/>
            </a:endParaRPr>
          </a:p>
          <a:p>
            <a:pPr lvl="1"/>
            <a:r>
              <a:rPr lang="en-US" sz="2400" dirty="0">
                <a:latin typeface="Calibri" panose="020F0502020204030204" pitchFamily="34" charset="0"/>
                <a:cs typeface="Calibri" panose="020F0502020204030204" pitchFamily="34" charset="0"/>
              </a:rPr>
              <a:t>Open the new workflow and update the information in </a:t>
            </a:r>
            <a:r>
              <a:rPr lang="en-US" sz="2400" b="1" dirty="0">
                <a:latin typeface="Courier New" panose="02070309020205020404" pitchFamily="49" charset="0"/>
                <a:cs typeface="Courier New" panose="02070309020205020404" pitchFamily="49" charset="0"/>
              </a:rPr>
              <a:t>meta</a:t>
            </a:r>
            <a:endParaRPr lang="en-US" sz="2400" dirty="0">
              <a:latin typeface="Calibri" panose="020F0502020204030204" pitchFamily="34" charset="0"/>
              <a:cs typeface="Calibri" panose="020F0502020204030204" pitchFamily="34" charset="0"/>
            </a:endParaRPr>
          </a:p>
          <a:p>
            <a:pPr lvl="1"/>
            <a:r>
              <a:rPr lang="en-US" sz="2400" dirty="0">
                <a:latin typeface="Calibri" panose="020F0502020204030204" pitchFamily="34" charset="0"/>
                <a:cs typeface="Calibri" panose="020F0502020204030204" pitchFamily="34" charset="0"/>
              </a:rPr>
              <a:t>Add </a:t>
            </a:r>
            <a:r>
              <a:rPr lang="en-US" sz="2400" b="1" dirty="0" err="1">
                <a:latin typeface="Courier New" panose="02070309020205020404" pitchFamily="49" charset="0"/>
                <a:cs typeface="Courier New" panose="02070309020205020404" pitchFamily="49" charset="0"/>
              </a:rPr>
              <a:t>aeser</a:t>
            </a:r>
            <a:r>
              <a:rPr lang="en-US" sz="2400" dirty="0">
                <a:latin typeface="Calibri" panose="020F0502020204030204" pitchFamily="34" charset="0"/>
                <a:cs typeface="Calibri" panose="020F0502020204030204" pitchFamily="34" charset="0"/>
              </a:rPr>
              <a:t> to data spec for </a:t>
            </a:r>
            <a:r>
              <a:rPr lang="en-US" sz="2400" b="1" dirty="0" err="1">
                <a:latin typeface="Courier New" panose="02070309020205020404" pitchFamily="49" charset="0"/>
                <a:cs typeface="Courier New" panose="02070309020205020404" pitchFamily="49" charset="0"/>
              </a:rPr>
              <a:t>Mapped_AE</a:t>
            </a:r>
            <a:endParaRPr lang="en-US" sz="2400" b="1" dirty="0">
              <a:latin typeface="Courier New" panose="02070309020205020404" pitchFamily="49" charset="0"/>
              <a:cs typeface="Courier New" panose="02070309020205020404" pitchFamily="49" charset="0"/>
            </a:endParaRPr>
          </a:p>
          <a:p>
            <a:pPr lvl="1"/>
            <a:r>
              <a:rPr lang="en-US" sz="2400" dirty="0">
                <a:latin typeface="Calibri" panose="020F0502020204030204" pitchFamily="34" charset="0"/>
                <a:cs typeface="Calibri" panose="020F0502020204030204" pitchFamily="34" charset="0"/>
              </a:rPr>
              <a:t>Add a new step that filters </a:t>
            </a:r>
            <a:r>
              <a:rPr lang="en-US" sz="2400" b="1" dirty="0" err="1">
                <a:latin typeface="Courier New" panose="02070309020205020404" pitchFamily="49" charset="0"/>
                <a:cs typeface="Courier New" panose="02070309020205020404" pitchFamily="49" charset="0"/>
              </a:rPr>
              <a:t>Mapped_AE</a:t>
            </a:r>
            <a:r>
              <a:rPr lang="en-US" sz="2400" b="1" dirty="0">
                <a:latin typeface="Courier New" panose="02070309020205020404" pitchFamily="49" charset="0"/>
                <a:cs typeface="Courier New" panose="02070309020205020404" pitchFamily="49" charset="0"/>
              </a:rPr>
              <a:t> </a:t>
            </a:r>
            <a:r>
              <a:rPr lang="en-US" sz="2400" dirty="0">
                <a:latin typeface="Calibri" panose="020F0502020204030204" pitchFamily="34" charset="0"/>
                <a:cs typeface="Calibri" panose="020F0502020204030204" pitchFamily="34" charset="0"/>
              </a:rPr>
              <a:t>on serious AEs</a:t>
            </a:r>
          </a:p>
          <a:p>
            <a:pPr lvl="1"/>
            <a:r>
              <a:rPr lang="en-US" sz="2400" dirty="0">
                <a:latin typeface="Calibri" panose="020F0502020204030204" pitchFamily="34" charset="0"/>
                <a:cs typeface="Calibri" panose="020F0502020204030204" pitchFamily="34" charset="0"/>
              </a:rPr>
              <a:t>Pass the output of the step above to the </a:t>
            </a:r>
            <a:r>
              <a:rPr lang="en-US" sz="2400" b="1" dirty="0" err="1">
                <a:latin typeface="Courier New" panose="02070309020205020404" pitchFamily="49" charset="0"/>
                <a:cs typeface="Courier New" panose="02070309020205020404" pitchFamily="49" charset="0"/>
              </a:rPr>
              <a:t>dfNumerator</a:t>
            </a:r>
            <a:r>
              <a:rPr lang="en-US" sz="2400" dirty="0">
                <a:latin typeface="Calibri" panose="020F0502020204030204" pitchFamily="34" charset="0"/>
                <a:cs typeface="Calibri" panose="020F0502020204030204" pitchFamily="34" charset="0"/>
              </a:rPr>
              <a:t> of </a:t>
            </a:r>
            <a:r>
              <a:rPr lang="en-US" sz="2400" b="1" dirty="0" err="1">
                <a:latin typeface="Courier New" panose="02070309020205020404" pitchFamily="49" charset="0"/>
                <a:cs typeface="Courier New" panose="02070309020205020404" pitchFamily="49" charset="0"/>
              </a:rPr>
              <a:t>Input_Rate</a:t>
            </a:r>
            <a:endParaRPr lang="en-US" sz="2400" b="1" dirty="0">
              <a:latin typeface="Courier New" panose="02070309020205020404" pitchFamily="49" charset="0"/>
              <a:cs typeface="Courier New" panose="02070309020205020404" pitchFamily="49" charset="0"/>
            </a:endParaRPr>
          </a:p>
          <a:p>
            <a:pPr lvl="1"/>
            <a:r>
              <a:rPr lang="en-US" sz="2400" dirty="0">
                <a:latin typeface="Calibri" panose="020F0502020204030204" pitchFamily="34" charset="0"/>
                <a:cs typeface="Calibri" panose="020F0502020204030204" pitchFamily="34" charset="0"/>
              </a:rPr>
              <a:t>Rerun analysis pipeline</a:t>
            </a:r>
          </a:p>
        </p:txBody>
      </p:sp>
      <p:sp>
        <p:nvSpPr>
          <p:cNvPr id="3" name="Title 2">
            <a:extLst>
              <a:ext uri="{FF2B5EF4-FFF2-40B4-BE49-F238E27FC236}">
                <a16:creationId xmlns:a16="http://schemas.microsoft.com/office/drawing/2014/main" id="{5B1CBB31-9577-C97B-39DF-18BBC37BAE9C}"/>
              </a:ext>
            </a:extLst>
          </p:cNvPr>
          <p:cNvSpPr>
            <a:spLocks noGrp="1"/>
          </p:cNvSpPr>
          <p:nvPr>
            <p:ph type="title"/>
          </p:nvPr>
        </p:nvSpPr>
        <p:spPr/>
        <p:txBody>
          <a:bodyPr/>
          <a:lstStyle/>
          <a:p>
            <a:r>
              <a:rPr lang="en-US"/>
              <a:t>Hands-on</a:t>
            </a:r>
          </a:p>
        </p:txBody>
      </p:sp>
    </p:spTree>
    <p:extLst>
      <p:ext uri="{BB962C8B-B14F-4D97-AF65-F5344CB8AC3E}">
        <p14:creationId xmlns:p14="http://schemas.microsoft.com/office/powerpoint/2010/main" val="1624412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CD87B-EF0B-E447-3ABB-F05F796BD69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64F06DD-A3DC-F5EC-CC52-A657173007F4}"/>
              </a:ext>
            </a:extLst>
          </p:cNvPr>
          <p:cNvSpPr>
            <a:spLocks noGrp="1"/>
          </p:cNvSpPr>
          <p:nvPr>
            <p:ph type="body" idx="1"/>
          </p:nvPr>
        </p:nvSpPr>
        <p:spPr>
          <a:xfrm>
            <a:off x="516477" y="2182094"/>
            <a:ext cx="11159045" cy="1558634"/>
          </a:xfrm>
        </p:spPr>
        <p:txBody>
          <a:bodyPr/>
          <a:lstStyle/>
          <a:p>
            <a:pPr marL="25400" indent="0">
              <a:buNone/>
            </a:pPr>
            <a:r>
              <a:rPr lang="en-US" sz="4800" dirty="0"/>
              <a:t>Part </a:t>
            </a:r>
            <a:r>
              <a:rPr lang="en-FI" sz="4800" dirty="0"/>
              <a:t>4</a:t>
            </a:r>
            <a:r>
              <a:rPr lang="en-US" sz="4800" dirty="0"/>
              <a:t> – {</a:t>
            </a:r>
            <a:r>
              <a:rPr lang="en-FI" sz="4800" dirty="0" err="1"/>
              <a:t>ctas</a:t>
            </a:r>
            <a:r>
              <a:rPr lang="en-FI" sz="4800" dirty="0"/>
              <a:t>} Time series anomalies</a:t>
            </a:r>
            <a:endParaRPr lang="en-US" sz="4800" dirty="0"/>
          </a:p>
          <a:p>
            <a:pPr marL="25400" indent="0">
              <a:buNone/>
            </a:pPr>
            <a:r>
              <a:rPr lang="en-FI" dirty="0"/>
              <a:t>Pekka Tiikkainen</a:t>
            </a:r>
            <a:endParaRPr lang="en-US" dirty="0"/>
          </a:p>
        </p:txBody>
      </p:sp>
    </p:spTree>
    <p:extLst>
      <p:ext uri="{BB962C8B-B14F-4D97-AF65-F5344CB8AC3E}">
        <p14:creationId xmlns:p14="http://schemas.microsoft.com/office/powerpoint/2010/main" val="30249389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688C4E1-9B66-8DAF-B1FC-FC02E48AB53E}"/>
              </a:ext>
            </a:extLst>
          </p:cNvPr>
          <p:cNvSpPr>
            <a:spLocks noGrp="1"/>
          </p:cNvSpPr>
          <p:nvPr>
            <p:ph type="body" idx="1"/>
          </p:nvPr>
        </p:nvSpPr>
        <p:spPr/>
        <p:txBody>
          <a:bodyPr/>
          <a:lstStyle/>
          <a:p>
            <a:pPr marL="285750" indent="-285750">
              <a:buFont typeface="Arial" panose="020B0604020202020204" pitchFamily="34" charset="0"/>
              <a:buChar char="•"/>
            </a:pPr>
            <a:r>
              <a:rPr lang="en-GB" sz="1600" dirty="0"/>
              <a:t>CTAS (Clinical Trial Anomaly Spotter) is a CSM tool focused on identifying anomalous </a:t>
            </a:r>
            <a:br>
              <a:rPr lang="en-GB" sz="1600" dirty="0"/>
            </a:br>
            <a:r>
              <a:rPr lang="en-GB" sz="1600" dirty="0"/>
              <a:t>time series of continuous variables.</a:t>
            </a:r>
          </a:p>
          <a:p>
            <a:pPr marL="285750" indent="-285750">
              <a:buFont typeface="Arial" panose="020B0604020202020204" pitchFamily="34" charset="0"/>
              <a:buChar char="•"/>
            </a:pPr>
            <a:r>
              <a:rPr lang="en-GB" sz="1600" dirty="0"/>
              <a:t>“Unsupervised” tool which does not use pre-specified KRIs. The identified anomalies</a:t>
            </a:r>
            <a:br>
              <a:rPr lang="en-GB" sz="1600" dirty="0"/>
            </a:br>
            <a:r>
              <a:rPr lang="en-GB" sz="1600" dirty="0"/>
              <a:t>can be such that were not anticipated during study design.</a:t>
            </a:r>
          </a:p>
          <a:p>
            <a:pPr marL="285750" indent="-285750">
              <a:buFont typeface="Arial" panose="020B0604020202020204" pitchFamily="34" charset="0"/>
              <a:buChar char="•"/>
            </a:pPr>
            <a:r>
              <a:rPr lang="en-GB" sz="1600" dirty="0"/>
              <a:t>Our </a:t>
            </a:r>
            <a:r>
              <a:rPr lang="en-GB" sz="1600" b="1" dirty="0"/>
              <a:t>vision</a:t>
            </a:r>
            <a:r>
              <a:rPr lang="en-GB" sz="1600" dirty="0"/>
              <a:t> for CTAS: a widely accepted </a:t>
            </a:r>
            <a:r>
              <a:rPr lang="en-GB" sz="1600" i="1" dirty="0"/>
              <a:t>open-source </a:t>
            </a:r>
            <a:r>
              <a:rPr lang="en-GB" sz="1600" dirty="0"/>
              <a:t>for tool for time series anomaly detection</a:t>
            </a:r>
            <a:br>
              <a:rPr lang="en-GB" sz="1600" dirty="0"/>
            </a:br>
            <a:r>
              <a:rPr lang="en-GB" sz="1600" dirty="0"/>
              <a:t>used by both the industry and regulators alike.</a:t>
            </a:r>
          </a:p>
          <a:p>
            <a:endParaRPr lang="fi-FI" sz="1600" dirty="0"/>
          </a:p>
        </p:txBody>
      </p:sp>
      <p:sp>
        <p:nvSpPr>
          <p:cNvPr id="3" name="Title 2">
            <a:extLst>
              <a:ext uri="{FF2B5EF4-FFF2-40B4-BE49-F238E27FC236}">
                <a16:creationId xmlns:a16="http://schemas.microsoft.com/office/drawing/2014/main" id="{0E10CC38-9B54-A961-716E-2B523FFED34E}"/>
              </a:ext>
            </a:extLst>
          </p:cNvPr>
          <p:cNvSpPr>
            <a:spLocks noGrp="1"/>
          </p:cNvSpPr>
          <p:nvPr>
            <p:ph type="title"/>
          </p:nvPr>
        </p:nvSpPr>
        <p:spPr/>
        <p:txBody>
          <a:bodyPr/>
          <a:lstStyle/>
          <a:p>
            <a:r>
              <a:rPr lang="en-GB" dirty="0"/>
              <a:t>Clinical Trial Anomaly Spotter (CTAS)</a:t>
            </a:r>
            <a:endParaRPr lang="fi-FI" dirty="0"/>
          </a:p>
        </p:txBody>
      </p:sp>
      <p:graphicFrame>
        <p:nvGraphicFramePr>
          <p:cNvPr id="4" name="Diagram 3">
            <a:extLst>
              <a:ext uri="{FF2B5EF4-FFF2-40B4-BE49-F238E27FC236}">
                <a16:creationId xmlns:a16="http://schemas.microsoft.com/office/drawing/2014/main" id="{EF8F3D1D-826C-0ECF-DCC9-72821078474A}"/>
              </a:ext>
            </a:extLst>
          </p:cNvPr>
          <p:cNvGraphicFramePr/>
          <p:nvPr>
            <p:extLst>
              <p:ext uri="{D42A27DB-BD31-4B8C-83A1-F6EECF244321}">
                <p14:modId xmlns:p14="http://schemas.microsoft.com/office/powerpoint/2010/main" val="122368325"/>
              </p:ext>
            </p:extLst>
          </p:nvPr>
        </p:nvGraphicFramePr>
        <p:xfrm>
          <a:off x="1505239" y="3473093"/>
          <a:ext cx="9181522" cy="20966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E1729B69-D5FB-E0A2-88EE-AD45C3E76B7D}"/>
              </a:ext>
            </a:extLst>
          </p:cNvPr>
          <p:cNvSpPr txBox="1"/>
          <p:nvPr/>
        </p:nvSpPr>
        <p:spPr>
          <a:xfrm>
            <a:off x="2737790" y="5901524"/>
            <a:ext cx="10122194" cy="646331"/>
          </a:xfrm>
          <a:prstGeom prst="rect">
            <a:avLst/>
          </a:prstGeom>
          <a:noFill/>
        </p:spPr>
        <p:txBody>
          <a:bodyPr wrap="square" rtlCol="0">
            <a:spAutoFit/>
          </a:bodyPr>
          <a:lstStyle/>
          <a:p>
            <a:r>
              <a:rPr lang="en-GB" sz="1200" dirty="0">
                <a:solidFill>
                  <a:schemeClr val="bg1"/>
                </a:solidFill>
              </a:rPr>
              <a:t>[1] https://phuse.s3.eu-central-1.amazonaws.com/Archive/2022/Connect/EU/Belfast/PRE_AR04.pdf</a:t>
            </a:r>
            <a:br>
              <a:rPr lang="en-GB" sz="1200" dirty="0">
                <a:solidFill>
                  <a:schemeClr val="bg1"/>
                </a:solidFill>
              </a:rPr>
            </a:br>
            <a:r>
              <a:rPr lang="en-GB" sz="1200" dirty="0">
                <a:solidFill>
                  <a:schemeClr val="bg1"/>
                </a:solidFill>
              </a:rPr>
              <a:t>[2] https://phuse.s3.eu-central-1.amazonaws.com/Archive/2022/Connect/EU/Belfast/PAP_AR04.pdf</a:t>
            </a:r>
            <a:br>
              <a:rPr lang="en-GB" sz="1200" dirty="0">
                <a:solidFill>
                  <a:schemeClr val="bg1"/>
                </a:solidFill>
              </a:rPr>
            </a:br>
            <a:r>
              <a:rPr lang="en-GB" sz="1200" dirty="0">
                <a:solidFill>
                  <a:schemeClr val="bg1"/>
                </a:solidFill>
              </a:rPr>
              <a:t>[3] https://github.com/IMPALA-Consortium/ctas</a:t>
            </a:r>
          </a:p>
        </p:txBody>
      </p:sp>
    </p:spTree>
    <p:extLst>
      <p:ext uri="{BB962C8B-B14F-4D97-AF65-F5344CB8AC3E}">
        <p14:creationId xmlns:p14="http://schemas.microsoft.com/office/powerpoint/2010/main" val="35188139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119E11A-EFCE-8424-8397-2EE6BD3A735F}"/>
              </a:ext>
            </a:extLst>
          </p:cNvPr>
          <p:cNvSpPr>
            <a:spLocks noGrp="1"/>
          </p:cNvSpPr>
          <p:nvPr>
            <p:ph type="title"/>
          </p:nvPr>
        </p:nvSpPr>
        <p:spPr/>
        <p:txBody>
          <a:bodyPr/>
          <a:lstStyle/>
          <a:p>
            <a:r>
              <a:rPr lang="en-GB" dirty="0"/>
              <a:t>Who is CTAS for?</a:t>
            </a:r>
            <a:endParaRPr lang="fi-FI" dirty="0"/>
          </a:p>
        </p:txBody>
      </p:sp>
      <p:graphicFrame>
        <p:nvGraphicFramePr>
          <p:cNvPr id="4" name="Diagram 3">
            <a:extLst>
              <a:ext uri="{FF2B5EF4-FFF2-40B4-BE49-F238E27FC236}">
                <a16:creationId xmlns:a16="http://schemas.microsoft.com/office/drawing/2014/main" id="{968A9511-8474-6CCE-A277-BBF682F22FFC}"/>
              </a:ext>
            </a:extLst>
          </p:cNvPr>
          <p:cNvGraphicFramePr/>
          <p:nvPr>
            <p:extLst>
              <p:ext uri="{D42A27DB-BD31-4B8C-83A1-F6EECF244321}">
                <p14:modId xmlns:p14="http://schemas.microsoft.com/office/powerpoint/2010/main" val="1813891486"/>
              </p:ext>
            </p:extLst>
          </p:nvPr>
        </p:nvGraphicFramePr>
        <p:xfrm>
          <a:off x="1086506" y="1066799"/>
          <a:ext cx="10018987" cy="47244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949945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DEE8F6C-CCA0-2FFF-F59F-9D4D60F98C1A}"/>
              </a:ext>
            </a:extLst>
          </p:cNvPr>
          <p:cNvSpPr>
            <a:spLocks noGrp="1"/>
          </p:cNvSpPr>
          <p:nvPr>
            <p:ph type="title"/>
          </p:nvPr>
        </p:nvSpPr>
        <p:spPr/>
        <p:txBody>
          <a:bodyPr/>
          <a:lstStyle/>
          <a:p>
            <a:r>
              <a:rPr lang="en-GB" dirty="0"/>
              <a:t>CTAS algorithm</a:t>
            </a:r>
            <a:r>
              <a:rPr lang="en-FI" dirty="0"/>
              <a:t> – time series features</a:t>
            </a:r>
            <a:endParaRPr lang="fi-FI" dirty="0"/>
          </a:p>
        </p:txBody>
      </p:sp>
      <p:pic>
        <p:nvPicPr>
          <p:cNvPr id="85" name="Picture 84">
            <a:extLst>
              <a:ext uri="{FF2B5EF4-FFF2-40B4-BE49-F238E27FC236}">
                <a16:creationId xmlns:a16="http://schemas.microsoft.com/office/drawing/2014/main" id="{376315AD-BC83-54D1-5762-D1B156C8BB51}"/>
              </a:ext>
            </a:extLst>
          </p:cNvPr>
          <p:cNvPicPr>
            <a:picLocks noChangeAspect="1"/>
          </p:cNvPicPr>
          <p:nvPr/>
        </p:nvPicPr>
        <p:blipFill>
          <a:blip r:embed="rId2"/>
          <a:stretch>
            <a:fillRect/>
          </a:stretch>
        </p:blipFill>
        <p:spPr>
          <a:xfrm>
            <a:off x="965291" y="1164520"/>
            <a:ext cx="10335425" cy="4287156"/>
          </a:xfrm>
          <a:prstGeom prst="rect">
            <a:avLst/>
          </a:prstGeom>
        </p:spPr>
      </p:pic>
    </p:spTree>
    <p:extLst>
      <p:ext uri="{BB962C8B-B14F-4D97-AF65-F5344CB8AC3E}">
        <p14:creationId xmlns:p14="http://schemas.microsoft.com/office/powerpoint/2010/main" val="762923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3D35A2C-2789-B7E0-E550-CA3D27967308}"/>
              </a:ext>
            </a:extLst>
          </p:cNvPr>
          <p:cNvSpPr>
            <a:spLocks noGrp="1"/>
          </p:cNvSpPr>
          <p:nvPr>
            <p:ph type="title"/>
          </p:nvPr>
        </p:nvSpPr>
        <p:spPr/>
        <p:txBody>
          <a:bodyPr/>
          <a:lstStyle/>
          <a:p>
            <a:r>
              <a:rPr lang="en-GB" dirty="0"/>
              <a:t>CTAS algorithm</a:t>
            </a:r>
            <a:r>
              <a:rPr lang="en-FI" dirty="0"/>
              <a:t> – flagging sites</a:t>
            </a:r>
            <a:endParaRPr lang="fi-FI" dirty="0"/>
          </a:p>
        </p:txBody>
      </p:sp>
      <p:pic>
        <p:nvPicPr>
          <p:cNvPr id="4" name="Picture 3">
            <a:extLst>
              <a:ext uri="{FF2B5EF4-FFF2-40B4-BE49-F238E27FC236}">
                <a16:creationId xmlns:a16="http://schemas.microsoft.com/office/drawing/2014/main" id="{78D01744-AF44-75A9-77DD-D5010ACD4AC0}"/>
              </a:ext>
            </a:extLst>
          </p:cNvPr>
          <p:cNvPicPr>
            <a:picLocks noChangeAspect="1"/>
          </p:cNvPicPr>
          <p:nvPr/>
        </p:nvPicPr>
        <p:blipFill>
          <a:blip r:embed="rId2"/>
          <a:stretch>
            <a:fillRect/>
          </a:stretch>
        </p:blipFill>
        <p:spPr>
          <a:xfrm>
            <a:off x="1370114" y="1215003"/>
            <a:ext cx="9451771" cy="4427993"/>
          </a:xfrm>
          <a:prstGeom prst="rect">
            <a:avLst/>
          </a:prstGeom>
        </p:spPr>
      </p:pic>
    </p:spTree>
    <p:extLst>
      <p:ext uri="{BB962C8B-B14F-4D97-AF65-F5344CB8AC3E}">
        <p14:creationId xmlns:p14="http://schemas.microsoft.com/office/powerpoint/2010/main" val="40108159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C98AAC4-3274-0F8B-09DB-D76A972AE319}"/>
              </a:ext>
            </a:extLst>
          </p:cNvPr>
          <p:cNvSpPr>
            <a:spLocks noGrp="1"/>
          </p:cNvSpPr>
          <p:nvPr>
            <p:ph type="title"/>
          </p:nvPr>
        </p:nvSpPr>
        <p:spPr/>
        <p:txBody>
          <a:bodyPr/>
          <a:lstStyle/>
          <a:p>
            <a:r>
              <a:rPr lang="en-GB" dirty="0"/>
              <a:t>CTAS algorithm</a:t>
            </a:r>
            <a:r>
              <a:rPr lang="en-FI" dirty="0"/>
              <a:t> – defining a time series</a:t>
            </a:r>
            <a:endParaRPr lang="fi-FI" dirty="0"/>
          </a:p>
        </p:txBody>
      </p:sp>
      <p:sp>
        <p:nvSpPr>
          <p:cNvPr id="4" name="Text Placeholder 11">
            <a:extLst>
              <a:ext uri="{FF2B5EF4-FFF2-40B4-BE49-F238E27FC236}">
                <a16:creationId xmlns:a16="http://schemas.microsoft.com/office/drawing/2014/main" id="{3BDDAA5C-31DD-236F-D662-19867B1DD9C9}"/>
              </a:ext>
            </a:extLst>
          </p:cNvPr>
          <p:cNvSpPr txBox="1">
            <a:spLocks noGrp="1"/>
          </p:cNvSpPr>
          <p:nvPr>
            <p:ph type="body" idx="1"/>
          </p:nvPr>
        </p:nvSpPr>
        <p:spPr>
          <a:xfrm>
            <a:off x="354271" y="1264534"/>
            <a:ext cx="11158537" cy="38354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Tx/>
              <a:buChar char="-"/>
            </a:pPr>
            <a:r>
              <a:rPr lang="en-GB" sz="1400" dirty="0"/>
              <a:t>Time series is a sequence of time points where a parameter of interest has been measured.</a:t>
            </a:r>
          </a:p>
          <a:p>
            <a:pPr marL="285750" indent="-285750">
              <a:buFontTx/>
              <a:buChar char="-"/>
            </a:pPr>
            <a:r>
              <a:rPr lang="en-GB" sz="1400" dirty="0"/>
              <a:t>More than one time series might be defined per parameter. By default, the package defines</a:t>
            </a:r>
            <a:br>
              <a:rPr lang="en-GB" sz="1400" dirty="0"/>
            </a:br>
            <a:r>
              <a:rPr lang="en-GB" sz="1400" dirty="0"/>
              <a:t>these in a data-driven manner</a:t>
            </a:r>
          </a:p>
        </p:txBody>
      </p:sp>
      <p:sp>
        <p:nvSpPr>
          <p:cNvPr id="5" name="Text Placeholder 11">
            <a:extLst>
              <a:ext uri="{FF2B5EF4-FFF2-40B4-BE49-F238E27FC236}">
                <a16:creationId xmlns:a16="http://schemas.microsoft.com/office/drawing/2014/main" id="{10587B4E-803D-31E8-6662-AC55D2ADFA7D}"/>
              </a:ext>
            </a:extLst>
          </p:cNvPr>
          <p:cNvSpPr txBox="1">
            <a:spLocks/>
          </p:cNvSpPr>
          <p:nvPr/>
        </p:nvSpPr>
        <p:spPr>
          <a:xfrm>
            <a:off x="516731" y="4545842"/>
            <a:ext cx="11158537" cy="1047624"/>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228600" marR="0" lvl="0" indent="-228600" algn="l" defTabSz="914400" rtl="0" eaLnBrk="1" latinLnBrk="0" hangingPunct="1">
              <a:lnSpc>
                <a:spcPct val="90000"/>
              </a:lnSpc>
              <a:spcBef>
                <a:spcPts val="1000"/>
              </a:spcBef>
              <a:spcAft>
                <a:spcPts val="0"/>
              </a:spcAft>
              <a:buClr>
                <a:schemeClr val="dk1"/>
              </a:buClr>
              <a:buSzPts val="3200"/>
              <a:buFont typeface="Arial" panose="020B0604020202020204" pitchFamily="34" charset="0"/>
              <a:buChar char="•"/>
              <a:defRPr sz="2800" b="0" i="0" u="none" strike="noStrike" kern="1200" cap="none">
                <a:solidFill>
                  <a:schemeClr val="tx1"/>
                </a:solidFill>
                <a:latin typeface="+mn-lt"/>
                <a:ea typeface="+mn-ea"/>
                <a:cs typeface="+mn-cs"/>
                <a:sym typeface="Calibri"/>
              </a:defRPr>
            </a:lvl1pPr>
            <a:lvl2pPr marL="685800" marR="0" lvl="1" indent="-228600" algn="l" defTabSz="914400" rtl="0" eaLnBrk="1" latinLnBrk="0" hangingPunct="1">
              <a:lnSpc>
                <a:spcPct val="90000"/>
              </a:lnSpc>
              <a:spcBef>
                <a:spcPts val="500"/>
              </a:spcBef>
              <a:spcAft>
                <a:spcPts val="0"/>
              </a:spcAft>
              <a:buClr>
                <a:schemeClr val="dk1"/>
              </a:buClr>
              <a:buSzPts val="2800"/>
              <a:buFont typeface="Arial" panose="020B0604020202020204" pitchFamily="34" charset="0"/>
              <a:buChar char="•"/>
              <a:defRPr sz="2400" b="0" i="0" u="none" strike="noStrike" kern="1200" cap="none">
                <a:solidFill>
                  <a:schemeClr val="tx1"/>
                </a:solidFill>
                <a:latin typeface="+mn-lt"/>
                <a:ea typeface="+mn-ea"/>
                <a:cs typeface="+mn-cs"/>
                <a:sym typeface="Calibri"/>
              </a:defRPr>
            </a:lvl2pPr>
            <a:lvl3pPr marL="1143000" marR="0" lvl="2" indent="-228600" algn="l" defTabSz="914400" rtl="0" eaLnBrk="1" latinLnBrk="0" hangingPunct="1">
              <a:lnSpc>
                <a:spcPct val="90000"/>
              </a:lnSpc>
              <a:spcBef>
                <a:spcPts val="500"/>
              </a:spcBef>
              <a:spcAft>
                <a:spcPts val="0"/>
              </a:spcAft>
              <a:buClr>
                <a:schemeClr val="dk1"/>
              </a:buClr>
              <a:buSzPts val="2400"/>
              <a:buFont typeface="Arial" panose="020B0604020202020204" pitchFamily="34" charset="0"/>
              <a:buChar char="•"/>
              <a:defRPr sz="2000" b="0" i="0" u="none" strike="noStrike" kern="1200" cap="none">
                <a:solidFill>
                  <a:schemeClr val="tx1"/>
                </a:solidFill>
                <a:latin typeface="+mn-lt"/>
                <a:ea typeface="+mn-ea"/>
                <a:cs typeface="+mn-cs"/>
                <a:sym typeface="Calibri"/>
              </a:defRPr>
            </a:lvl3pPr>
            <a:lvl4pPr marL="1600200" marR="0" lvl="3" indent="-228600" algn="l" defTabSz="914400" rtl="0" eaLnBrk="1" latinLnBrk="0" hangingPunct="1">
              <a:lnSpc>
                <a:spcPct val="90000"/>
              </a:lnSpc>
              <a:spcBef>
                <a:spcPts val="500"/>
              </a:spcBef>
              <a:spcAft>
                <a:spcPts val="0"/>
              </a:spcAft>
              <a:buClr>
                <a:schemeClr val="dk1"/>
              </a:buClr>
              <a:buSzPts val="2000"/>
              <a:buFont typeface="Arial" panose="020B0604020202020204" pitchFamily="34" charset="0"/>
              <a:buChar char="•"/>
              <a:defRPr sz="1800" b="0" i="0" u="none" strike="noStrike" kern="1200" cap="none">
                <a:solidFill>
                  <a:schemeClr val="tx1"/>
                </a:solidFill>
                <a:latin typeface="+mn-lt"/>
                <a:ea typeface="+mn-ea"/>
                <a:cs typeface="+mn-cs"/>
                <a:sym typeface="Calibri"/>
              </a:defRPr>
            </a:lvl4pPr>
            <a:lvl5pPr marL="2057400" marR="0" lvl="4" indent="-228600" algn="l" defTabSz="914400" rtl="0" eaLnBrk="1" latinLnBrk="0" hangingPunct="1">
              <a:lnSpc>
                <a:spcPct val="90000"/>
              </a:lnSpc>
              <a:spcBef>
                <a:spcPts val="500"/>
              </a:spcBef>
              <a:spcAft>
                <a:spcPts val="0"/>
              </a:spcAft>
              <a:buClr>
                <a:schemeClr val="dk1"/>
              </a:buClr>
              <a:buSzPts val="2000"/>
              <a:buFont typeface="Arial" panose="020B0604020202020204" pitchFamily="34" charset="0"/>
              <a:buChar char="•"/>
              <a:defRPr sz="1800" b="0" i="0" u="none" strike="noStrike" kern="1200" cap="none">
                <a:solidFill>
                  <a:schemeClr val="tx1"/>
                </a:solidFill>
                <a:latin typeface="+mn-lt"/>
                <a:ea typeface="+mn-ea"/>
                <a:cs typeface="+mn-cs"/>
                <a:sym typeface="Calibri"/>
              </a:defRPr>
            </a:lvl5pPr>
            <a:lvl6pPr marL="2514600" marR="0" lvl="5" indent="-228600" algn="l" defTabSz="914400" rtl="0" eaLnBrk="1" latinLnBrk="0" hangingPunct="1">
              <a:lnSpc>
                <a:spcPct val="90000"/>
              </a:lnSpc>
              <a:spcBef>
                <a:spcPts val="500"/>
              </a:spcBef>
              <a:spcAft>
                <a:spcPts val="0"/>
              </a:spcAft>
              <a:buClr>
                <a:schemeClr val="dk1"/>
              </a:buClr>
              <a:buSzPts val="2000"/>
              <a:buFont typeface="Arial" panose="020B0604020202020204" pitchFamily="34" charset="0"/>
              <a:buChar char="•"/>
              <a:defRPr sz="1800" b="0" i="0" u="none" strike="noStrike" kern="1200" cap="none">
                <a:solidFill>
                  <a:schemeClr val="tx1"/>
                </a:solidFill>
                <a:latin typeface="+mn-lt"/>
                <a:ea typeface="+mn-ea"/>
                <a:cs typeface="+mn-cs"/>
                <a:sym typeface="Calibri"/>
              </a:defRPr>
            </a:lvl6pPr>
            <a:lvl7pPr marL="2971800" marR="0" lvl="6" indent="-228600" algn="l" defTabSz="914400" rtl="0" eaLnBrk="1" latinLnBrk="0" hangingPunct="1">
              <a:lnSpc>
                <a:spcPct val="90000"/>
              </a:lnSpc>
              <a:spcBef>
                <a:spcPts val="500"/>
              </a:spcBef>
              <a:spcAft>
                <a:spcPts val="0"/>
              </a:spcAft>
              <a:buClr>
                <a:schemeClr val="dk1"/>
              </a:buClr>
              <a:buSzPts val="2000"/>
              <a:buFont typeface="Arial" panose="020B0604020202020204" pitchFamily="34" charset="0"/>
              <a:buChar char="•"/>
              <a:defRPr sz="1800" b="0" i="0" u="none" strike="noStrike" kern="1200" cap="none">
                <a:solidFill>
                  <a:schemeClr val="tx1"/>
                </a:solidFill>
                <a:latin typeface="+mn-lt"/>
                <a:ea typeface="+mn-ea"/>
                <a:cs typeface="+mn-cs"/>
                <a:sym typeface="Calibri"/>
              </a:defRPr>
            </a:lvl7pPr>
            <a:lvl8pPr marL="3429000" marR="0" lvl="7" indent="-228600" algn="l" defTabSz="914400" rtl="0" eaLnBrk="1" latinLnBrk="0" hangingPunct="1">
              <a:lnSpc>
                <a:spcPct val="90000"/>
              </a:lnSpc>
              <a:spcBef>
                <a:spcPts val="500"/>
              </a:spcBef>
              <a:spcAft>
                <a:spcPts val="0"/>
              </a:spcAft>
              <a:buClr>
                <a:schemeClr val="dk1"/>
              </a:buClr>
              <a:buSzPts val="2000"/>
              <a:buFont typeface="Arial" panose="020B0604020202020204" pitchFamily="34" charset="0"/>
              <a:buChar char="•"/>
              <a:defRPr sz="1800" b="0" i="0" u="none" strike="noStrike" kern="1200" cap="none">
                <a:solidFill>
                  <a:schemeClr val="tx1"/>
                </a:solidFill>
                <a:latin typeface="+mn-lt"/>
                <a:ea typeface="+mn-ea"/>
                <a:cs typeface="+mn-cs"/>
                <a:sym typeface="Calibri"/>
              </a:defRPr>
            </a:lvl8pPr>
            <a:lvl9pPr marL="3886200" marR="0" lvl="8" indent="-228600" algn="l" defTabSz="914400" rtl="0" eaLnBrk="1" latinLnBrk="0" hangingPunct="1">
              <a:lnSpc>
                <a:spcPct val="90000"/>
              </a:lnSpc>
              <a:spcBef>
                <a:spcPts val="500"/>
              </a:spcBef>
              <a:spcAft>
                <a:spcPts val="0"/>
              </a:spcAft>
              <a:buClr>
                <a:schemeClr val="dk1"/>
              </a:buClr>
              <a:buSzPts val="2000"/>
              <a:buFont typeface="Arial" panose="020B0604020202020204" pitchFamily="34" charset="0"/>
              <a:buChar char="•"/>
              <a:defRPr sz="1800" b="0" i="0" u="none" strike="noStrike" kern="1200" cap="none">
                <a:solidFill>
                  <a:schemeClr val="tx1"/>
                </a:solidFill>
                <a:latin typeface="+mn-lt"/>
                <a:ea typeface="+mn-ea"/>
                <a:cs typeface="+mn-cs"/>
                <a:sym typeface="Calibri"/>
              </a:defRPr>
            </a:lvl9pPr>
          </a:lstStyle>
          <a:p>
            <a:pPr marL="285750" indent="-285750">
              <a:buFontTx/>
              <a:buChar char="-"/>
            </a:pPr>
            <a:r>
              <a:rPr lang="en-GB" sz="1400" dirty="0"/>
              <a:t>The minimum number of time points per series, the minimum number of subjects per series</a:t>
            </a:r>
            <a:br>
              <a:rPr lang="en-GB" sz="1400" dirty="0"/>
            </a:br>
            <a:r>
              <a:rPr lang="en-GB" sz="1400" dirty="0"/>
              <a:t>and the maximum share of missing values per subject are hyperparameters the user can choose.</a:t>
            </a:r>
          </a:p>
          <a:p>
            <a:pPr marL="285750" indent="-285750">
              <a:buFontTx/>
              <a:buChar char="-"/>
            </a:pPr>
            <a:r>
              <a:rPr lang="en-GB" sz="1400" dirty="0"/>
              <a:t>In addition to the automated time series generation, the package also accepts pre-specified</a:t>
            </a:r>
            <a:br>
              <a:rPr lang="en-GB" sz="1400" dirty="0"/>
            </a:br>
            <a:r>
              <a:rPr lang="en-GB" sz="1400" dirty="0"/>
              <a:t>time series (e.g. time points of the first two cycles of an oncology trial).</a:t>
            </a:r>
          </a:p>
        </p:txBody>
      </p:sp>
      <p:pic>
        <p:nvPicPr>
          <p:cNvPr id="7" name="Picture 6">
            <a:extLst>
              <a:ext uri="{FF2B5EF4-FFF2-40B4-BE49-F238E27FC236}">
                <a16:creationId xmlns:a16="http://schemas.microsoft.com/office/drawing/2014/main" id="{C4905B57-0E35-9F33-C513-2C379877F390}"/>
              </a:ext>
            </a:extLst>
          </p:cNvPr>
          <p:cNvPicPr>
            <a:picLocks noChangeAspect="1"/>
          </p:cNvPicPr>
          <p:nvPr/>
        </p:nvPicPr>
        <p:blipFill>
          <a:blip r:embed="rId2"/>
          <a:stretch>
            <a:fillRect/>
          </a:stretch>
        </p:blipFill>
        <p:spPr>
          <a:xfrm>
            <a:off x="892478" y="2164352"/>
            <a:ext cx="9490013" cy="2381490"/>
          </a:xfrm>
          <a:prstGeom prst="rect">
            <a:avLst/>
          </a:prstGeom>
        </p:spPr>
      </p:pic>
    </p:spTree>
    <p:extLst>
      <p:ext uri="{BB962C8B-B14F-4D97-AF65-F5344CB8AC3E}">
        <p14:creationId xmlns:p14="http://schemas.microsoft.com/office/powerpoint/2010/main" val="13676638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1FDD74A-4F7C-0CE9-5D2D-18655A23A670}"/>
              </a:ext>
            </a:extLst>
          </p:cNvPr>
          <p:cNvSpPr>
            <a:spLocks noGrp="1"/>
          </p:cNvSpPr>
          <p:nvPr>
            <p:ph type="title"/>
          </p:nvPr>
        </p:nvSpPr>
        <p:spPr/>
        <p:txBody>
          <a:bodyPr/>
          <a:lstStyle/>
          <a:p>
            <a:r>
              <a:rPr lang="en-GB" dirty="0"/>
              <a:t>Examples of anomalies identified with CTAS</a:t>
            </a:r>
            <a:endParaRPr lang="fi-FI" dirty="0"/>
          </a:p>
        </p:txBody>
      </p:sp>
      <p:sp>
        <p:nvSpPr>
          <p:cNvPr id="4" name="TextBox 3">
            <a:extLst>
              <a:ext uri="{FF2B5EF4-FFF2-40B4-BE49-F238E27FC236}">
                <a16:creationId xmlns:a16="http://schemas.microsoft.com/office/drawing/2014/main" id="{6D9F36AD-8AC3-2A4F-84CC-506E7C7269EA}"/>
              </a:ext>
            </a:extLst>
          </p:cNvPr>
          <p:cNvSpPr txBox="1"/>
          <p:nvPr/>
        </p:nvSpPr>
        <p:spPr>
          <a:xfrm>
            <a:off x="1127820" y="1212456"/>
            <a:ext cx="10022889" cy="338554"/>
          </a:xfrm>
          <a:prstGeom prst="rect">
            <a:avLst/>
          </a:prstGeom>
          <a:noFill/>
        </p:spPr>
        <p:txBody>
          <a:bodyPr wrap="square" rtlCol="0">
            <a:spAutoFit/>
          </a:bodyPr>
          <a:lstStyle/>
          <a:p>
            <a:r>
              <a:rPr lang="en-GB" sz="1600" dirty="0"/>
              <a:t>Site with co-clustered blood pressure profiles (Bayer)</a:t>
            </a:r>
          </a:p>
        </p:txBody>
      </p:sp>
      <p:sp>
        <p:nvSpPr>
          <p:cNvPr id="5" name="TextBox 4">
            <a:extLst>
              <a:ext uri="{FF2B5EF4-FFF2-40B4-BE49-F238E27FC236}">
                <a16:creationId xmlns:a16="http://schemas.microsoft.com/office/drawing/2014/main" id="{2219385A-A5CA-4422-F7C6-C640B420567A}"/>
              </a:ext>
            </a:extLst>
          </p:cNvPr>
          <p:cNvSpPr txBox="1"/>
          <p:nvPr/>
        </p:nvSpPr>
        <p:spPr bwMode="gray">
          <a:xfrm>
            <a:off x="1606890" y="5306989"/>
            <a:ext cx="8381841" cy="478756"/>
          </a:xfrm>
          <a:prstGeom prst="rect">
            <a:avLst/>
          </a:prstGeom>
          <a:noFill/>
        </p:spPr>
        <p:txBody>
          <a:bodyPr wrap="square" lIns="0" tIns="0" rIns="0" bIns="0" rtlCol="0">
            <a:noAutofit/>
          </a:bodyPr>
          <a:lstStyle/>
          <a:p>
            <a:r>
              <a:rPr lang="en-GB" dirty="0"/>
              <a:t>Potential reasons: result fabrication, “sample” splitting, bias in subject selection</a:t>
            </a:r>
          </a:p>
        </p:txBody>
      </p:sp>
      <p:pic>
        <p:nvPicPr>
          <p:cNvPr id="6" name="Picture 5">
            <a:extLst>
              <a:ext uri="{FF2B5EF4-FFF2-40B4-BE49-F238E27FC236}">
                <a16:creationId xmlns:a16="http://schemas.microsoft.com/office/drawing/2014/main" id="{C8D953AD-2409-76CB-E6EA-E09FD8D9B879}"/>
              </a:ext>
            </a:extLst>
          </p:cNvPr>
          <p:cNvPicPr>
            <a:picLocks noChangeAspect="1"/>
          </p:cNvPicPr>
          <p:nvPr/>
        </p:nvPicPr>
        <p:blipFill>
          <a:blip r:embed="rId2"/>
          <a:stretch>
            <a:fillRect/>
          </a:stretch>
        </p:blipFill>
        <p:spPr>
          <a:xfrm>
            <a:off x="1606890" y="1724134"/>
            <a:ext cx="3401515" cy="3409731"/>
          </a:xfrm>
          <a:prstGeom prst="rect">
            <a:avLst/>
          </a:prstGeom>
        </p:spPr>
      </p:pic>
      <p:pic>
        <p:nvPicPr>
          <p:cNvPr id="7" name="Picture 6">
            <a:extLst>
              <a:ext uri="{FF2B5EF4-FFF2-40B4-BE49-F238E27FC236}">
                <a16:creationId xmlns:a16="http://schemas.microsoft.com/office/drawing/2014/main" id="{E52A78A6-F06B-C86E-34B9-1768E7FBFB80}"/>
              </a:ext>
            </a:extLst>
          </p:cNvPr>
          <p:cNvPicPr>
            <a:picLocks noChangeAspect="1"/>
          </p:cNvPicPr>
          <p:nvPr/>
        </p:nvPicPr>
        <p:blipFill>
          <a:blip r:embed="rId3"/>
          <a:stretch>
            <a:fillRect/>
          </a:stretch>
        </p:blipFill>
        <p:spPr>
          <a:xfrm>
            <a:off x="5482267" y="1683267"/>
            <a:ext cx="5012361" cy="3450598"/>
          </a:xfrm>
          <a:prstGeom prst="rect">
            <a:avLst/>
          </a:prstGeom>
        </p:spPr>
      </p:pic>
    </p:spTree>
    <p:extLst>
      <p:ext uri="{BB962C8B-B14F-4D97-AF65-F5344CB8AC3E}">
        <p14:creationId xmlns:p14="http://schemas.microsoft.com/office/powerpoint/2010/main" val="12086664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90D0DD5-7518-EF3F-3E31-369E34F6CAF9}"/>
              </a:ext>
            </a:extLst>
          </p:cNvPr>
          <p:cNvSpPr>
            <a:spLocks noGrp="1"/>
          </p:cNvSpPr>
          <p:nvPr>
            <p:ph type="title"/>
          </p:nvPr>
        </p:nvSpPr>
        <p:spPr/>
        <p:txBody>
          <a:bodyPr/>
          <a:lstStyle/>
          <a:p>
            <a:r>
              <a:rPr lang="en-GB" dirty="0"/>
              <a:t>Examples of anomalies identified with CTAS</a:t>
            </a:r>
            <a:endParaRPr lang="fi-FI" dirty="0"/>
          </a:p>
        </p:txBody>
      </p:sp>
      <p:sp>
        <p:nvSpPr>
          <p:cNvPr id="4" name="TextBox 3">
            <a:extLst>
              <a:ext uri="{FF2B5EF4-FFF2-40B4-BE49-F238E27FC236}">
                <a16:creationId xmlns:a16="http://schemas.microsoft.com/office/drawing/2014/main" id="{B49AFC8E-854B-82DA-092C-90BE41E197CE}"/>
              </a:ext>
            </a:extLst>
          </p:cNvPr>
          <p:cNvSpPr txBox="1"/>
          <p:nvPr/>
        </p:nvSpPr>
        <p:spPr>
          <a:xfrm>
            <a:off x="1115628" y="1212456"/>
            <a:ext cx="10022889" cy="338554"/>
          </a:xfrm>
          <a:prstGeom prst="rect">
            <a:avLst/>
          </a:prstGeom>
          <a:noFill/>
        </p:spPr>
        <p:txBody>
          <a:bodyPr wrap="square" rtlCol="0">
            <a:spAutoFit/>
          </a:bodyPr>
          <a:lstStyle/>
          <a:p>
            <a:r>
              <a:rPr lang="en-GB" sz="1600" dirty="0"/>
              <a:t>Site with unusually large laboratory assay results (Bayer)</a:t>
            </a:r>
          </a:p>
        </p:txBody>
      </p:sp>
      <p:sp>
        <p:nvSpPr>
          <p:cNvPr id="5" name="TextBox 4">
            <a:extLst>
              <a:ext uri="{FF2B5EF4-FFF2-40B4-BE49-F238E27FC236}">
                <a16:creationId xmlns:a16="http://schemas.microsoft.com/office/drawing/2014/main" id="{054D4822-F866-6643-1E6D-DC1A7AF1EB14}"/>
              </a:ext>
            </a:extLst>
          </p:cNvPr>
          <p:cNvSpPr txBox="1"/>
          <p:nvPr/>
        </p:nvSpPr>
        <p:spPr bwMode="gray">
          <a:xfrm>
            <a:off x="1515941" y="4958456"/>
            <a:ext cx="8834687" cy="478756"/>
          </a:xfrm>
          <a:prstGeom prst="rect">
            <a:avLst/>
          </a:prstGeom>
          <a:noFill/>
        </p:spPr>
        <p:txBody>
          <a:bodyPr wrap="square" lIns="0" tIns="0" rIns="0" bIns="0" rtlCol="0">
            <a:noAutofit/>
          </a:bodyPr>
          <a:lstStyle/>
          <a:p>
            <a:r>
              <a:rPr lang="en-GB" dirty="0"/>
              <a:t>Potential reasons: bias in subject selection, in-correct assay calibration (local labs), </a:t>
            </a:r>
            <a:br>
              <a:rPr lang="en-FI" dirty="0"/>
            </a:br>
            <a:r>
              <a:rPr lang="en-GB" dirty="0"/>
              <a:t>errors in sample handling (central labs)</a:t>
            </a:r>
          </a:p>
        </p:txBody>
      </p:sp>
      <p:pic>
        <p:nvPicPr>
          <p:cNvPr id="6" name="Picture 5">
            <a:extLst>
              <a:ext uri="{FF2B5EF4-FFF2-40B4-BE49-F238E27FC236}">
                <a16:creationId xmlns:a16="http://schemas.microsoft.com/office/drawing/2014/main" id="{1D79FFC5-0F23-6684-8C8A-D60A7C2EE2D4}"/>
              </a:ext>
            </a:extLst>
          </p:cNvPr>
          <p:cNvPicPr>
            <a:picLocks noChangeAspect="1"/>
          </p:cNvPicPr>
          <p:nvPr/>
        </p:nvPicPr>
        <p:blipFill>
          <a:blip r:embed="rId2"/>
          <a:stretch>
            <a:fillRect/>
          </a:stretch>
        </p:blipFill>
        <p:spPr>
          <a:xfrm>
            <a:off x="808862" y="1712180"/>
            <a:ext cx="5287138" cy="3094081"/>
          </a:xfrm>
          <a:prstGeom prst="rect">
            <a:avLst/>
          </a:prstGeom>
        </p:spPr>
      </p:pic>
      <p:pic>
        <p:nvPicPr>
          <p:cNvPr id="7" name="Picture 6">
            <a:extLst>
              <a:ext uri="{FF2B5EF4-FFF2-40B4-BE49-F238E27FC236}">
                <a16:creationId xmlns:a16="http://schemas.microsoft.com/office/drawing/2014/main" id="{16DC561B-54FD-CF90-E971-2C8046DA0E04}"/>
              </a:ext>
            </a:extLst>
          </p:cNvPr>
          <p:cNvPicPr>
            <a:picLocks noChangeAspect="1"/>
          </p:cNvPicPr>
          <p:nvPr/>
        </p:nvPicPr>
        <p:blipFill>
          <a:blip r:embed="rId3"/>
          <a:stretch>
            <a:fillRect/>
          </a:stretch>
        </p:blipFill>
        <p:spPr>
          <a:xfrm>
            <a:off x="6659075" y="1853669"/>
            <a:ext cx="3854218" cy="3104787"/>
          </a:xfrm>
          <a:prstGeom prst="rect">
            <a:avLst/>
          </a:prstGeom>
        </p:spPr>
      </p:pic>
    </p:spTree>
    <p:extLst>
      <p:ext uri="{BB962C8B-B14F-4D97-AF65-F5344CB8AC3E}">
        <p14:creationId xmlns:p14="http://schemas.microsoft.com/office/powerpoint/2010/main" val="37768469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7D9D2A-771E-2ED8-4408-4A63228BB14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0DA874F-18FE-7149-DA57-E05FEB591A4A}"/>
              </a:ext>
            </a:extLst>
          </p:cNvPr>
          <p:cNvSpPr>
            <a:spLocks noGrp="1"/>
          </p:cNvSpPr>
          <p:nvPr>
            <p:ph type="body" idx="1"/>
          </p:nvPr>
        </p:nvSpPr>
        <p:spPr/>
        <p:txBody>
          <a:bodyPr/>
          <a:lstStyle/>
          <a:p>
            <a:r>
              <a:rPr lang="en-US" dirty="0"/>
              <a:t>Run analysis pipeline</a:t>
            </a:r>
          </a:p>
          <a:p>
            <a:pPr lvl="1"/>
            <a:r>
              <a:rPr lang="en-US" dirty="0">
                <a:latin typeface="Calibri" panose="020F0502020204030204" pitchFamily="34" charset="0"/>
                <a:cs typeface="Calibri" panose="020F0502020204030204" pitchFamily="34" charset="0"/>
              </a:rPr>
              <a:t>View </a:t>
            </a:r>
            <a:r>
              <a:rPr lang="en-US" b="1" dirty="0">
                <a:latin typeface="Calibri" panose="020F0502020204030204" pitchFamily="34" charset="0"/>
                <a:cs typeface="Calibri" panose="020F0502020204030204" pitchFamily="34" charset="0"/>
              </a:rPr>
              <a:t>Files</a:t>
            </a:r>
            <a:r>
              <a:rPr lang="en-US" dirty="0">
                <a:latin typeface="Calibri" panose="020F0502020204030204" pitchFamily="34" charset="0"/>
                <a:cs typeface="Calibri" panose="020F0502020204030204" pitchFamily="34" charset="0"/>
              </a:rPr>
              <a:t> (CMD/CTRL+SHIFT+5)</a:t>
            </a:r>
          </a:p>
          <a:p>
            <a:pPr lvl="1"/>
            <a:r>
              <a:rPr lang="en-US" dirty="0">
                <a:latin typeface="Calibri" panose="020F0502020204030204" pitchFamily="34" charset="0"/>
                <a:cs typeface="Calibri" panose="020F0502020204030204" pitchFamily="34" charset="0"/>
              </a:rPr>
              <a:t>Click </a:t>
            </a:r>
            <a:r>
              <a:rPr lang="en-FI" b="1" dirty="0" err="1">
                <a:latin typeface="Courier New" panose="02070309020205020404" pitchFamily="49" charset="0"/>
                <a:cs typeface="Courier New" panose="02070309020205020404" pitchFamily="49" charset="0"/>
              </a:rPr>
              <a:t>ctas_workshop.R</a:t>
            </a:r>
            <a:endParaRPr lang="en-US" dirty="0">
              <a:latin typeface="Calibri" panose="020F0502020204030204" pitchFamily="34" charset="0"/>
              <a:cs typeface="Calibri" panose="020F0502020204030204" pitchFamily="34" charset="0"/>
            </a:endParaRPr>
          </a:p>
          <a:p>
            <a:pPr lvl="1"/>
            <a:r>
              <a:rPr lang="en-US" dirty="0">
                <a:latin typeface="Calibri" panose="020F0502020204030204" pitchFamily="34" charset="0"/>
                <a:cs typeface="Calibri" panose="020F0502020204030204" pitchFamily="34" charset="0"/>
              </a:rPr>
              <a:t>Run each step interactively</a:t>
            </a:r>
          </a:p>
        </p:txBody>
      </p:sp>
      <p:sp>
        <p:nvSpPr>
          <p:cNvPr id="3" name="Title 2">
            <a:extLst>
              <a:ext uri="{FF2B5EF4-FFF2-40B4-BE49-F238E27FC236}">
                <a16:creationId xmlns:a16="http://schemas.microsoft.com/office/drawing/2014/main" id="{8F9172D7-05CB-2537-D436-A56AE201BA11}"/>
              </a:ext>
            </a:extLst>
          </p:cNvPr>
          <p:cNvSpPr>
            <a:spLocks noGrp="1"/>
          </p:cNvSpPr>
          <p:nvPr>
            <p:ph type="title"/>
          </p:nvPr>
        </p:nvSpPr>
        <p:spPr/>
        <p:txBody>
          <a:bodyPr/>
          <a:lstStyle/>
          <a:p>
            <a:r>
              <a:rPr lang="en-US"/>
              <a:t>Hands-on</a:t>
            </a:r>
          </a:p>
        </p:txBody>
      </p:sp>
    </p:spTree>
    <p:extLst>
      <p:ext uri="{BB962C8B-B14F-4D97-AF65-F5344CB8AC3E}">
        <p14:creationId xmlns:p14="http://schemas.microsoft.com/office/powerpoint/2010/main" val="31268110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4D5DBA5-0A3B-B058-1B9F-A091DB66EB6F}"/>
              </a:ext>
            </a:extLst>
          </p:cNvPr>
          <p:cNvSpPr>
            <a:spLocks noGrp="1"/>
          </p:cNvSpPr>
          <p:nvPr>
            <p:ph type="body" idx="1"/>
          </p:nvPr>
        </p:nvSpPr>
        <p:spPr/>
        <p:txBody>
          <a:bodyPr/>
          <a:lstStyle/>
          <a:p>
            <a:pPr marL="25400" indent="0">
              <a:buNone/>
            </a:pPr>
            <a:r>
              <a:rPr lang="en-CH" b="1" dirty="0"/>
              <a:t>Thank You!</a:t>
            </a:r>
          </a:p>
          <a:p>
            <a:pPr>
              <a:buFontTx/>
              <a:buChar char="-"/>
            </a:pPr>
            <a:r>
              <a:rPr lang="en-CH" dirty="0"/>
              <a:t>Course Material will stay available on github</a:t>
            </a:r>
          </a:p>
          <a:p>
            <a:pPr>
              <a:buFontTx/>
              <a:buChar char="-"/>
            </a:pPr>
            <a:r>
              <a:rPr lang="en-CH" dirty="0"/>
              <a:t>Visit our Presentation to learn more</a:t>
            </a:r>
          </a:p>
          <a:p>
            <a:pPr marL="25400" indent="0">
              <a:buNone/>
            </a:pPr>
            <a:endParaRPr lang="en-CH" dirty="0"/>
          </a:p>
        </p:txBody>
      </p:sp>
      <p:sp>
        <p:nvSpPr>
          <p:cNvPr id="3" name="Title 2">
            <a:extLst>
              <a:ext uri="{FF2B5EF4-FFF2-40B4-BE49-F238E27FC236}">
                <a16:creationId xmlns:a16="http://schemas.microsoft.com/office/drawing/2014/main" id="{BE8832E1-FEB8-58B8-BD07-F18999D7F264}"/>
              </a:ext>
            </a:extLst>
          </p:cNvPr>
          <p:cNvSpPr>
            <a:spLocks noGrp="1"/>
          </p:cNvSpPr>
          <p:nvPr>
            <p:ph type="title"/>
          </p:nvPr>
        </p:nvSpPr>
        <p:spPr/>
        <p:txBody>
          <a:bodyPr/>
          <a:lstStyle/>
          <a:p>
            <a:endParaRPr lang="en-CH"/>
          </a:p>
        </p:txBody>
      </p:sp>
      <p:pic>
        <p:nvPicPr>
          <p:cNvPr id="5" name="Picture 4" descr="A close-up of a document&#10;&#10;AI-generated content may be incorrect.">
            <a:extLst>
              <a:ext uri="{FF2B5EF4-FFF2-40B4-BE49-F238E27FC236}">
                <a16:creationId xmlns:a16="http://schemas.microsoft.com/office/drawing/2014/main" id="{840150B1-6D5C-E273-8237-F0F7ABCA12FC}"/>
              </a:ext>
            </a:extLst>
          </p:cNvPr>
          <p:cNvPicPr>
            <a:picLocks noChangeAspect="1"/>
          </p:cNvPicPr>
          <p:nvPr/>
        </p:nvPicPr>
        <p:blipFill>
          <a:blip r:embed="rId3"/>
          <a:stretch>
            <a:fillRect/>
          </a:stretch>
        </p:blipFill>
        <p:spPr>
          <a:xfrm>
            <a:off x="542805" y="4000498"/>
            <a:ext cx="3467100" cy="1257300"/>
          </a:xfrm>
          <a:prstGeom prst="rect">
            <a:avLst/>
          </a:prstGeom>
        </p:spPr>
      </p:pic>
      <p:sp>
        <p:nvSpPr>
          <p:cNvPr id="6" name="TextBox 5">
            <a:extLst>
              <a:ext uri="{FF2B5EF4-FFF2-40B4-BE49-F238E27FC236}">
                <a16:creationId xmlns:a16="http://schemas.microsoft.com/office/drawing/2014/main" id="{96FF6709-4FAE-E1A2-AEC9-DFC8D2A0BD13}"/>
              </a:ext>
            </a:extLst>
          </p:cNvPr>
          <p:cNvSpPr txBox="1"/>
          <p:nvPr/>
        </p:nvSpPr>
        <p:spPr>
          <a:xfrm>
            <a:off x="2462687" y="3692721"/>
            <a:ext cx="1547218" cy="307777"/>
          </a:xfrm>
          <a:prstGeom prst="rect">
            <a:avLst/>
          </a:prstGeom>
          <a:noFill/>
        </p:spPr>
        <p:txBody>
          <a:bodyPr wrap="none" rtlCol="0">
            <a:spAutoFit/>
          </a:bodyPr>
          <a:lstStyle/>
          <a:p>
            <a:r>
              <a:rPr lang="en-CH" b="1" dirty="0"/>
              <a:t>X12 Wednesday</a:t>
            </a:r>
          </a:p>
        </p:txBody>
      </p:sp>
    </p:spTree>
    <p:extLst>
      <p:ext uri="{BB962C8B-B14F-4D97-AF65-F5344CB8AC3E}">
        <p14:creationId xmlns:p14="http://schemas.microsoft.com/office/powerpoint/2010/main" val="23958688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LIDEID" val="0148"/>
  <p:tag name="PARENTID" val="0148"/>
</p:tagLst>
</file>

<file path=ppt/tags/tag2.xml><?xml version="1.0" encoding="utf-8"?>
<p:tagLst xmlns:a="http://schemas.openxmlformats.org/drawingml/2006/main" xmlns:r="http://schemas.openxmlformats.org/officeDocument/2006/relationships" xmlns:p="http://schemas.openxmlformats.org/presentationml/2006/main">
  <p:tag name="SLIDEID" val="0148"/>
  <p:tag name="PARENTID" val="0148"/>
</p:tagLst>
</file>

<file path=ppt/theme/theme1.xml><?xml version="1.0" encoding="utf-8"?>
<a:theme xmlns:a="http://schemas.openxmlformats.org/drawingml/2006/main" name="PhUSE_Slide_Deck(10yr)PURPL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hUSE_Slide_Deck_PURPLE">
  <a:themeElements>
    <a:clrScheme name="Custom 3">
      <a:dk1>
        <a:srgbClr val="000000"/>
      </a:dk1>
      <a:lt1>
        <a:srgbClr val="FFFFFF"/>
      </a:lt1>
      <a:dk2>
        <a:srgbClr val="0030A0"/>
      </a:dk2>
      <a:lt2>
        <a:srgbClr val="00BFB3"/>
      </a:lt2>
      <a:accent1>
        <a:srgbClr val="0033A0"/>
      </a:accent1>
      <a:accent2>
        <a:srgbClr val="00BFB3"/>
      </a:accent2>
      <a:accent3>
        <a:srgbClr val="7D5E90"/>
      </a:accent3>
      <a:accent4>
        <a:srgbClr val="D25E8F"/>
      </a:accent4>
      <a:accent5>
        <a:srgbClr val="FF8A4F"/>
      </a:accent5>
      <a:accent6>
        <a:srgbClr val="F79646"/>
      </a:accent6>
      <a:hlink>
        <a:srgbClr val="00BEAE"/>
      </a:hlink>
      <a:folHlink>
        <a:srgbClr val="507CB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A9A42705CB07C4984C06E305F64A203" ma:contentTypeVersion="18" ma:contentTypeDescription="Create a new document." ma:contentTypeScope="" ma:versionID="a09b9b7f718bd19ceccdfd40c7e3f26d">
  <xsd:schema xmlns:xsd="http://www.w3.org/2001/XMLSchema" xmlns:xs="http://www.w3.org/2001/XMLSchema" xmlns:p="http://schemas.microsoft.com/office/2006/metadata/properties" xmlns:ns2="96db50c3-7111-4fec-9766-3ba0ddc9c852" xmlns:ns3="9cdf8387-b020-472c-9bab-4ce6507acbd4" targetNamespace="http://schemas.microsoft.com/office/2006/metadata/properties" ma:root="true" ma:fieldsID="677e2fca0f46867368443bac7228ff16" ns2:_="" ns3:_="">
    <xsd:import namespace="96db50c3-7111-4fec-9766-3ba0ddc9c852"/>
    <xsd:import namespace="9cdf8387-b020-472c-9bab-4ce6507acbd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element ref="ns2:MediaServiceDateTaken" minOccurs="0"/>
                <xsd:element ref="ns2:MediaServiceLocation" minOccurs="0"/>
                <xsd:element ref="ns2:MediaServiceObjectDetectorVersions" minOccurs="0"/>
                <xsd:element ref="ns2:MediaServiceSearchProperties" minOccurs="0"/>
                <xsd:element ref="ns2:No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6db50c3-7111-4fec-9766-3ba0ddc9c85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8a59aaaf-67c2-4a9b-8dae-6c62ae0ca490" ma:termSetId="09814cd3-568e-fe90-9814-8d621ff8fb84" ma:anchorId="fba54fb3-c3e1-fe81-a776-ca4b69148c4d" ma:open="true" ma:isKeyword="false">
      <xsd:complexType>
        <xsd:sequence>
          <xsd:element ref="pc:Terms" minOccurs="0" maxOccurs="1"/>
        </xsd:sequence>
      </xsd:complex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0" nillable="true" ma:displayName="MediaLengthInSeconds" ma:hidden="true" ma:internalName="MediaLengthInSeconds" ma:readOnly="true">
      <xsd:simpleType>
        <xsd:restriction base="dms:Unknown"/>
      </xsd:simpleType>
    </xsd:element>
    <xsd:element name="MediaServiceDateTaken" ma:index="21" nillable="true" ma:displayName="MediaServiceDateTaken" ma:hidden="true" ma:internalName="MediaServiceDateTaken" ma:readOnly="true">
      <xsd:simpleType>
        <xsd:restriction base="dms:Text"/>
      </xsd:simpleType>
    </xsd:element>
    <xsd:element name="MediaServiceLocation" ma:index="22" nillable="true" ma:displayName="Location" ma:indexed="true" ma:internalName="MediaServiceLocation" ma:readOnly="true">
      <xsd:simpleType>
        <xsd:restriction base="dms:Text"/>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Note" ma:index="25" nillable="true" ma:displayName="Note" ma:format="Dropdown" ma:internalName="Not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cdf8387-b020-472c-9bab-4ce6507acbd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3478b75e-9eff-4698-a3e7-b6b40476d9f2}" ma:internalName="TaxCatchAll" ma:showField="CatchAllData" ma:web="9cdf8387-b020-472c-9bab-4ce6507acbd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9cdf8387-b020-472c-9bab-4ce6507acbd4" xsi:nil="true"/>
    <Note xmlns="96db50c3-7111-4fec-9766-3ba0ddc9c852" xsi:nil="true"/>
    <lcf76f155ced4ddcb4097134ff3c332f xmlns="96db50c3-7111-4fec-9766-3ba0ddc9c852">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531C5AD9-5A53-42CB-9236-7CDAC4E96A0F}">
  <ds:schemaRefs>
    <ds:schemaRef ds:uri="96db50c3-7111-4fec-9766-3ba0ddc9c852"/>
    <ds:schemaRef ds:uri="9cdf8387-b020-472c-9bab-4ce6507acbd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42A13F3-4B1D-49BA-8B86-E4BBFB6DF54F}">
  <ds:schemaRefs>
    <ds:schemaRef ds:uri="http://schemas.microsoft.com/sharepoint/v3/contenttype/forms"/>
  </ds:schemaRefs>
</ds:datastoreItem>
</file>

<file path=customXml/itemProps3.xml><?xml version="1.0" encoding="utf-8"?>
<ds:datastoreItem xmlns:ds="http://schemas.openxmlformats.org/officeDocument/2006/customXml" ds:itemID="{C1B164AA-A5D8-416B-9549-0E0E194542E8}">
  <ds:schemaRefs>
    <ds:schemaRef ds:uri="http://schemas.microsoft.com/office/infopath/2007/PartnerControls"/>
    <ds:schemaRef ds:uri="96db50c3-7111-4fec-9766-3ba0ddc9c852"/>
    <ds:schemaRef ds:uri="http://schemas.openxmlformats.org/package/2006/metadata/core-properties"/>
    <ds:schemaRef ds:uri="http://purl.org/dc/terms/"/>
    <ds:schemaRef ds:uri="http://www.w3.org/XML/1998/namespace"/>
    <ds:schemaRef ds:uri="http://purl.org/dc/elements/1.1/"/>
    <ds:schemaRef ds:uri="http://purl.org/dc/dcmitype/"/>
    <ds:schemaRef ds:uri="http://schemas.microsoft.com/office/2006/documentManagement/types"/>
    <ds:schemaRef ds:uri="9cdf8387-b020-472c-9bab-4ce6507acbd4"/>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otalTime>12504</TotalTime>
  <Words>1743</Words>
  <Application>Microsoft Office PowerPoint</Application>
  <PresentationFormat>Widescreen</PresentationFormat>
  <Paragraphs>216</Paragraphs>
  <Slides>43</Slides>
  <Notes>14</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43</vt:i4>
      </vt:variant>
    </vt:vector>
  </HeadingPairs>
  <TitlesOfParts>
    <vt:vector size="53" baseType="lpstr">
      <vt:lpstr>Courier New</vt:lpstr>
      <vt:lpstr>Trebuchet MS</vt:lpstr>
      <vt:lpstr>Times New Roman</vt:lpstr>
      <vt:lpstr>-apple-system</vt:lpstr>
      <vt:lpstr>Calibri</vt:lpstr>
      <vt:lpstr>Arial</vt:lpstr>
      <vt:lpstr>WordVisi_MSFontService</vt:lpstr>
      <vt:lpstr>Helvetica Neue</vt:lpstr>
      <vt:lpstr>PhUSE_Slide_Deck(10yr)PURPLE</vt:lpstr>
      <vt:lpstr>PhUSE_Slide_Deck_PURPLE</vt:lpstr>
      <vt:lpstr>PowerPoint Presentation</vt:lpstr>
      <vt:lpstr>Getting Started</vt:lpstr>
      <vt:lpstr>Agenda</vt:lpstr>
      <vt:lpstr>Workshop Objectives</vt:lpstr>
      <vt:lpstr>PowerPoint Presentation</vt:lpstr>
      <vt:lpstr>PowerPoint Presentation</vt:lpstr>
      <vt:lpstr>RBQM</vt:lpstr>
      <vt:lpstr>Quality</vt:lpstr>
      <vt:lpstr>CtQ: Data &amp; Process</vt:lpstr>
      <vt:lpstr>Quality – What is different this time?</vt:lpstr>
      <vt:lpstr>Centralized Monitoring (CM)</vt:lpstr>
      <vt:lpstr>Taking Action on CM Signals</vt:lpstr>
      <vt:lpstr>PowerPoint Presentation</vt:lpstr>
      <vt:lpstr>PowerPoint Presentation</vt:lpstr>
      <vt:lpstr>PowerPoint Presentation</vt:lpstr>
      <vt:lpstr>PowerPoint Presentation</vt:lpstr>
      <vt:lpstr>PowerPoint Presentation</vt:lpstr>
      <vt:lpstr>PowerPoint Presentation</vt:lpstr>
      <vt:lpstr>Analysis Pipeline</vt:lpstr>
      <vt:lpstr>Statistical Models Available For Each Assessment </vt:lpstr>
      <vt:lpstr>{gsm.simaerep} bootstrap</vt:lpstr>
      <vt:lpstr>PowerPoint Presentation</vt:lpstr>
      <vt:lpstr>Overview</vt:lpstr>
      <vt:lpstr>Create and Run Single Metric</vt:lpstr>
      <vt:lpstr>PowerPoint Presentation</vt:lpstr>
      <vt:lpstr>Analysis Pipeline</vt:lpstr>
      <vt:lpstr>Analysis Pipeline</vt:lpstr>
      <vt:lpstr>Analysis Pipeline</vt:lpstr>
      <vt:lpstr>Analysis Pipeline</vt:lpstr>
      <vt:lpstr>Analysis Pipeline</vt:lpstr>
      <vt:lpstr>Hands-on </vt:lpstr>
      <vt:lpstr>Hands-on</vt:lpstr>
      <vt:lpstr>Hands-on</vt:lpstr>
      <vt:lpstr>PowerPoint Presentation</vt:lpstr>
      <vt:lpstr>Clinical Trial Anomaly Spotter (CTAS)</vt:lpstr>
      <vt:lpstr>Who is CTAS for?</vt:lpstr>
      <vt:lpstr>CTAS algorithm – time series features</vt:lpstr>
      <vt:lpstr>CTAS algorithm – flagging sites</vt:lpstr>
      <vt:lpstr>CTAS algorithm – defining a time series</vt:lpstr>
      <vt:lpstr>Examples of anomalies identified with CTAS</vt:lpstr>
      <vt:lpstr>Examples of anomalies identified with CTAS</vt:lpstr>
      <vt:lpstr>Hands-on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Stephen Bamford</dc:creator>
  <cp:lastModifiedBy>Pekka Tiikkainen</cp:lastModifiedBy>
  <cp:revision>13</cp:revision>
  <dcterms:created xsi:type="dcterms:W3CDTF">2014-04-04T10:24:48Z</dcterms:created>
  <dcterms:modified xsi:type="dcterms:W3CDTF">2025-11-14T08:55:10Z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0x0101007A9A42705CB07C4984C06E305F64A203</vt:lpwstr>
  </property>
  <property fmtid="{D5CDD505-2E9C-101B-9397-08002B2CF9AE}" pid="3" name="MSIP_Label_418c1083-8924-401d-97ae-40f5eed0fcd8_Enabled">
    <vt:lpwstr>true</vt:lpwstr>
  </property>
  <property fmtid="{D5CDD505-2E9C-101B-9397-08002B2CF9AE}" pid="4" name="MSIP_Label_418c1083-8924-401d-97ae-40f5eed0fcd8_SetDate">
    <vt:lpwstr>2025-01-12T00:15:36Z</vt:lpwstr>
  </property>
  <property fmtid="{D5CDD505-2E9C-101B-9397-08002B2CF9AE}" pid="5" name="MSIP_Label_418c1083-8924-401d-97ae-40f5eed0fcd8_Method">
    <vt:lpwstr>Privileged</vt:lpwstr>
  </property>
  <property fmtid="{D5CDD505-2E9C-101B-9397-08002B2CF9AE}" pid="6" name="MSIP_Label_418c1083-8924-401d-97ae-40f5eed0fcd8_Name">
    <vt:lpwstr>418c1083-8924-401d-97ae-40f5eed0fcd8</vt:lpwstr>
  </property>
  <property fmtid="{D5CDD505-2E9C-101B-9397-08002B2CF9AE}" pid="7" name="MSIP_Label_418c1083-8924-401d-97ae-40f5eed0fcd8_SiteId">
    <vt:lpwstr>a5a8bcaa-3292-41e6-b735-5e8b21f4dbfd</vt:lpwstr>
  </property>
  <property fmtid="{D5CDD505-2E9C-101B-9397-08002B2CF9AE}" pid="8" name="MSIP_Label_418c1083-8924-401d-97ae-40f5eed0fcd8_ActionId">
    <vt:lpwstr>5d0f02ac-9307-4d8b-950b-f09b6994348d</vt:lpwstr>
  </property>
  <property fmtid="{D5CDD505-2E9C-101B-9397-08002B2CF9AE}" pid="9" name="MSIP_Label_418c1083-8924-401d-97ae-40f5eed0fcd8_ContentBits">
    <vt:lpwstr>0</vt:lpwstr>
  </property>
  <property fmtid="{D5CDD505-2E9C-101B-9397-08002B2CF9AE}" pid="10" name="MediaServiceImageTags">
    <vt:lpwstr/>
  </property>
  <property fmtid="{D5CDD505-2E9C-101B-9397-08002B2CF9AE}" pid="11" name="MSIP_Label_2c76c141-ac86-40e5-abf2-c6f60e474cee_Enabled">
    <vt:lpwstr>true</vt:lpwstr>
  </property>
  <property fmtid="{D5CDD505-2E9C-101B-9397-08002B2CF9AE}" pid="12" name="MSIP_Label_2c76c141-ac86-40e5-abf2-c6f60e474cee_SetDate">
    <vt:lpwstr>2025-10-27T06:56:48Z</vt:lpwstr>
  </property>
  <property fmtid="{D5CDD505-2E9C-101B-9397-08002B2CF9AE}" pid="13" name="MSIP_Label_2c76c141-ac86-40e5-abf2-c6f60e474cee_Method">
    <vt:lpwstr>Standard</vt:lpwstr>
  </property>
  <property fmtid="{D5CDD505-2E9C-101B-9397-08002B2CF9AE}" pid="14" name="MSIP_Label_2c76c141-ac86-40e5-abf2-c6f60e474cee_Name">
    <vt:lpwstr>2c76c141-ac86-40e5-abf2-c6f60e474cee</vt:lpwstr>
  </property>
  <property fmtid="{D5CDD505-2E9C-101B-9397-08002B2CF9AE}" pid="15" name="MSIP_Label_2c76c141-ac86-40e5-abf2-c6f60e474cee_SiteId">
    <vt:lpwstr>fcb2b37b-5da0-466b-9b83-0014b67a7c78</vt:lpwstr>
  </property>
  <property fmtid="{D5CDD505-2E9C-101B-9397-08002B2CF9AE}" pid="16" name="MSIP_Label_2c76c141-ac86-40e5-abf2-c6f60e474cee_ActionId">
    <vt:lpwstr>fb435e08-c16e-40c3-9e0f-5d1e38297806</vt:lpwstr>
  </property>
  <property fmtid="{D5CDD505-2E9C-101B-9397-08002B2CF9AE}" pid="17" name="MSIP_Label_2c76c141-ac86-40e5-abf2-c6f60e474cee_ContentBits">
    <vt:lpwstr>2</vt:lpwstr>
  </property>
  <property fmtid="{D5CDD505-2E9C-101B-9397-08002B2CF9AE}" pid="18" name="MSIP_Label_2c76c141-ac86-40e5-abf2-c6f60e474cee_Tag">
    <vt:lpwstr>10, 3, 0, 1</vt:lpwstr>
  </property>
  <property fmtid="{D5CDD505-2E9C-101B-9397-08002B2CF9AE}" pid="19" name="ClassificationContentMarkingFooterLocations">
    <vt:lpwstr>PhUSE_Slide_Deck(10yr)PURPLE:3\PhUSE_Slide_Deck_PURPLE:4</vt:lpwstr>
  </property>
  <property fmtid="{D5CDD505-2E9C-101B-9397-08002B2CF9AE}" pid="20" name="ClassificationContentMarkingFooterText">
    <vt:lpwstr>RESTRICTED</vt:lpwstr>
  </property>
</Properties>
</file>